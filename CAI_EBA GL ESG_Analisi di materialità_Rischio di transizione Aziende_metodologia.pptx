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7"/>
    <p:sldMasterId id="2147483725" r:id="rId8"/>
    <p:sldMasterId id="2147483757" r:id="rId9"/>
    <p:sldMasterId id="2147483777" r:id="rId10"/>
  </p:sldMasterIdLst>
  <p:notesMasterIdLst>
    <p:notesMasterId r:id="rId13"/>
  </p:notesMasterIdLst>
  <p:handoutMasterIdLst>
    <p:handoutMasterId r:id="rId14"/>
  </p:handoutMasterIdLst>
  <p:sldIdLst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199DCE-F692-4DAD-8585-BC61391D462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751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1979" userDrawn="1">
          <p15:clr>
            <a:srgbClr val="A4A3A4"/>
          </p15:clr>
        </p15:guide>
        <p15:guide id="6" orient="horz" pos="2273" userDrawn="1">
          <p15:clr>
            <a:srgbClr val="A4A3A4"/>
          </p15:clr>
        </p15:guide>
        <p15:guide id="7" orient="horz" pos="2432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727" userDrawn="1">
          <p15:clr>
            <a:srgbClr val="A4A3A4"/>
          </p15:clr>
        </p15:guide>
        <p15:guide id="10" orient="horz" pos="2886" userDrawn="1">
          <p15:clr>
            <a:srgbClr val="A4A3A4"/>
          </p15:clr>
        </p15:guide>
        <p15:guide id="11" orient="horz" pos="3045" userDrawn="1">
          <p15:clr>
            <a:srgbClr val="A4A3A4"/>
          </p15:clr>
        </p15:guide>
        <p15:guide id="12" orient="horz" pos="3203" userDrawn="1">
          <p15:clr>
            <a:srgbClr val="A4A3A4"/>
          </p15:clr>
        </p15:guide>
        <p15:guide id="13" orient="horz" pos="3634" userDrawn="1">
          <p15:clr>
            <a:srgbClr val="A4A3A4"/>
          </p15:clr>
        </p15:guide>
        <p15:guide id="14" orient="horz" pos="3498" userDrawn="1">
          <p15:clr>
            <a:srgbClr val="A4A3A4"/>
          </p15:clr>
        </p15:guide>
        <p15:guide id="15" orient="horz" pos="3339" userDrawn="1">
          <p15:clr>
            <a:srgbClr val="A4A3A4"/>
          </p15:clr>
        </p15:guide>
        <p15:guide id="16" orient="horz" pos="379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CD6907-2E59-AF4A-7425-3D2001FB636C}" name="Oliviero Sabrina" initials="SO" userId="S::Sabrina.Oliviero2@credit-agricole.it::adda5531-e84d-4dad-863d-f29707a48ab0" providerId="AD"/>
  <p188:author id="{F570C6E9-99C2-DAA5-BECD-8696DF55258D}" name="KPMG USer" initials="KU" userId="KPMG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7EF"/>
    <a:srgbClr val="FFF2CC"/>
    <a:srgbClr val="FFE699"/>
    <a:srgbClr val="E2EFDA"/>
    <a:srgbClr val="F2F2F2"/>
    <a:srgbClr val="007578"/>
    <a:srgbClr val="BCE4E6"/>
    <a:srgbClr val="BCDAAA"/>
    <a:srgbClr val="00C7CC"/>
    <a:srgbClr val="F6F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8" y="204"/>
      </p:cViewPr>
      <p:guideLst>
        <p:guide orient="horz" pos="2115"/>
        <p:guide pos="2751"/>
        <p:guide orient="horz" pos="1661"/>
        <p:guide orient="horz" pos="1820"/>
        <p:guide orient="horz" pos="1979"/>
        <p:guide orient="horz" pos="2273"/>
        <p:guide orient="horz" pos="2432"/>
        <p:guide orient="horz" pos="2591"/>
        <p:guide orient="horz" pos="2727"/>
        <p:guide orient="horz" pos="2886"/>
        <p:guide orient="horz" pos="3045"/>
        <p:guide orient="horz" pos="3203"/>
        <p:guide orient="horz" pos="3634"/>
        <p:guide orient="horz" pos="3498"/>
        <p:guide orient="horz" pos="3339"/>
        <p:guide orient="horz" pos="37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4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artelli, Lorenzo" userId="25183cca-85bf-4051-87e9-fe5f929d08fd" providerId="ADAL" clId="{5F58D823-EA76-44FD-87F2-F9F809429A79}"/>
    <pc:docChg chg="custSel delSld modSld modMainMaster modSection">
      <pc:chgData name="Casartelli, Lorenzo" userId="25183cca-85bf-4051-87e9-fe5f929d08fd" providerId="ADAL" clId="{5F58D823-EA76-44FD-87F2-F9F809429A79}" dt="2026-10-28T00:12:52.244" v="10" actId="20577"/>
      <pc:docMkLst>
        <pc:docMk/>
      </pc:docMkLst>
      <pc:sldChg chg="del">
        <pc:chgData name="Casartelli, Lorenzo" userId="25183cca-85bf-4051-87e9-fe5f929d08fd" providerId="ADAL" clId="{5F58D823-EA76-44FD-87F2-F9F809429A79}" dt="2026-10-28T00:12:19.948" v="0" actId="47"/>
        <pc:sldMkLst>
          <pc:docMk/>
          <pc:sldMk cId="1084242363" sldId="256"/>
        </pc:sldMkLst>
      </pc:sldChg>
      <pc:sldChg chg="del">
        <pc:chgData name="Casartelli, Lorenzo" userId="25183cca-85bf-4051-87e9-fe5f929d08fd" providerId="ADAL" clId="{5F58D823-EA76-44FD-87F2-F9F809429A79}" dt="2026-10-28T00:12:27.891" v="7" actId="47"/>
        <pc:sldMkLst>
          <pc:docMk/>
          <pc:sldMk cId="4239623082" sldId="257"/>
        </pc:sldMkLst>
      </pc:sldChg>
      <pc:sldChg chg="del">
        <pc:chgData name="Casartelli, Lorenzo" userId="25183cca-85bf-4051-87e9-fe5f929d08fd" providerId="ADAL" clId="{5F58D823-EA76-44FD-87F2-F9F809429A79}" dt="2026-10-28T00:12:21.674" v="2" actId="47"/>
        <pc:sldMkLst>
          <pc:docMk/>
          <pc:sldMk cId="1248653179" sldId="259"/>
        </pc:sldMkLst>
      </pc:sldChg>
      <pc:sldChg chg="del">
        <pc:chgData name="Casartelli, Lorenzo" userId="25183cca-85bf-4051-87e9-fe5f929d08fd" providerId="ADAL" clId="{5F58D823-EA76-44FD-87F2-F9F809429A79}" dt="2026-10-28T00:12:22.771" v="3" actId="47"/>
        <pc:sldMkLst>
          <pc:docMk/>
          <pc:sldMk cId="3193717117" sldId="261"/>
        </pc:sldMkLst>
      </pc:sldChg>
      <pc:sldChg chg="del">
        <pc:chgData name="Casartelli, Lorenzo" userId="25183cca-85bf-4051-87e9-fe5f929d08fd" providerId="ADAL" clId="{5F58D823-EA76-44FD-87F2-F9F809429A79}" dt="2026-10-28T00:12:30.410" v="8" actId="47"/>
        <pc:sldMkLst>
          <pc:docMk/>
          <pc:sldMk cId="2722182439" sldId="262"/>
        </pc:sldMkLst>
      </pc:sldChg>
      <pc:sldChg chg="del">
        <pc:chgData name="Casartelli, Lorenzo" userId="25183cca-85bf-4051-87e9-fe5f929d08fd" providerId="ADAL" clId="{5F58D823-EA76-44FD-87F2-F9F809429A79}" dt="2026-10-28T00:12:25.936" v="6" actId="47"/>
        <pc:sldMkLst>
          <pc:docMk/>
          <pc:sldMk cId="2994157493" sldId="263"/>
        </pc:sldMkLst>
      </pc:sldChg>
      <pc:sldChg chg="del">
        <pc:chgData name="Casartelli, Lorenzo" userId="25183cca-85bf-4051-87e9-fe5f929d08fd" providerId="ADAL" clId="{5F58D823-EA76-44FD-87F2-F9F809429A79}" dt="2026-10-28T00:12:20.767" v="1" actId="47"/>
        <pc:sldMkLst>
          <pc:docMk/>
          <pc:sldMk cId="3438585519" sldId="264"/>
        </pc:sldMkLst>
      </pc:sldChg>
      <pc:sldChg chg="modSp mod">
        <pc:chgData name="Casartelli, Lorenzo" userId="25183cca-85bf-4051-87e9-fe5f929d08fd" providerId="ADAL" clId="{5F58D823-EA76-44FD-87F2-F9F809429A79}" dt="2026-10-28T00:12:52.244" v="10" actId="20577"/>
        <pc:sldMkLst>
          <pc:docMk/>
          <pc:sldMk cId="479174808" sldId="265"/>
        </pc:sldMkLst>
        <pc:spChg chg="mod">
          <ac:chgData name="Casartelli, Lorenzo" userId="25183cca-85bf-4051-87e9-fe5f929d08fd" providerId="ADAL" clId="{5F58D823-EA76-44FD-87F2-F9F809429A79}" dt="2026-10-28T00:12:52.244" v="10" actId="20577"/>
          <ac:spMkLst>
            <pc:docMk/>
            <pc:sldMk cId="479174808" sldId="265"/>
            <ac:spMk id="40" creationId="{4C783480-15DA-5F05-A676-625E0347E9DA}"/>
          </ac:spMkLst>
        </pc:spChg>
      </pc:sldChg>
      <pc:sldChg chg="del">
        <pc:chgData name="Casartelli, Lorenzo" userId="25183cca-85bf-4051-87e9-fe5f929d08fd" providerId="ADAL" clId="{5F58D823-EA76-44FD-87F2-F9F809429A79}" dt="2026-10-28T00:12:24.521" v="4" actId="47"/>
        <pc:sldMkLst>
          <pc:docMk/>
          <pc:sldMk cId="2410202848" sldId="2147482579"/>
        </pc:sldMkLst>
      </pc:sldChg>
      <pc:sldChg chg="del">
        <pc:chgData name="Casartelli, Lorenzo" userId="25183cca-85bf-4051-87e9-fe5f929d08fd" providerId="ADAL" clId="{5F58D823-EA76-44FD-87F2-F9F809429A79}" dt="2026-10-28T00:12:25.052" v="5" actId="47"/>
        <pc:sldMkLst>
          <pc:docMk/>
          <pc:sldMk cId="3830062866" sldId="2147482580"/>
        </pc:sldMkLst>
      </pc:sldChg>
      <pc:sldMasterChg chg="delSp mod delSldLayout">
        <pc:chgData name="Casartelli, Lorenzo" userId="25183cca-85bf-4051-87e9-fe5f929d08fd" providerId="ADAL" clId="{5F58D823-EA76-44FD-87F2-F9F809429A79}" dt="2026-10-28T00:12:41.836" v="9" actId="478"/>
        <pc:sldMasterMkLst>
          <pc:docMk/>
          <pc:sldMasterMk cId="4014375730" sldId="2147483777"/>
        </pc:sldMasterMkLst>
        <pc:picChg chg="del">
          <ac:chgData name="Casartelli, Lorenzo" userId="25183cca-85bf-4051-87e9-fe5f929d08fd" providerId="ADAL" clId="{5F58D823-EA76-44FD-87F2-F9F809429A79}" dt="2026-10-28T00:12:41.836" v="9" actId="478"/>
          <ac:picMkLst>
            <pc:docMk/>
            <pc:sldMasterMk cId="4014375730" sldId="2147483777"/>
            <ac:picMk id="2" creationId="{00000000-0000-0000-0000-000000000000}"/>
          </ac:picMkLst>
        </pc:picChg>
        <pc:sldLayoutChg chg="del">
          <pc:chgData name="Casartelli, Lorenzo" userId="25183cca-85bf-4051-87e9-fe5f929d08fd" providerId="ADAL" clId="{5F58D823-EA76-44FD-87F2-F9F809429A79}" dt="2026-10-28T00:12:30.410" v="8" actId="47"/>
          <pc:sldLayoutMkLst>
            <pc:docMk/>
            <pc:sldMasterMk cId="4014375730" sldId="2147483777"/>
            <pc:sldLayoutMk cId="3992831449" sldId="214748378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'SCORE - NEW RAPP'!$D$3</c:f>
              <c:strCache>
                <c:ptCount val="1"/>
                <c:pt idx="0">
                  <c:v>CURVA OBBIETTIVO APS</c:v>
                </c:pt>
              </c:strCache>
            </c:strRef>
          </c:tx>
          <c:spPr>
            <a:ln w="28575" cap="rnd">
              <a:solidFill>
                <a:schemeClr val="bg1">
                  <a:alpha val="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'SCORE - NEW RAPP'!$E$1:$M$1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  <c:extLst/>
            </c:numRef>
          </c:cat>
          <c:val>
            <c:numRef>
              <c:f>'SCORE - NEW RAPP'!$E$3:$M$3</c:f>
              <c:numCache>
                <c:formatCode>0.000</c:formatCode>
                <c:ptCount val="6"/>
                <c:pt idx="0">
                  <c:v>0.45730969379301445</c:v>
                </c:pt>
                <c:pt idx="1">
                  <c:v>0.44308270203107941</c:v>
                </c:pt>
                <c:pt idx="2">
                  <c:v>0.42893937890489309</c:v>
                </c:pt>
                <c:pt idx="3">
                  <c:v>0.41487898849820426</c:v>
                </c:pt>
                <c:pt idx="4">
                  <c:v>0.40090080349998236</c:v>
                </c:pt>
                <c:pt idx="5">
                  <c:v>0.38700423326030875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CCFF-4179-88E0-BDD5D08F6C6E}"/>
            </c:ext>
          </c:extLst>
        </c:ser>
        <c:ser>
          <c:idx val="1"/>
          <c:order val="1"/>
          <c:tx>
            <c:strRef>
              <c:f>'SCORE - NEW RAPP'!$D$5</c:f>
              <c:strCache>
                <c:ptCount val="1"/>
                <c:pt idx="0">
                  <c:v>CURVA NEW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'SCORE - NEW RAPP'!$E$1:$M$1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  <c:extLst/>
            </c:numRef>
          </c:cat>
          <c:val>
            <c:numRef>
              <c:f>'SCORE - NEW RAPP'!$E$5:$M$5</c:f>
              <c:numCache>
                <c:formatCode>0.000</c:formatCode>
                <c:ptCount val="6"/>
                <c:pt idx="0">
                  <c:v>0.47338809149276451</c:v>
                </c:pt>
                <c:pt idx="1">
                  <c:v>0.45445746623361216</c:v>
                </c:pt>
                <c:pt idx="2">
                  <c:v>0.43532480038684773</c:v>
                </c:pt>
                <c:pt idx="3">
                  <c:v>0.41599853093771832</c:v>
                </c:pt>
                <c:pt idx="4">
                  <c:v>0.39650269909202834</c:v>
                </c:pt>
                <c:pt idx="5">
                  <c:v>0.37668521961590945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CCFF-4179-88E0-BDD5D08F6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8342351"/>
        <c:axId val="338343311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'SCORE - NEW RAPP'!$D$4</c15:sqref>
                        </c15:formulaRef>
                      </c:ext>
                    </c:extLst>
                    <c:strCache>
                      <c:ptCount val="1"/>
                      <c:pt idx="0">
                        <c:v>PROIEZIONE WACI RAPP NEW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'SCORE - NEW RAPP'!$E$1:$M$1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2025</c:v>
                      </c:pt>
                      <c:pt idx="1">
                        <c:v>2026</c:v>
                      </c:pt>
                      <c:pt idx="2">
                        <c:v>2027</c:v>
                      </c:pt>
                      <c:pt idx="3">
                        <c:v>2028</c:v>
                      </c:pt>
                      <c:pt idx="4">
                        <c:v>2029</c:v>
                      </c:pt>
                      <c:pt idx="5">
                        <c:v>2030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'SCORE - NEW RAPP'!$E$4:$M$4</c15:sqref>
                        </c15:formulaRef>
                      </c:ext>
                    </c:extLst>
                    <c:numCache>
                      <c:formatCode>0.000</c:formatCode>
                      <c:ptCount val="6"/>
                      <c:pt idx="0">
                        <c:v>0.55857142857142861</c:v>
                      </c:pt>
                      <c:pt idx="1">
                        <c:v>0.5128571428571429</c:v>
                      </c:pt>
                      <c:pt idx="2">
                        <c:v>0.46714285714285719</c:v>
                      </c:pt>
                      <c:pt idx="3">
                        <c:v>0.42142857142857149</c:v>
                      </c:pt>
                      <c:pt idx="4">
                        <c:v>0.37571428571428572</c:v>
                      </c:pt>
                      <c:pt idx="5">
                        <c:v>0.33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CFF-4179-88E0-BDD5D08F6C6E}"/>
                  </c:ext>
                </c:extLst>
              </c15:ser>
            </c15:filteredLineSeries>
          </c:ext>
        </c:extLst>
      </c:lineChart>
      <c:catAx>
        <c:axId val="3383423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38343311"/>
        <c:crosses val="autoZero"/>
        <c:auto val="1"/>
        <c:lblAlgn val="ctr"/>
        <c:lblOffset val="100"/>
        <c:noMultiLvlLbl val="0"/>
      </c:catAx>
      <c:valAx>
        <c:axId val="338343311"/>
        <c:scaling>
          <c:orientation val="minMax"/>
          <c:min val="0.3700000000000000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crossAx val="338342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1B504-00EF-41AE-9D55-0215C9CF225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A0F09-E7A9-4640-8A16-941332CE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729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4F938-947B-41E2-BA16-5D780A7BAE0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98CB3-0B8A-4A8E-BB34-4B3F65C65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2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AA3F-DDFC-9A27-81B9-74C1B313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BABF8-AF32-64EA-1194-3A5349A1E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C7D60-0311-AF93-F958-4B07F5283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2C589-2073-3928-1081-F50EAE7D8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5D948F-A673-4DC7-A0E9-FA274EAF36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26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C245D-3807-E13B-AB02-2CB97112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F2817-6255-5F2B-203E-BC8E65345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FBB59-1B08-2C10-7ACA-489121A9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1F75A-D4FE-1AEE-B93D-D1194079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5D948F-A673-4DC7-A0E9-FA274EAF36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359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/>
          <p:cNvSpPr>
            <a:spLocks noGrp="1"/>
          </p:cNvSpPr>
          <p:nvPr>
            <p:ph type="body" sz="quarter" idx="10"/>
          </p:nvPr>
        </p:nvSpPr>
        <p:spPr>
          <a:xfrm>
            <a:off x="838200" y="3048001"/>
            <a:ext cx="6460524" cy="6633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3" name="Tito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12" name="Segnaposto data 1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40C3073-C68E-4CDF-B314-12BC0DC79944}" type="datetimeFigureOut">
              <a:rPr lang="it-IT" smtClean="0"/>
              <a:pPr/>
              <a:t>27/10/2026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215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395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10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1103870"/>
            <a:ext cx="6172200" cy="4757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Tito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5881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abella 4"/>
          <p:cNvSpPr>
            <a:spLocks noGrp="1"/>
          </p:cNvSpPr>
          <p:nvPr>
            <p:ph type="tbl" sz="quarter" idx="11"/>
          </p:nvPr>
        </p:nvSpPr>
        <p:spPr>
          <a:xfrm>
            <a:off x="519113" y="1193800"/>
            <a:ext cx="11156950" cy="5091113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999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689" y="2017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gget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9" y="2017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653" y="371241"/>
            <a:ext cx="420647" cy="33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6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710" y="409286"/>
            <a:ext cx="346201" cy="26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2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689" y="2018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gget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9" y="2018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6C9C731-9A39-4241-BC7A-2B06CB0AF710}"/>
              </a:ext>
            </a:extLst>
          </p:cNvPr>
          <p:cNvSpPr/>
          <p:nvPr userDrawn="1"/>
        </p:nvSpPr>
        <p:spPr>
          <a:xfrm>
            <a:off x="218662" y="6142565"/>
            <a:ext cx="2335696" cy="628113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36597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7" tIns="45718" rIns="91437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it-IT" sz="1200">
              <a:solidFill>
                <a:srgbClr val="FFFFFF"/>
              </a:solidFill>
            </a:endParaRPr>
          </a:p>
        </p:txBody>
      </p:sp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654" y="371241"/>
            <a:ext cx="420647" cy="332732"/>
          </a:xfrm>
          <a:prstGeom prst="rect">
            <a:avLst/>
          </a:prstGeom>
        </p:spPr>
      </p:pic>
      <p:sp>
        <p:nvSpPr>
          <p:cNvPr id="5" name="Rectangle 13">
            <a:extLst>
              <a:ext uri="{FF2B5EF4-FFF2-40B4-BE49-F238E27FC236}">
                <a16:creationId xmlns:a16="http://schemas.microsoft.com/office/drawing/2014/main" id="{E011BB5D-083F-416B-A899-F746C89A48E9}"/>
              </a:ext>
            </a:extLst>
          </p:cNvPr>
          <p:cNvSpPr/>
          <p:nvPr userDrawn="1"/>
        </p:nvSpPr>
        <p:spPr bwMode="auto">
          <a:xfrm>
            <a:off x="6351" y="6527551"/>
            <a:ext cx="12194117" cy="332482"/>
          </a:xfrm>
          <a:prstGeom prst="rect">
            <a:avLst/>
          </a:prstGeom>
          <a:solidFill>
            <a:srgbClr val="0099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585" tIns="43759" rIns="87585" bIns="43759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8760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-80" charset="-128"/>
              <a:cs typeface="+mn-cs"/>
            </a:endParaRP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BE7FE5F-9E3E-4AD0-929E-039D8C34A8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4543"/>
            <a:ext cx="12192000" cy="287337"/>
          </a:xfrm>
          <a:prstGeom prst="rect">
            <a:avLst/>
          </a:prstGeom>
          <a:noFill/>
          <a:ln>
            <a:noFill/>
          </a:ln>
        </p:spPr>
        <p:txBody>
          <a:bodyPr wrap="none" lIns="87585" tIns="43759" rIns="87585" bIns="43759" anchor="ctr"/>
          <a:lstStyle/>
          <a:p>
            <a:pPr marL="0" marR="0" lvl="0" indent="0" algn="l" defTabSz="876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Page </a:t>
            </a:r>
            <a:fld id="{AECC4161-76FF-4D22-9BB3-ACF2FFAA2D84}" type="slidenum">
              <a:rPr kumimoji="0" lang="it-IT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pPr marL="0" marR="0" lvl="0" indent="0" algn="l" defTabSz="876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pic>
        <p:nvPicPr>
          <p:cNvPr id="7" name="Picture 48" descr="symbole-CA">
            <a:extLst>
              <a:ext uri="{FF2B5EF4-FFF2-40B4-BE49-F238E27FC236}">
                <a16:creationId xmlns:a16="http://schemas.microsoft.com/office/drawing/2014/main" id="{A7ADAF01-36B7-4182-AF7A-B08016BF69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724" y="6599765"/>
            <a:ext cx="254370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13">
            <a:extLst>
              <a:ext uri="{FF2B5EF4-FFF2-40B4-BE49-F238E27FC236}">
                <a16:creationId xmlns:a16="http://schemas.microsoft.com/office/drawing/2014/main" id="{3D1B6E40-8354-47FC-B8DB-4B5A664B5E63}"/>
              </a:ext>
            </a:extLst>
          </p:cNvPr>
          <p:cNvSpPr/>
          <p:nvPr userDrawn="1"/>
        </p:nvSpPr>
        <p:spPr bwMode="auto">
          <a:xfrm>
            <a:off x="142046" y="836712"/>
            <a:ext cx="11808000" cy="18000"/>
          </a:xfrm>
          <a:prstGeom prst="rect">
            <a:avLst/>
          </a:prstGeom>
          <a:gradFill flip="none" rotWithShape="1">
            <a:gsLst>
              <a:gs pos="0">
                <a:srgbClr val="808080">
                  <a:tint val="66000"/>
                  <a:satMod val="160000"/>
                </a:srgbClr>
              </a:gs>
              <a:gs pos="50000">
                <a:srgbClr val="808080">
                  <a:tint val="44500"/>
                  <a:satMod val="160000"/>
                </a:srgbClr>
              </a:gs>
              <a:gs pos="100000">
                <a:srgbClr val="80808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585" tIns="43759" rIns="87585" bIns="43759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8760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-80" charset="-128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10EEBB-ED7E-4339-8F23-40AF290B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7" y="151913"/>
            <a:ext cx="10748561" cy="676992"/>
          </a:xfrm>
        </p:spPr>
        <p:txBody>
          <a:bodyPr vert="horz" anchor="ctr">
            <a:noAutofit/>
          </a:bodyPr>
          <a:lstStyle>
            <a:lvl1pPr algn="r" rtl="0">
              <a:defRPr lang="en-US" sz="2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MS PGothic" pitchFamily="34" charset="-128"/>
                <a:cs typeface="+mj-cs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edit</a:t>
            </a:r>
            <a:r>
              <a:rPr lang="it-IT"/>
              <a:t> Master </a:t>
            </a:r>
            <a:r>
              <a:rPr lang="it-IT" err="1"/>
              <a:t>title</a:t>
            </a:r>
            <a:r>
              <a:rPr lang="it-IT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076599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20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35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25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1FA2-BD01-43FD-87CE-440A763B9F19}" type="datetimeFigureOut">
              <a:rPr lang="it-IT" smtClean="0"/>
              <a:t>27/10/2026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8FCF-0847-4984-8598-4BE5D16F46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57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5947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3995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1103870"/>
            <a:ext cx="6172200" cy="4757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Tito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604311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abella 4"/>
          <p:cNvSpPr>
            <a:spLocks noGrp="1"/>
          </p:cNvSpPr>
          <p:nvPr>
            <p:ph type="tbl" sz="quarter" idx="11"/>
          </p:nvPr>
        </p:nvSpPr>
        <p:spPr>
          <a:xfrm>
            <a:off x="519113" y="1193800"/>
            <a:ext cx="11156950" cy="5091113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7105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689" y="2018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gget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9" y="2018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6C9C731-9A39-4241-BC7A-2B06CB0AF710}"/>
              </a:ext>
            </a:extLst>
          </p:cNvPr>
          <p:cNvSpPr/>
          <p:nvPr userDrawn="1"/>
        </p:nvSpPr>
        <p:spPr>
          <a:xfrm>
            <a:off x="218662" y="6142565"/>
            <a:ext cx="2335696" cy="628113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36597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7" tIns="45718" rIns="91437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it-IT" sz="1200">
              <a:solidFill>
                <a:srgbClr val="FFFFFF"/>
              </a:solidFill>
            </a:endParaRPr>
          </a:p>
        </p:txBody>
      </p:sp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654" y="371241"/>
            <a:ext cx="420647" cy="332732"/>
          </a:xfrm>
          <a:prstGeom prst="rect">
            <a:avLst/>
          </a:prstGeom>
        </p:spPr>
      </p:pic>
      <p:sp>
        <p:nvSpPr>
          <p:cNvPr id="5" name="Rectangle 13">
            <a:extLst>
              <a:ext uri="{FF2B5EF4-FFF2-40B4-BE49-F238E27FC236}">
                <a16:creationId xmlns:a16="http://schemas.microsoft.com/office/drawing/2014/main" id="{E011BB5D-083F-416B-A899-F746C89A48E9}"/>
              </a:ext>
            </a:extLst>
          </p:cNvPr>
          <p:cNvSpPr/>
          <p:nvPr userDrawn="1"/>
        </p:nvSpPr>
        <p:spPr bwMode="auto">
          <a:xfrm>
            <a:off x="6351" y="6527551"/>
            <a:ext cx="12194117" cy="332482"/>
          </a:xfrm>
          <a:prstGeom prst="rect">
            <a:avLst/>
          </a:prstGeom>
          <a:solidFill>
            <a:srgbClr val="0099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585" tIns="43759" rIns="87585" bIns="43759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8760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-80" charset="-128"/>
              <a:cs typeface="+mn-cs"/>
            </a:endParaRP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BE7FE5F-9E3E-4AD0-929E-039D8C34A8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4543"/>
            <a:ext cx="12192000" cy="287337"/>
          </a:xfrm>
          <a:prstGeom prst="rect">
            <a:avLst/>
          </a:prstGeom>
          <a:noFill/>
          <a:ln>
            <a:noFill/>
          </a:ln>
        </p:spPr>
        <p:txBody>
          <a:bodyPr wrap="none" lIns="87585" tIns="43759" rIns="87585" bIns="43759" anchor="ctr"/>
          <a:lstStyle/>
          <a:p>
            <a:pPr marL="0" marR="0" lvl="0" indent="0" algn="l" defTabSz="876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Page </a:t>
            </a:r>
            <a:fld id="{AECC4161-76FF-4D22-9BB3-ACF2FFAA2D84}" type="slidenum">
              <a:rPr kumimoji="0" lang="it-IT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pPr marL="0" marR="0" lvl="0" indent="0" algn="l" defTabSz="876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pic>
        <p:nvPicPr>
          <p:cNvPr id="7" name="Picture 48" descr="symbole-CA">
            <a:extLst>
              <a:ext uri="{FF2B5EF4-FFF2-40B4-BE49-F238E27FC236}">
                <a16:creationId xmlns:a16="http://schemas.microsoft.com/office/drawing/2014/main" id="{A7ADAF01-36B7-4182-AF7A-B08016BF69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724" y="6599765"/>
            <a:ext cx="254370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13">
            <a:extLst>
              <a:ext uri="{FF2B5EF4-FFF2-40B4-BE49-F238E27FC236}">
                <a16:creationId xmlns:a16="http://schemas.microsoft.com/office/drawing/2014/main" id="{3D1B6E40-8354-47FC-B8DB-4B5A664B5E63}"/>
              </a:ext>
            </a:extLst>
          </p:cNvPr>
          <p:cNvSpPr/>
          <p:nvPr userDrawn="1"/>
        </p:nvSpPr>
        <p:spPr bwMode="auto">
          <a:xfrm>
            <a:off x="142046" y="836712"/>
            <a:ext cx="11808000" cy="18000"/>
          </a:xfrm>
          <a:prstGeom prst="rect">
            <a:avLst/>
          </a:prstGeom>
          <a:gradFill flip="none" rotWithShape="1">
            <a:gsLst>
              <a:gs pos="0">
                <a:srgbClr val="808080">
                  <a:tint val="66000"/>
                  <a:satMod val="160000"/>
                </a:srgbClr>
              </a:gs>
              <a:gs pos="50000">
                <a:srgbClr val="808080">
                  <a:tint val="44500"/>
                  <a:satMod val="160000"/>
                </a:srgbClr>
              </a:gs>
              <a:gs pos="100000">
                <a:srgbClr val="80808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585" tIns="43759" rIns="87585" bIns="43759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8760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-80" charset="-128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10EEBB-ED7E-4339-8F23-40AF290B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7" y="151913"/>
            <a:ext cx="10748561" cy="676992"/>
          </a:xfrm>
        </p:spPr>
        <p:txBody>
          <a:bodyPr vert="horz" anchor="ctr">
            <a:noAutofit/>
          </a:bodyPr>
          <a:lstStyle>
            <a:lvl1pPr algn="r" rtl="0">
              <a:defRPr lang="en-US" sz="2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  <a:ea typeface="MS PGothic" pitchFamily="34" charset="-128"/>
                <a:cs typeface="+mj-cs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edit</a:t>
            </a:r>
            <a:r>
              <a:rPr lang="it-IT"/>
              <a:t> Master </a:t>
            </a:r>
            <a:r>
              <a:rPr lang="it-IT" err="1"/>
              <a:t>title</a:t>
            </a:r>
            <a:r>
              <a:rPr lang="it-IT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401617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101982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891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741F0EA-3583-9315-41E7-BE0ABFC8847C}"/>
              </a:ext>
            </a:extLst>
          </p:cNvPr>
          <p:cNvGrpSpPr/>
          <p:nvPr userDrawn="1"/>
        </p:nvGrpSpPr>
        <p:grpSpPr>
          <a:xfrm>
            <a:off x="0" y="-83044"/>
            <a:ext cx="12476901" cy="629982"/>
            <a:chOff x="0" y="-70344"/>
            <a:chExt cx="12476901" cy="629982"/>
          </a:xfrm>
        </p:grpSpPr>
        <p:sp>
          <p:nvSpPr>
            <p:cNvPr id="7" name="Rettangolo 10">
              <a:extLst>
                <a:ext uri="{FF2B5EF4-FFF2-40B4-BE49-F238E27FC236}">
                  <a16:creationId xmlns:a16="http://schemas.microsoft.com/office/drawing/2014/main" id="{0F68DB90-F7A5-54B2-D246-46D6FDF84817}"/>
                </a:ext>
              </a:extLst>
            </p:cNvPr>
            <p:cNvSpPr/>
            <p:nvPr userDrawn="1"/>
          </p:nvSpPr>
          <p:spPr>
            <a:xfrm>
              <a:off x="0" y="10363"/>
              <a:ext cx="12233622" cy="549275"/>
            </a:xfrm>
            <a:prstGeom prst="rect">
              <a:avLst/>
            </a:prstGeom>
            <a:solidFill>
              <a:srgbClr val="729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Figura a mano libera 18">
              <a:extLst>
                <a:ext uri="{FF2B5EF4-FFF2-40B4-BE49-F238E27FC236}">
                  <a16:creationId xmlns:a16="http://schemas.microsoft.com/office/drawing/2014/main" id="{C4545F6F-6959-FD3A-9250-217C10423F7D}"/>
                </a:ext>
              </a:extLst>
            </p:cNvPr>
            <p:cNvSpPr/>
            <p:nvPr userDrawn="1"/>
          </p:nvSpPr>
          <p:spPr>
            <a:xfrm>
              <a:off x="11280775" y="-35351"/>
              <a:ext cx="1196126" cy="565181"/>
            </a:xfrm>
            <a:custGeom>
              <a:avLst/>
              <a:gdLst>
                <a:gd name="connsiteX0" fmla="*/ 208270 w 13690600"/>
                <a:gd name="connsiteY0" fmla="*/ 0 h 6276182"/>
                <a:gd name="connsiteX1" fmla="*/ 13690600 w 13690600"/>
                <a:gd name="connsiteY1" fmla="*/ 0 h 6276182"/>
                <a:gd name="connsiteX2" fmla="*/ 13690600 w 13690600"/>
                <a:gd name="connsiteY2" fmla="*/ 5581250 h 6276182"/>
                <a:gd name="connsiteX3" fmla="*/ 13534352 w 13690600"/>
                <a:gd name="connsiteY3" fmla="*/ 5438700 h 6276182"/>
                <a:gd name="connsiteX4" fmla="*/ 11010900 w 13690600"/>
                <a:gd name="connsiteY4" fmla="*/ 4572000 h 6276182"/>
                <a:gd name="connsiteX5" fmla="*/ 9015606 w 13690600"/>
                <a:gd name="connsiteY5" fmla="*/ 5077368 h 6276182"/>
                <a:gd name="connsiteX6" fmla="*/ 8864600 w 13690600"/>
                <a:gd name="connsiteY6" fmla="*/ 5171000 h 6276182"/>
                <a:gd name="connsiteX7" fmla="*/ 8864600 w 13690600"/>
                <a:gd name="connsiteY7" fmla="*/ 5157046 h 6276182"/>
                <a:gd name="connsiteX8" fmla="*/ 8667507 w 13690600"/>
                <a:gd name="connsiteY8" fmla="*/ 5297716 h 6276182"/>
                <a:gd name="connsiteX9" fmla="*/ 5422900 w 13690600"/>
                <a:gd name="connsiteY9" fmla="*/ 6276182 h 6276182"/>
                <a:gd name="connsiteX10" fmla="*/ 0 w 13690600"/>
                <a:gd name="connsiteY10" fmla="*/ 1350963 h 6276182"/>
                <a:gd name="connsiteX11" fmla="*/ 170727 w 13690600"/>
                <a:gd name="connsiteY11" fmla="*/ 120074 h 6276182"/>
                <a:gd name="connsiteX12" fmla="*/ 208270 w 13690600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015935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81462 w 13690929"/>
                <a:gd name="connsiteY7" fmla="*/ 5317467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5423229 w 13690929"/>
                <a:gd name="connsiteY7" fmla="*/ 6276182 h 6276182"/>
                <a:gd name="connsiteX8" fmla="*/ 329 w 13690929"/>
                <a:gd name="connsiteY8" fmla="*/ 1350963 h 6276182"/>
                <a:gd name="connsiteX9" fmla="*/ 171056 w 13690929"/>
                <a:gd name="connsiteY9" fmla="*/ 120074 h 6276182"/>
                <a:gd name="connsiteX10" fmla="*/ 208599 w 13690929"/>
                <a:gd name="connsiteY10" fmla="*/ 0 h 627618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90929" h="6277062">
                  <a:moveTo>
                    <a:pt x="208599" y="0"/>
                  </a:moveTo>
                  <a:lnTo>
                    <a:pt x="13690929" y="0"/>
                  </a:lnTo>
                  <a:lnTo>
                    <a:pt x="13690929" y="5581250"/>
                  </a:lnTo>
                  <a:lnTo>
                    <a:pt x="13534681" y="5438700"/>
                  </a:lnTo>
                  <a:cubicBezTo>
                    <a:pt x="12888873" y="4903209"/>
                    <a:pt x="11796907" y="4579059"/>
                    <a:pt x="11011229" y="4572000"/>
                  </a:cubicBezTo>
                  <a:cubicBezTo>
                    <a:pt x="10310649" y="4565706"/>
                    <a:pt x="10069569" y="4800836"/>
                    <a:pt x="9346592" y="5077368"/>
                  </a:cubicBezTo>
                  <a:lnTo>
                    <a:pt x="8875062" y="5288987"/>
                  </a:lnTo>
                  <a:cubicBezTo>
                    <a:pt x="7746368" y="5713745"/>
                    <a:pt x="6901053" y="6251917"/>
                    <a:pt x="5423229" y="6276182"/>
                  </a:cubicBezTo>
                  <a:cubicBezTo>
                    <a:pt x="2428648" y="6325351"/>
                    <a:pt x="-32737" y="4311718"/>
                    <a:pt x="329" y="1350963"/>
                  </a:cubicBezTo>
                  <a:cubicBezTo>
                    <a:pt x="329" y="925944"/>
                    <a:pt x="59604" y="513498"/>
                    <a:pt x="171056" y="120074"/>
                  </a:cubicBezTo>
                  <a:lnTo>
                    <a:pt x="208599" y="0"/>
                  </a:lnTo>
                  <a:close/>
                </a:path>
              </a:pathLst>
            </a:custGeom>
            <a:solidFill>
              <a:schemeClr val="bg1">
                <a:alpha val="2374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p:sp>
          <p:nvSpPr>
            <p:cNvPr id="9" name="Figura a mano libera 19">
              <a:extLst>
                <a:ext uri="{FF2B5EF4-FFF2-40B4-BE49-F238E27FC236}">
                  <a16:creationId xmlns:a16="http://schemas.microsoft.com/office/drawing/2014/main" id="{B34CC66A-5708-266F-31D3-94E8BAB395FE}"/>
                </a:ext>
              </a:extLst>
            </p:cNvPr>
            <p:cNvSpPr/>
            <p:nvPr userDrawn="1"/>
          </p:nvSpPr>
          <p:spPr>
            <a:xfrm>
              <a:off x="11348323" y="-13480"/>
              <a:ext cx="885258" cy="418293"/>
            </a:xfrm>
            <a:custGeom>
              <a:avLst/>
              <a:gdLst>
                <a:gd name="connsiteX0" fmla="*/ 208270 w 13690600"/>
                <a:gd name="connsiteY0" fmla="*/ 0 h 6276182"/>
                <a:gd name="connsiteX1" fmla="*/ 13690600 w 13690600"/>
                <a:gd name="connsiteY1" fmla="*/ 0 h 6276182"/>
                <a:gd name="connsiteX2" fmla="*/ 13690600 w 13690600"/>
                <a:gd name="connsiteY2" fmla="*/ 5581250 h 6276182"/>
                <a:gd name="connsiteX3" fmla="*/ 13534352 w 13690600"/>
                <a:gd name="connsiteY3" fmla="*/ 5438700 h 6276182"/>
                <a:gd name="connsiteX4" fmla="*/ 11010900 w 13690600"/>
                <a:gd name="connsiteY4" fmla="*/ 4572000 h 6276182"/>
                <a:gd name="connsiteX5" fmla="*/ 9015606 w 13690600"/>
                <a:gd name="connsiteY5" fmla="*/ 5077368 h 6276182"/>
                <a:gd name="connsiteX6" fmla="*/ 8864600 w 13690600"/>
                <a:gd name="connsiteY6" fmla="*/ 5171000 h 6276182"/>
                <a:gd name="connsiteX7" fmla="*/ 8864600 w 13690600"/>
                <a:gd name="connsiteY7" fmla="*/ 5157046 h 6276182"/>
                <a:gd name="connsiteX8" fmla="*/ 8667507 w 13690600"/>
                <a:gd name="connsiteY8" fmla="*/ 5297716 h 6276182"/>
                <a:gd name="connsiteX9" fmla="*/ 5422900 w 13690600"/>
                <a:gd name="connsiteY9" fmla="*/ 6276182 h 6276182"/>
                <a:gd name="connsiteX10" fmla="*/ 0 w 13690600"/>
                <a:gd name="connsiteY10" fmla="*/ 1350963 h 6276182"/>
                <a:gd name="connsiteX11" fmla="*/ 170727 w 13690600"/>
                <a:gd name="connsiteY11" fmla="*/ 120074 h 6276182"/>
                <a:gd name="connsiteX12" fmla="*/ 208270 w 13690600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015935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81462 w 13690929"/>
                <a:gd name="connsiteY7" fmla="*/ 5317467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5423229 w 13690929"/>
                <a:gd name="connsiteY7" fmla="*/ 6276182 h 6276182"/>
                <a:gd name="connsiteX8" fmla="*/ 329 w 13690929"/>
                <a:gd name="connsiteY8" fmla="*/ 1350963 h 6276182"/>
                <a:gd name="connsiteX9" fmla="*/ 171056 w 13690929"/>
                <a:gd name="connsiteY9" fmla="*/ 120074 h 6276182"/>
                <a:gd name="connsiteX10" fmla="*/ 208599 w 13690929"/>
                <a:gd name="connsiteY10" fmla="*/ 0 h 627618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90929" h="6277062">
                  <a:moveTo>
                    <a:pt x="208599" y="0"/>
                  </a:moveTo>
                  <a:lnTo>
                    <a:pt x="13690929" y="0"/>
                  </a:lnTo>
                  <a:lnTo>
                    <a:pt x="13690929" y="5581250"/>
                  </a:lnTo>
                  <a:lnTo>
                    <a:pt x="13534681" y="5438700"/>
                  </a:lnTo>
                  <a:cubicBezTo>
                    <a:pt x="12888873" y="4903209"/>
                    <a:pt x="11796907" y="4579059"/>
                    <a:pt x="11011229" y="4572000"/>
                  </a:cubicBezTo>
                  <a:cubicBezTo>
                    <a:pt x="10310649" y="4565706"/>
                    <a:pt x="10069569" y="4800836"/>
                    <a:pt x="9346592" y="5077368"/>
                  </a:cubicBezTo>
                  <a:lnTo>
                    <a:pt x="8875062" y="5288987"/>
                  </a:lnTo>
                  <a:cubicBezTo>
                    <a:pt x="7746368" y="5713745"/>
                    <a:pt x="6901053" y="6251917"/>
                    <a:pt x="5423229" y="6276182"/>
                  </a:cubicBezTo>
                  <a:cubicBezTo>
                    <a:pt x="2428648" y="6325351"/>
                    <a:pt x="-32737" y="4311718"/>
                    <a:pt x="329" y="1350963"/>
                  </a:cubicBezTo>
                  <a:cubicBezTo>
                    <a:pt x="329" y="925944"/>
                    <a:pt x="59604" y="513498"/>
                    <a:pt x="171056" y="120074"/>
                  </a:cubicBezTo>
                  <a:lnTo>
                    <a:pt x="208599" y="0"/>
                  </a:lnTo>
                  <a:close/>
                </a:path>
              </a:pathLst>
            </a:cu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p:pic>
          <p:nvPicPr>
            <p:cNvPr id="10" name="Immagine 7" descr="Immagine che contiene testo&#10;&#10;Descrizione generata automaticamente">
              <a:extLst>
                <a:ext uri="{FF2B5EF4-FFF2-40B4-BE49-F238E27FC236}">
                  <a16:creationId xmlns:a16="http://schemas.microsoft.com/office/drawing/2014/main" id="{EE4D95A8-C7C8-DE6C-4E01-8DF9CF5E81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26015" y="113634"/>
              <a:ext cx="1727785" cy="359108"/>
            </a:xfrm>
            <a:prstGeom prst="rect">
              <a:avLst/>
            </a:prstGeom>
          </p:spPr>
        </p:pic>
        <p:pic>
          <p:nvPicPr>
            <p:cNvPr id="11" name="Immagine 14" descr="Immagine che contiene edificio, ponte&#10;&#10;Descrizione generata automaticamente">
              <a:extLst>
                <a:ext uri="{FF2B5EF4-FFF2-40B4-BE49-F238E27FC236}">
                  <a16:creationId xmlns:a16="http://schemas.microsoft.com/office/drawing/2014/main" id="{ACCF2A86-243C-AC9E-AD41-DF6F1BB03A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duotone>
                <a:prstClr val="black"/>
                <a:schemeClr val="tx2">
                  <a:tint val="45000"/>
                  <a:satMod val="400000"/>
                </a:schemeClr>
              </a:duotone>
              <a:alphaModFix amt="87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75052" y="-70344"/>
              <a:ext cx="406400" cy="600174"/>
            </a:xfrm>
            <a:prstGeom prst="rect">
              <a:avLst/>
            </a:prstGeom>
          </p:spPr>
        </p:pic>
      </p:grpSp>
      <p:cxnSp>
        <p:nvCxnSpPr>
          <p:cNvPr id="3" name="Connettore 1 11">
            <a:extLst>
              <a:ext uri="{FF2B5EF4-FFF2-40B4-BE49-F238E27FC236}">
                <a16:creationId xmlns:a16="http://schemas.microsoft.com/office/drawing/2014/main" id="{601262A3-BDB0-2153-C90F-E9B3384E240F}"/>
              </a:ext>
            </a:extLst>
          </p:cNvPr>
          <p:cNvCxnSpPr/>
          <p:nvPr userDrawn="1"/>
        </p:nvCxnSpPr>
        <p:spPr>
          <a:xfrm>
            <a:off x="766763" y="1005793"/>
            <a:ext cx="105140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75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FC17A95-BDCA-481F-7D2D-36B68B29F7E7}"/>
              </a:ext>
            </a:extLst>
          </p:cNvPr>
          <p:cNvGrpSpPr/>
          <p:nvPr userDrawn="1"/>
        </p:nvGrpSpPr>
        <p:grpSpPr>
          <a:xfrm>
            <a:off x="0" y="-95744"/>
            <a:ext cx="12476901" cy="629982"/>
            <a:chOff x="0" y="-70344"/>
            <a:chExt cx="12476901" cy="629982"/>
          </a:xfrm>
        </p:grpSpPr>
        <p:sp>
          <p:nvSpPr>
            <p:cNvPr id="4" name="Rettangolo 10">
              <a:extLst>
                <a:ext uri="{FF2B5EF4-FFF2-40B4-BE49-F238E27FC236}">
                  <a16:creationId xmlns:a16="http://schemas.microsoft.com/office/drawing/2014/main" id="{7BC451DC-9954-A23B-49D6-AF5DB9A0B536}"/>
                </a:ext>
              </a:extLst>
            </p:cNvPr>
            <p:cNvSpPr/>
            <p:nvPr userDrawn="1"/>
          </p:nvSpPr>
          <p:spPr>
            <a:xfrm>
              <a:off x="0" y="10363"/>
              <a:ext cx="12233622" cy="549275"/>
            </a:xfrm>
            <a:prstGeom prst="rect">
              <a:avLst/>
            </a:prstGeom>
            <a:solidFill>
              <a:srgbClr val="729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Figura a mano libera 18">
              <a:extLst>
                <a:ext uri="{FF2B5EF4-FFF2-40B4-BE49-F238E27FC236}">
                  <a16:creationId xmlns:a16="http://schemas.microsoft.com/office/drawing/2014/main" id="{83F4B299-5528-EFB4-944A-964AA226D979}"/>
                </a:ext>
              </a:extLst>
            </p:cNvPr>
            <p:cNvSpPr/>
            <p:nvPr userDrawn="1"/>
          </p:nvSpPr>
          <p:spPr>
            <a:xfrm>
              <a:off x="11280775" y="-35351"/>
              <a:ext cx="1196126" cy="565181"/>
            </a:xfrm>
            <a:custGeom>
              <a:avLst/>
              <a:gdLst>
                <a:gd name="connsiteX0" fmla="*/ 208270 w 13690600"/>
                <a:gd name="connsiteY0" fmla="*/ 0 h 6276182"/>
                <a:gd name="connsiteX1" fmla="*/ 13690600 w 13690600"/>
                <a:gd name="connsiteY1" fmla="*/ 0 h 6276182"/>
                <a:gd name="connsiteX2" fmla="*/ 13690600 w 13690600"/>
                <a:gd name="connsiteY2" fmla="*/ 5581250 h 6276182"/>
                <a:gd name="connsiteX3" fmla="*/ 13534352 w 13690600"/>
                <a:gd name="connsiteY3" fmla="*/ 5438700 h 6276182"/>
                <a:gd name="connsiteX4" fmla="*/ 11010900 w 13690600"/>
                <a:gd name="connsiteY4" fmla="*/ 4572000 h 6276182"/>
                <a:gd name="connsiteX5" fmla="*/ 9015606 w 13690600"/>
                <a:gd name="connsiteY5" fmla="*/ 5077368 h 6276182"/>
                <a:gd name="connsiteX6" fmla="*/ 8864600 w 13690600"/>
                <a:gd name="connsiteY6" fmla="*/ 5171000 h 6276182"/>
                <a:gd name="connsiteX7" fmla="*/ 8864600 w 13690600"/>
                <a:gd name="connsiteY7" fmla="*/ 5157046 h 6276182"/>
                <a:gd name="connsiteX8" fmla="*/ 8667507 w 13690600"/>
                <a:gd name="connsiteY8" fmla="*/ 5297716 h 6276182"/>
                <a:gd name="connsiteX9" fmla="*/ 5422900 w 13690600"/>
                <a:gd name="connsiteY9" fmla="*/ 6276182 h 6276182"/>
                <a:gd name="connsiteX10" fmla="*/ 0 w 13690600"/>
                <a:gd name="connsiteY10" fmla="*/ 1350963 h 6276182"/>
                <a:gd name="connsiteX11" fmla="*/ 170727 w 13690600"/>
                <a:gd name="connsiteY11" fmla="*/ 120074 h 6276182"/>
                <a:gd name="connsiteX12" fmla="*/ 208270 w 13690600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015935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81462 w 13690929"/>
                <a:gd name="connsiteY7" fmla="*/ 5317467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5423229 w 13690929"/>
                <a:gd name="connsiteY7" fmla="*/ 6276182 h 6276182"/>
                <a:gd name="connsiteX8" fmla="*/ 329 w 13690929"/>
                <a:gd name="connsiteY8" fmla="*/ 1350963 h 6276182"/>
                <a:gd name="connsiteX9" fmla="*/ 171056 w 13690929"/>
                <a:gd name="connsiteY9" fmla="*/ 120074 h 6276182"/>
                <a:gd name="connsiteX10" fmla="*/ 208599 w 13690929"/>
                <a:gd name="connsiteY10" fmla="*/ 0 h 627618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90929" h="6277062">
                  <a:moveTo>
                    <a:pt x="208599" y="0"/>
                  </a:moveTo>
                  <a:lnTo>
                    <a:pt x="13690929" y="0"/>
                  </a:lnTo>
                  <a:lnTo>
                    <a:pt x="13690929" y="5581250"/>
                  </a:lnTo>
                  <a:lnTo>
                    <a:pt x="13534681" y="5438700"/>
                  </a:lnTo>
                  <a:cubicBezTo>
                    <a:pt x="12888873" y="4903209"/>
                    <a:pt x="11796907" y="4579059"/>
                    <a:pt x="11011229" y="4572000"/>
                  </a:cubicBezTo>
                  <a:cubicBezTo>
                    <a:pt x="10310649" y="4565706"/>
                    <a:pt x="10069569" y="4800836"/>
                    <a:pt x="9346592" y="5077368"/>
                  </a:cubicBezTo>
                  <a:lnTo>
                    <a:pt x="8875062" y="5288987"/>
                  </a:lnTo>
                  <a:cubicBezTo>
                    <a:pt x="7746368" y="5713745"/>
                    <a:pt x="6901053" y="6251917"/>
                    <a:pt x="5423229" y="6276182"/>
                  </a:cubicBezTo>
                  <a:cubicBezTo>
                    <a:pt x="2428648" y="6325351"/>
                    <a:pt x="-32737" y="4311718"/>
                    <a:pt x="329" y="1350963"/>
                  </a:cubicBezTo>
                  <a:cubicBezTo>
                    <a:pt x="329" y="925944"/>
                    <a:pt x="59604" y="513498"/>
                    <a:pt x="171056" y="120074"/>
                  </a:cubicBezTo>
                  <a:lnTo>
                    <a:pt x="208599" y="0"/>
                  </a:lnTo>
                  <a:close/>
                </a:path>
              </a:pathLst>
            </a:custGeom>
            <a:solidFill>
              <a:schemeClr val="bg1">
                <a:alpha val="2374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p:sp>
          <p:nvSpPr>
            <p:cNvPr id="6" name="Figura a mano libera 19">
              <a:extLst>
                <a:ext uri="{FF2B5EF4-FFF2-40B4-BE49-F238E27FC236}">
                  <a16:creationId xmlns:a16="http://schemas.microsoft.com/office/drawing/2014/main" id="{F0F5E08D-E43D-7D2E-D732-85E3C4A8BA64}"/>
                </a:ext>
              </a:extLst>
            </p:cNvPr>
            <p:cNvSpPr/>
            <p:nvPr userDrawn="1"/>
          </p:nvSpPr>
          <p:spPr>
            <a:xfrm>
              <a:off x="11348323" y="-13480"/>
              <a:ext cx="885258" cy="418293"/>
            </a:xfrm>
            <a:custGeom>
              <a:avLst/>
              <a:gdLst>
                <a:gd name="connsiteX0" fmla="*/ 208270 w 13690600"/>
                <a:gd name="connsiteY0" fmla="*/ 0 h 6276182"/>
                <a:gd name="connsiteX1" fmla="*/ 13690600 w 13690600"/>
                <a:gd name="connsiteY1" fmla="*/ 0 h 6276182"/>
                <a:gd name="connsiteX2" fmla="*/ 13690600 w 13690600"/>
                <a:gd name="connsiteY2" fmla="*/ 5581250 h 6276182"/>
                <a:gd name="connsiteX3" fmla="*/ 13534352 w 13690600"/>
                <a:gd name="connsiteY3" fmla="*/ 5438700 h 6276182"/>
                <a:gd name="connsiteX4" fmla="*/ 11010900 w 13690600"/>
                <a:gd name="connsiteY4" fmla="*/ 4572000 h 6276182"/>
                <a:gd name="connsiteX5" fmla="*/ 9015606 w 13690600"/>
                <a:gd name="connsiteY5" fmla="*/ 5077368 h 6276182"/>
                <a:gd name="connsiteX6" fmla="*/ 8864600 w 13690600"/>
                <a:gd name="connsiteY6" fmla="*/ 5171000 h 6276182"/>
                <a:gd name="connsiteX7" fmla="*/ 8864600 w 13690600"/>
                <a:gd name="connsiteY7" fmla="*/ 5157046 h 6276182"/>
                <a:gd name="connsiteX8" fmla="*/ 8667507 w 13690600"/>
                <a:gd name="connsiteY8" fmla="*/ 5297716 h 6276182"/>
                <a:gd name="connsiteX9" fmla="*/ 5422900 w 13690600"/>
                <a:gd name="connsiteY9" fmla="*/ 6276182 h 6276182"/>
                <a:gd name="connsiteX10" fmla="*/ 0 w 13690600"/>
                <a:gd name="connsiteY10" fmla="*/ 1350963 h 6276182"/>
                <a:gd name="connsiteX11" fmla="*/ 170727 w 13690600"/>
                <a:gd name="connsiteY11" fmla="*/ 120074 h 6276182"/>
                <a:gd name="connsiteX12" fmla="*/ 208270 w 13690600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015935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64929 w 13690929"/>
                <a:gd name="connsiteY7" fmla="*/ 5157046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881462 w 13690929"/>
                <a:gd name="connsiteY7" fmla="*/ 5317467 h 6276182"/>
                <a:gd name="connsiteX8" fmla="*/ 8667836 w 13690929"/>
                <a:gd name="connsiteY8" fmla="*/ 5297716 h 6276182"/>
                <a:gd name="connsiteX9" fmla="*/ 5423229 w 13690929"/>
                <a:gd name="connsiteY9" fmla="*/ 6276182 h 6276182"/>
                <a:gd name="connsiteX10" fmla="*/ 329 w 13690929"/>
                <a:gd name="connsiteY10" fmla="*/ 1350963 h 6276182"/>
                <a:gd name="connsiteX11" fmla="*/ 171056 w 13690929"/>
                <a:gd name="connsiteY11" fmla="*/ 120074 h 6276182"/>
                <a:gd name="connsiteX12" fmla="*/ 208599 w 13690929"/>
                <a:gd name="connsiteY12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64929 w 13690929"/>
                <a:gd name="connsiteY6" fmla="*/ 5171000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8667836 w 13690929"/>
                <a:gd name="connsiteY7" fmla="*/ 5297716 h 6276182"/>
                <a:gd name="connsiteX8" fmla="*/ 5423229 w 13690929"/>
                <a:gd name="connsiteY8" fmla="*/ 6276182 h 6276182"/>
                <a:gd name="connsiteX9" fmla="*/ 329 w 13690929"/>
                <a:gd name="connsiteY9" fmla="*/ 1350963 h 6276182"/>
                <a:gd name="connsiteX10" fmla="*/ 171056 w 13690929"/>
                <a:gd name="connsiteY10" fmla="*/ 120074 h 6276182"/>
                <a:gd name="connsiteX11" fmla="*/ 208599 w 13690929"/>
                <a:gd name="connsiteY11" fmla="*/ 0 h 6276182"/>
                <a:gd name="connsiteX0" fmla="*/ 208599 w 13690929"/>
                <a:gd name="connsiteY0" fmla="*/ 0 h 6276182"/>
                <a:gd name="connsiteX1" fmla="*/ 13690929 w 13690929"/>
                <a:gd name="connsiteY1" fmla="*/ 0 h 6276182"/>
                <a:gd name="connsiteX2" fmla="*/ 13690929 w 13690929"/>
                <a:gd name="connsiteY2" fmla="*/ 5581250 h 6276182"/>
                <a:gd name="connsiteX3" fmla="*/ 13534681 w 13690929"/>
                <a:gd name="connsiteY3" fmla="*/ 5438700 h 6276182"/>
                <a:gd name="connsiteX4" fmla="*/ 11011229 w 13690929"/>
                <a:gd name="connsiteY4" fmla="*/ 4572000 h 6276182"/>
                <a:gd name="connsiteX5" fmla="*/ 9346592 w 13690929"/>
                <a:gd name="connsiteY5" fmla="*/ 5077368 h 6276182"/>
                <a:gd name="connsiteX6" fmla="*/ 8875062 w 13690929"/>
                <a:gd name="connsiteY6" fmla="*/ 5288987 h 6276182"/>
                <a:gd name="connsiteX7" fmla="*/ 5423229 w 13690929"/>
                <a:gd name="connsiteY7" fmla="*/ 6276182 h 6276182"/>
                <a:gd name="connsiteX8" fmla="*/ 329 w 13690929"/>
                <a:gd name="connsiteY8" fmla="*/ 1350963 h 6276182"/>
                <a:gd name="connsiteX9" fmla="*/ 171056 w 13690929"/>
                <a:gd name="connsiteY9" fmla="*/ 120074 h 6276182"/>
                <a:gd name="connsiteX10" fmla="*/ 208599 w 13690929"/>
                <a:gd name="connsiteY10" fmla="*/ 0 h 627618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  <a:gd name="connsiteX0" fmla="*/ 208599 w 13690929"/>
                <a:gd name="connsiteY0" fmla="*/ 0 h 6277062"/>
                <a:gd name="connsiteX1" fmla="*/ 13690929 w 13690929"/>
                <a:gd name="connsiteY1" fmla="*/ 0 h 6277062"/>
                <a:gd name="connsiteX2" fmla="*/ 13690929 w 13690929"/>
                <a:gd name="connsiteY2" fmla="*/ 5581250 h 6277062"/>
                <a:gd name="connsiteX3" fmla="*/ 13534681 w 13690929"/>
                <a:gd name="connsiteY3" fmla="*/ 5438700 h 6277062"/>
                <a:gd name="connsiteX4" fmla="*/ 11011229 w 13690929"/>
                <a:gd name="connsiteY4" fmla="*/ 4572000 h 6277062"/>
                <a:gd name="connsiteX5" fmla="*/ 9346592 w 13690929"/>
                <a:gd name="connsiteY5" fmla="*/ 5077368 h 6277062"/>
                <a:gd name="connsiteX6" fmla="*/ 8875062 w 13690929"/>
                <a:gd name="connsiteY6" fmla="*/ 5288987 h 6277062"/>
                <a:gd name="connsiteX7" fmla="*/ 5423229 w 13690929"/>
                <a:gd name="connsiteY7" fmla="*/ 6276182 h 6277062"/>
                <a:gd name="connsiteX8" fmla="*/ 329 w 13690929"/>
                <a:gd name="connsiteY8" fmla="*/ 1350963 h 6277062"/>
                <a:gd name="connsiteX9" fmla="*/ 171056 w 13690929"/>
                <a:gd name="connsiteY9" fmla="*/ 120074 h 6277062"/>
                <a:gd name="connsiteX10" fmla="*/ 208599 w 13690929"/>
                <a:gd name="connsiteY10" fmla="*/ 0 h 627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90929" h="6277062">
                  <a:moveTo>
                    <a:pt x="208599" y="0"/>
                  </a:moveTo>
                  <a:lnTo>
                    <a:pt x="13690929" y="0"/>
                  </a:lnTo>
                  <a:lnTo>
                    <a:pt x="13690929" y="5581250"/>
                  </a:lnTo>
                  <a:lnTo>
                    <a:pt x="13534681" y="5438700"/>
                  </a:lnTo>
                  <a:cubicBezTo>
                    <a:pt x="12888873" y="4903209"/>
                    <a:pt x="11796907" y="4579059"/>
                    <a:pt x="11011229" y="4572000"/>
                  </a:cubicBezTo>
                  <a:cubicBezTo>
                    <a:pt x="10310649" y="4565706"/>
                    <a:pt x="10069569" y="4800836"/>
                    <a:pt x="9346592" y="5077368"/>
                  </a:cubicBezTo>
                  <a:lnTo>
                    <a:pt x="8875062" y="5288987"/>
                  </a:lnTo>
                  <a:cubicBezTo>
                    <a:pt x="7746368" y="5713745"/>
                    <a:pt x="6901053" y="6251917"/>
                    <a:pt x="5423229" y="6276182"/>
                  </a:cubicBezTo>
                  <a:cubicBezTo>
                    <a:pt x="2428648" y="6325351"/>
                    <a:pt x="-32737" y="4311718"/>
                    <a:pt x="329" y="1350963"/>
                  </a:cubicBezTo>
                  <a:cubicBezTo>
                    <a:pt x="329" y="925944"/>
                    <a:pt x="59604" y="513498"/>
                    <a:pt x="171056" y="120074"/>
                  </a:cubicBezTo>
                  <a:lnTo>
                    <a:pt x="208599" y="0"/>
                  </a:lnTo>
                  <a:close/>
                </a:path>
              </a:pathLst>
            </a:cu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p:pic>
          <p:nvPicPr>
            <p:cNvPr id="7" name="Immagine 7" descr="Immagine che contiene testo&#10;&#10;Descrizione generata automaticamente">
              <a:extLst>
                <a:ext uri="{FF2B5EF4-FFF2-40B4-BE49-F238E27FC236}">
                  <a16:creationId xmlns:a16="http://schemas.microsoft.com/office/drawing/2014/main" id="{7043F027-0A30-4440-8387-11148E1221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26015" y="113634"/>
              <a:ext cx="1727785" cy="359108"/>
            </a:xfrm>
            <a:prstGeom prst="rect">
              <a:avLst/>
            </a:prstGeom>
          </p:spPr>
        </p:pic>
        <p:pic>
          <p:nvPicPr>
            <p:cNvPr id="8" name="Immagine 14" descr="Immagine che contiene edificio, ponte&#10;&#10;Descrizione generata automaticamente">
              <a:extLst>
                <a:ext uri="{FF2B5EF4-FFF2-40B4-BE49-F238E27FC236}">
                  <a16:creationId xmlns:a16="http://schemas.microsoft.com/office/drawing/2014/main" id="{B98246DB-0033-A116-C984-916B48F16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duotone>
                <a:prstClr val="black"/>
                <a:schemeClr val="tx2">
                  <a:tint val="45000"/>
                  <a:satMod val="400000"/>
                </a:schemeClr>
              </a:duotone>
              <a:alphaModFix amt="87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75052" y="-70344"/>
              <a:ext cx="406400" cy="600174"/>
            </a:xfrm>
            <a:prstGeom prst="rect">
              <a:avLst/>
            </a:prstGeom>
          </p:spPr>
        </p:pic>
      </p:grpSp>
      <p:cxnSp>
        <p:nvCxnSpPr>
          <p:cNvPr id="9" name="Connettore 1 11">
            <a:extLst>
              <a:ext uri="{FF2B5EF4-FFF2-40B4-BE49-F238E27FC236}">
                <a16:creationId xmlns:a16="http://schemas.microsoft.com/office/drawing/2014/main" id="{046E0F8E-C1F0-E14F-4189-18E7C4F83507}"/>
              </a:ext>
            </a:extLst>
          </p:cNvPr>
          <p:cNvCxnSpPr/>
          <p:nvPr userDrawn="1"/>
        </p:nvCxnSpPr>
        <p:spPr>
          <a:xfrm>
            <a:off x="766763" y="1005793"/>
            <a:ext cx="105140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olo 1">
            <a:extLst>
              <a:ext uri="{FF2B5EF4-FFF2-40B4-BE49-F238E27FC236}">
                <a16:creationId xmlns:a16="http://schemas.microsoft.com/office/drawing/2014/main" id="{AD06F866-C3B1-A315-DB66-C9E669D839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678711"/>
            <a:ext cx="11299546" cy="33239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Titolo della slide</a:t>
            </a:r>
          </a:p>
        </p:txBody>
      </p:sp>
    </p:spTree>
    <p:extLst>
      <p:ext uri="{BB962C8B-B14F-4D97-AF65-F5344CB8AC3E}">
        <p14:creationId xmlns:p14="http://schemas.microsoft.com/office/powerpoint/2010/main" val="1240689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.x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oleObject" Target="../embeddings/oleObject2.bin"/><Relationship Id="rId4" Type="http://schemas.openxmlformats.org/officeDocument/2006/relationships/slideLayout" Target="../slideLayouts/slideLayout5.xml"/><Relationship Id="rId9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5.xml"/><Relationship Id="rId11" Type="http://schemas.openxmlformats.org/officeDocument/2006/relationships/image" Target="../media/image10.png"/><Relationship Id="rId5" Type="http://schemas.openxmlformats.org/officeDocument/2006/relationships/theme" Target="../theme/theme3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oleObject" Target="../embeddings/oleObject2.bin"/><Relationship Id="rId5" Type="http://schemas.openxmlformats.org/officeDocument/2006/relationships/slideLayout" Target="../slideLayouts/slideLayout17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7CD54C4-4E24-BCCA-8DA3-861C9D126E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36632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8" imgH="608" progId="TCLayout.ActiveDocument.1">
                  <p:embed/>
                </p:oleObj>
              </mc:Choice>
              <mc:Fallback>
                <p:oleObj name="think-cell Slide" r:id="rId4" imgW="608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D54C4-4E24-BCCA-8DA3-861C9D126E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3"/>
          <p:cNvSpPr/>
          <p:nvPr userDrawn="1"/>
        </p:nvSpPr>
        <p:spPr bwMode="auto">
          <a:xfrm>
            <a:off x="6350" y="6527551"/>
            <a:ext cx="12194117" cy="332482"/>
          </a:xfrm>
          <a:prstGeom prst="rect">
            <a:avLst/>
          </a:prstGeom>
          <a:solidFill>
            <a:srgbClr val="14936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-80" charset="-128"/>
            </a:endParaRPr>
          </a:p>
        </p:txBody>
      </p:sp>
      <p:sp>
        <p:nvSpPr>
          <p:cNvPr id="8" name="Footer"/>
          <p:cNvSpPr>
            <a:spLocks noChangeArrowheads="1"/>
          </p:cNvSpPr>
          <p:nvPr userDrawn="1"/>
        </p:nvSpPr>
        <p:spPr bwMode="auto">
          <a:xfrm>
            <a:off x="0" y="6554145"/>
            <a:ext cx="12192000" cy="287337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fr-FR" sz="1000" b="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AECC4161-76FF-4D22-9BB3-ACF2FFAA2D84}" type="slidenum">
              <a:rPr lang="fr-FR" sz="1000" b="1" smtClean="0">
                <a:solidFill>
                  <a:srgbClr val="FFFFFF"/>
                </a:solidFill>
                <a:latin typeface="Arial"/>
                <a:ea typeface="ＭＳ Ｐゴシック"/>
              </a:rPr>
              <a:pPr/>
              <a:t>‹#›</a:t>
            </a:fld>
            <a:endParaRPr lang="fr-FR" sz="1000" b="1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10" name="Rettangolo 9"/>
          <p:cNvSpPr/>
          <p:nvPr userDrawn="1"/>
        </p:nvSpPr>
        <p:spPr bwMode="auto">
          <a:xfrm>
            <a:off x="0" y="1196752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808080">
                  <a:tint val="66000"/>
                  <a:satMod val="160000"/>
                </a:srgbClr>
              </a:gs>
              <a:gs pos="50000">
                <a:srgbClr val="808080">
                  <a:tint val="44500"/>
                  <a:satMod val="160000"/>
                </a:srgbClr>
              </a:gs>
              <a:gs pos="100000">
                <a:srgbClr val="80808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-80" charset="-128"/>
            </a:endParaRPr>
          </a:p>
        </p:txBody>
      </p:sp>
      <p:pic>
        <p:nvPicPr>
          <p:cNvPr id="11" name="Picture 48" descr="symbole-CA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076" y="6571346"/>
            <a:ext cx="361956" cy="253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tangolo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0"/>
            <a:ext cx="12206817" cy="3429000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850" y="4943883"/>
            <a:ext cx="3920150" cy="2160000"/>
          </a:xfrm>
          <a:prstGeom prst="rect">
            <a:avLst/>
          </a:prstGeom>
        </p:spPr>
      </p:pic>
      <p:sp>
        <p:nvSpPr>
          <p:cNvPr id="3" name="Segnaposto titolo 2"/>
          <p:cNvSpPr>
            <a:spLocks noGrp="1"/>
          </p:cNvSpPr>
          <p:nvPr>
            <p:ph type="title"/>
          </p:nvPr>
        </p:nvSpPr>
        <p:spPr>
          <a:xfrm>
            <a:off x="838200" y="16116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idx="1"/>
          </p:nvPr>
        </p:nvSpPr>
        <p:spPr>
          <a:xfrm>
            <a:off x="845608" y="3098311"/>
            <a:ext cx="10515600" cy="52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</a:t>
            </a:r>
          </a:p>
        </p:txBody>
      </p:sp>
      <p:sp>
        <p:nvSpPr>
          <p:cNvPr id="22" name="CasellaDiTesto 21"/>
          <p:cNvSpPr txBox="1"/>
          <p:nvPr userDrawn="1"/>
        </p:nvSpPr>
        <p:spPr>
          <a:xfrm>
            <a:off x="753035" y="6101127"/>
            <a:ext cx="2829261" cy="48029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endParaRPr lang="it-IT" sz="1800" b="1">
              <a:solidFill>
                <a:srgbClr val="0095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egnaposto data 26"/>
          <p:cNvSpPr>
            <a:spLocks noGrp="1"/>
          </p:cNvSpPr>
          <p:nvPr>
            <p:ph type="dt" sz="half" idx="2"/>
          </p:nvPr>
        </p:nvSpPr>
        <p:spPr>
          <a:xfrm>
            <a:off x="845608" y="60990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0959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0C3073-C68E-4CDF-B314-12BC0DC79944}" type="datetimeFigureOut">
              <a:rPr lang="it-IT" smtClean="0"/>
              <a:pPr/>
              <a:t>27/10/2026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66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bg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bg1"/>
          </a:solidFill>
          <a:latin typeface="Impact" panose="020B080603090205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872071-9916-D218-06DB-B475E39A65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60927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608" imgH="608" progId="TCLayout.ActiveDocument.1">
                  <p:embed/>
                </p:oleObj>
              </mc:Choice>
              <mc:Fallback>
                <p:oleObj name="think-cell Slide" r:id="rId10" imgW="608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872071-9916-D218-06DB-B475E39A65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/>
          <p:cNvSpPr/>
          <p:nvPr userDrawn="1"/>
        </p:nvSpPr>
        <p:spPr>
          <a:xfrm>
            <a:off x="0" y="6518676"/>
            <a:ext cx="12192000" cy="367746"/>
          </a:xfrm>
          <a:prstGeom prst="rect">
            <a:avLst/>
          </a:prstGeom>
          <a:solidFill>
            <a:srgbClr val="009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diritto 7"/>
          <p:cNvCxnSpPr/>
          <p:nvPr userDrawn="1"/>
        </p:nvCxnSpPr>
        <p:spPr>
          <a:xfrm>
            <a:off x="515938" y="1039616"/>
            <a:ext cx="11160125" cy="0"/>
          </a:xfrm>
          <a:prstGeom prst="line">
            <a:avLst/>
          </a:prstGeom>
          <a:ln w="19050">
            <a:solidFill>
              <a:srgbClr val="009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89" y="293634"/>
            <a:ext cx="581015" cy="407591"/>
          </a:xfrm>
          <a:prstGeom prst="rect">
            <a:avLst/>
          </a:prstGeom>
        </p:spPr>
      </p:pic>
      <p:sp>
        <p:nvSpPr>
          <p:cNvPr id="4" name="Segnaposto testo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4"/>
          </p:nvPr>
        </p:nvSpPr>
        <p:spPr>
          <a:xfrm>
            <a:off x="0" y="6519986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3" name="Segnaposto titolo 12"/>
          <p:cNvSpPr>
            <a:spLocks noGrp="1"/>
          </p:cNvSpPr>
          <p:nvPr>
            <p:ph type="title"/>
          </p:nvPr>
        </p:nvSpPr>
        <p:spPr>
          <a:xfrm>
            <a:off x="1160463" y="293634"/>
            <a:ext cx="10515600" cy="475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21292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1" r:id="rId2"/>
    <p:sldLayoutId id="2147483752" r:id="rId3"/>
    <p:sldLayoutId id="2147483753" r:id="rId4"/>
    <p:sldLayoutId id="2147483767" r:id="rId5"/>
    <p:sldLayoutId id="2147483769" r:id="rId6"/>
    <p:sldLayoutId id="2147483776" r:id="rId7"/>
  </p:sldLayoutIdLst>
  <p:hf hdr="0" ftr="0" dt="0"/>
  <p:txStyles>
    <p:titleStyle>
      <a:lvl1pPr marL="0" algn="r" defTabSz="914400" rtl="0" eaLnBrk="1" latinLnBrk="0" hangingPunct="1">
        <a:lnSpc>
          <a:spcPct val="90000"/>
        </a:lnSpc>
        <a:spcBef>
          <a:spcPct val="0"/>
        </a:spcBef>
        <a:buNone/>
        <a:defRPr lang="it-IT" sz="3200" b="1" kern="1200" spc="-150" dirty="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355">
          <p15:clr>
            <a:srgbClr val="F26B43"/>
          </p15:clr>
        </p15:guide>
        <p15:guide id="4" pos="32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26" imgH="326" progId="TCLayout.ActiveDocument.1">
                  <p:embed/>
                </p:oleObj>
              </mc:Choice>
              <mc:Fallback>
                <p:oleObj name="think-cell Slide" r:id="rId7" imgW="326" imgH="326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6570668"/>
            <a:ext cx="12192000" cy="287337"/>
          </a:xfrm>
          <a:prstGeom prst="rect">
            <a:avLst/>
          </a:prstGeom>
          <a:solidFill>
            <a:srgbClr val="149363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5360" y="6624331"/>
            <a:ext cx="48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>
              <a:defRPr sz="1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fld id="{D3BDF86E-F75D-4D2A-A654-7C8DC64DE5AA}" type="slidenum">
              <a:rPr lang="en-GB" smtClean="0"/>
              <a:pPr marL="0" indent="0">
                <a:buNone/>
              </a:pPr>
              <a:t>‹#›</a:t>
            </a:fld>
            <a:endParaRPr lang="en-GB"/>
          </a:p>
        </p:txBody>
      </p:sp>
      <p:pic>
        <p:nvPicPr>
          <p:cNvPr id="14" name="Picture 48" descr="symbole-C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821" y="6619880"/>
            <a:ext cx="359833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10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400"/>
            <a:ext cx="12192000" cy="1044000"/>
          </a:xfrm>
          <a:prstGeom prst="rect">
            <a:avLst/>
          </a:prstGeom>
        </p:spPr>
      </p:pic>
      <p:pic>
        <p:nvPicPr>
          <p:cNvPr id="8" name="Picture 44" descr="red-accent_oct2012_rgb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3287" y="276203"/>
            <a:ext cx="586316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16632"/>
            <a:ext cx="9600000" cy="2520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3" y="1106731"/>
            <a:ext cx="11617291" cy="532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683" y="6624331"/>
            <a:ext cx="2255997" cy="180000"/>
          </a:xfrm>
          <a:prstGeom prst="rect">
            <a:avLst/>
          </a:prstGeom>
        </p:spPr>
        <p:txBody>
          <a:bodyPr vert="horz" lIns="90000" tIns="46800" rIns="90000" bIns="46800" rtlCol="0" anchor="ctr"/>
          <a:lstStyle>
            <a:lvl1pPr algn="l">
              <a:defRPr sz="1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23 octobre 2015</a:t>
            </a:r>
          </a:p>
        </p:txBody>
      </p:sp>
    </p:spTree>
    <p:extLst>
      <p:ext uri="{BB962C8B-B14F-4D97-AF65-F5344CB8AC3E}">
        <p14:creationId xmlns:p14="http://schemas.microsoft.com/office/powerpoint/2010/main" val="342882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</p:sldLayoutIdLst>
  <p:hf sldNum="0" hdr="0" ftr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2000" b="1" kern="0" cap="small" spc="0" baseline="0">
          <a:solidFill>
            <a:srgbClr val="80808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5600" indent="-255600" algn="l" defTabSz="914400" rtl="0" eaLnBrk="1" latinLnBrk="0" hangingPunct="1">
        <a:spcBef>
          <a:spcPts val="0"/>
        </a:spcBef>
        <a:spcAft>
          <a:spcPts val="600"/>
        </a:spcAft>
        <a:buClr>
          <a:srgbClr val="149363"/>
        </a:buClr>
        <a:buFont typeface="Wingdings" panose="05000000000000000000" pitchFamily="2" charset="2"/>
        <a:buChar char="n"/>
        <a:defRPr sz="1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55600" indent="-255600" algn="l" defTabSz="914400" rtl="0" eaLnBrk="1" latinLnBrk="0" hangingPunct="1">
        <a:spcBef>
          <a:spcPts val="0"/>
        </a:spcBef>
        <a:spcAft>
          <a:spcPts val="600"/>
        </a:spcAft>
        <a:buClr>
          <a:srgbClr val="149363"/>
        </a:buClr>
        <a:buFont typeface="Wingdings" panose="05000000000000000000" pitchFamily="2" charset="2"/>
        <a:buChar char="n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0000" indent="-284400" algn="l" defTabSz="914400" rtl="0" eaLnBrk="1" latinLnBrk="0" hangingPunct="1">
        <a:spcBef>
          <a:spcPts val="0"/>
        </a:spcBef>
        <a:spcAft>
          <a:spcPts val="600"/>
        </a:spcAft>
        <a:buClr>
          <a:srgbClr val="149363"/>
        </a:buClr>
        <a:buSzPct val="110000"/>
        <a:buFontTx/>
        <a:buBlip>
          <a:blip r:embed="rId12"/>
        </a:buBlip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20000" indent="-194400" algn="l" defTabSz="914400" rtl="0" eaLnBrk="1" latinLnBrk="0" hangingPunct="1">
        <a:spcBef>
          <a:spcPts val="0"/>
        </a:spcBef>
        <a:spcAft>
          <a:spcPts val="600"/>
        </a:spcAft>
        <a:buClr>
          <a:srgbClr val="149363"/>
        </a:buClr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20000" indent="-194400" algn="l" defTabSz="914400" rtl="0" eaLnBrk="1" latinLnBrk="0" hangingPunct="1">
        <a:spcBef>
          <a:spcPts val="0"/>
        </a:spcBef>
        <a:spcAft>
          <a:spcPts val="600"/>
        </a:spcAft>
        <a:buClr>
          <a:srgbClr val="149363"/>
        </a:buClr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872071-9916-D218-06DB-B475E39A65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60927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608" imgH="608" progId="TCLayout.ActiveDocument.1">
                  <p:embed/>
                </p:oleObj>
              </mc:Choice>
              <mc:Fallback>
                <p:oleObj name="think-cell Slide" r:id="rId11" imgW="608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872071-9916-D218-06DB-B475E39A65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/>
          <p:cNvSpPr/>
          <p:nvPr userDrawn="1"/>
        </p:nvSpPr>
        <p:spPr>
          <a:xfrm>
            <a:off x="0" y="6518676"/>
            <a:ext cx="12192000" cy="367746"/>
          </a:xfrm>
          <a:prstGeom prst="rect">
            <a:avLst/>
          </a:prstGeom>
          <a:solidFill>
            <a:srgbClr val="009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diritto 7"/>
          <p:cNvCxnSpPr/>
          <p:nvPr userDrawn="1"/>
        </p:nvCxnSpPr>
        <p:spPr>
          <a:xfrm>
            <a:off x="515938" y="1039616"/>
            <a:ext cx="11160125" cy="0"/>
          </a:xfrm>
          <a:prstGeom prst="line">
            <a:avLst/>
          </a:prstGeom>
          <a:ln w="19050">
            <a:solidFill>
              <a:srgbClr val="009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testo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4"/>
          </p:nvPr>
        </p:nvSpPr>
        <p:spPr>
          <a:xfrm>
            <a:off x="0" y="6519986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fld id="{3C5ABC3C-103B-4086-8D3F-569824F59C7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3" name="Segnaposto titolo 12"/>
          <p:cNvSpPr>
            <a:spLocks noGrp="1"/>
          </p:cNvSpPr>
          <p:nvPr>
            <p:ph type="title"/>
          </p:nvPr>
        </p:nvSpPr>
        <p:spPr>
          <a:xfrm>
            <a:off x="1160463" y="293634"/>
            <a:ext cx="10515600" cy="475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401437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5" r:id="rId7"/>
    <p:sldLayoutId id="2147483786" r:id="rId8"/>
  </p:sldLayoutIdLst>
  <p:hf hdr="0" ftr="0" dt="0"/>
  <p:txStyles>
    <p:titleStyle>
      <a:lvl1pPr marL="0" algn="r" defTabSz="914400" rtl="0" eaLnBrk="1" latinLnBrk="0" hangingPunct="1">
        <a:lnSpc>
          <a:spcPct val="90000"/>
        </a:lnSpc>
        <a:spcBef>
          <a:spcPct val="0"/>
        </a:spcBef>
        <a:buNone/>
        <a:defRPr lang="it-IT" sz="3200" b="1" kern="1200" spc="-150" dirty="0">
          <a:solidFill>
            <a:schemeClr val="bg2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355">
          <p15:clr>
            <a:srgbClr val="F26B43"/>
          </p15:clr>
        </p15:guide>
        <p15:guide id="4" pos="3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svg"/><Relationship Id="rId12" Type="http://schemas.openxmlformats.org/officeDocument/2006/relationships/image" Target="../media/image20.jpe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.emf"/><Relationship Id="rId10" Type="http://schemas.openxmlformats.org/officeDocument/2006/relationships/image" Target="../media/image18.sv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svg"/><Relationship Id="rId12" Type="http://schemas.openxmlformats.org/officeDocument/2006/relationships/image" Target="../media/image23.jpe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11" Type="http://schemas.openxmlformats.org/officeDocument/2006/relationships/chart" Target="../charts/chart1.xml"/><Relationship Id="rId5" Type="http://schemas.openxmlformats.org/officeDocument/2006/relationships/image" Target="../media/image1.emf"/><Relationship Id="rId10" Type="http://schemas.openxmlformats.org/officeDocument/2006/relationships/image" Target="../media/image18.sv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7AD2-47B5-2804-363B-12FEB720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3DAACC3-FA2C-ADB0-1D0A-54BC630D28A5}"/>
              </a:ext>
            </a:extLst>
          </p:cNvPr>
          <p:cNvSpPr/>
          <p:nvPr/>
        </p:nvSpPr>
        <p:spPr>
          <a:xfrm>
            <a:off x="6454762" y="1399330"/>
            <a:ext cx="5370303" cy="4829573"/>
          </a:xfrm>
          <a:prstGeom prst="rect">
            <a:avLst/>
          </a:prstGeom>
          <a:solidFill>
            <a:srgbClr val="FDF3ED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DBB787-0B7E-893F-4D0E-4F4995854FDF}"/>
              </a:ext>
            </a:extLst>
          </p:cNvPr>
          <p:cNvSpPr/>
          <p:nvPr/>
        </p:nvSpPr>
        <p:spPr>
          <a:xfrm>
            <a:off x="1337928" y="3536312"/>
            <a:ext cx="4386368" cy="1021755"/>
          </a:xfrm>
          <a:prstGeom prst="rect">
            <a:avLst/>
          </a:prstGeom>
          <a:solidFill>
            <a:srgbClr val="FDF3ED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9FB15C5A-E80F-BD8A-4ED1-6199B0DE65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8" imgH="608" progId="TCLayout.ActiveDocument.1">
                  <p:embed/>
                </p:oleObj>
              </mc:Choice>
              <mc:Fallback>
                <p:oleObj name="think-cell Slide" r:id="rId4" imgW="608" imgH="608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15C5A-E80F-BD8A-4ED1-6199B0DE6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ttangolo con angoli arrotondati 17">
            <a:extLst>
              <a:ext uri="{FF2B5EF4-FFF2-40B4-BE49-F238E27FC236}">
                <a16:creationId xmlns:a16="http://schemas.microsoft.com/office/drawing/2014/main" id="{509E275E-5A84-4155-1351-2DB61B23D318}"/>
              </a:ext>
            </a:extLst>
          </p:cNvPr>
          <p:cNvSpPr/>
          <p:nvPr/>
        </p:nvSpPr>
        <p:spPr>
          <a:xfrm>
            <a:off x="6108700" y="119"/>
            <a:ext cx="6091400" cy="14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72000" bIns="720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PRELIMINARE PER DISCUSSIONE </a:t>
            </a:r>
          </a:p>
        </p:txBody>
      </p:sp>
      <p:sp>
        <p:nvSpPr>
          <p:cNvPr id="543" name="Slide Number Placeholder 3">
            <a:extLst>
              <a:ext uri="{FF2B5EF4-FFF2-40B4-BE49-F238E27FC236}">
                <a16:creationId xmlns:a16="http://schemas.microsoft.com/office/drawing/2014/main" id="{F7D30D29-184C-0936-E567-91168481FCDB}"/>
              </a:ext>
            </a:extLst>
          </p:cNvPr>
          <p:cNvSpPr txBox="1">
            <a:spLocks/>
          </p:cNvSpPr>
          <p:nvPr/>
        </p:nvSpPr>
        <p:spPr>
          <a:xfrm>
            <a:off x="0" y="6519986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5ABC3C-103B-4086-8D3F-569824F59C7E}" type="slidenum">
              <a:rPr kumimoji="0" lang="it-IT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7F4A63-AFE0-E8B7-7EB3-077AAFEFEEC6}"/>
              </a:ext>
            </a:extLst>
          </p:cNvPr>
          <p:cNvSpPr txBox="1">
            <a:spLocks/>
          </p:cNvSpPr>
          <p:nvPr/>
        </p:nvSpPr>
        <p:spPr>
          <a:xfrm>
            <a:off x="51698" y="1050998"/>
            <a:ext cx="913471" cy="5400603"/>
          </a:xfrm>
          <a:prstGeom prst="rect">
            <a:avLst/>
          </a:prstGeom>
          <a:solidFill>
            <a:srgbClr val="009597"/>
          </a:solidFill>
          <a:ln w="3175" cmpd="sng">
            <a:solidFill>
              <a:srgbClr val="40915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8100" tIns="38100" rIns="38100" bIns="3810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srgbClr val="003A79"/>
                </a:solidFill>
                <a:effectLst/>
                <a:uLnTx/>
                <a:uFillTx/>
                <a:latin typeface="Century Gothic"/>
                <a:cs typeface="Arial" panose="020B0604020202020204" pitchFamily="34" charset="0"/>
              </a:defRPr>
            </a:lvl1pPr>
            <a:lvl2pPr marL="211138" lvl="1" indent="-2079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5000"/>
              <a:buFont typeface="Century Gothic" panose="020B0502020202020204" pitchFamily="34" charset="0"/>
              <a:buChar char="▪"/>
              <a:defRPr sz="16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732142" lvl="3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0000"/>
              <a:buFont typeface="Century Gothic" panose="020B0502020202020204" pitchFamily="34" charset="0"/>
              <a:buChar char="▫"/>
              <a:defRPr sz="16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Rischio di transizione</a:t>
            </a:r>
            <a:r>
              <a:rPr lang="it-IT" sz="1050" kern="0">
                <a:solidFill>
                  <a:prstClr val="white"/>
                </a:solidFill>
                <a:latin typeface="Arial" panose="020B0604020202020204" pitchFamily="34" charset="0"/>
              </a:rPr>
              <a:t>- </a:t>
            </a:r>
          </a:p>
          <a:p>
            <a:pPr lvl="0">
              <a:defRPr/>
            </a:pPr>
            <a:r>
              <a:rPr lang="it-IT" sz="1050" kern="0">
                <a:solidFill>
                  <a:prstClr val="white"/>
                </a:solidFill>
                <a:latin typeface="Arial" panose="020B0604020202020204" pitchFamily="34" charset="0"/>
              </a:rPr>
              <a:t>Perimetro Imprese (</a:t>
            </a:r>
            <a:r>
              <a:rPr lang="it-IT" sz="1050">
                <a:solidFill>
                  <a:prstClr val="white"/>
                </a:solidFill>
              </a:rPr>
              <a:t>Corporate e Retail)</a:t>
            </a:r>
            <a:endParaRPr lang="it-IT" sz="1050" kern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endParaRPr kumimoji="0" lang="it-IT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F2894E-6CD5-071B-725D-0BDD374CB0CC}"/>
              </a:ext>
            </a:extLst>
          </p:cNvPr>
          <p:cNvGrpSpPr/>
          <p:nvPr/>
        </p:nvGrpSpPr>
        <p:grpSpPr>
          <a:xfrm>
            <a:off x="1010504" y="607103"/>
            <a:ext cx="1175192" cy="410491"/>
            <a:chOff x="1010504" y="607103"/>
            <a:chExt cx="1175192" cy="41049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204C43-7ACF-C02B-FC0B-85D0DA5F8139}"/>
                </a:ext>
              </a:extLst>
            </p:cNvPr>
            <p:cNvSpPr/>
            <p:nvPr/>
          </p:nvSpPr>
          <p:spPr>
            <a:xfrm>
              <a:off x="1010504" y="942175"/>
              <a:ext cx="131324" cy="754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5F2F90-BBF4-4139-1D86-CB0320C4143B}"/>
                </a:ext>
              </a:extLst>
            </p:cNvPr>
            <p:cNvSpPr/>
            <p:nvPr/>
          </p:nvSpPr>
          <p:spPr>
            <a:xfrm>
              <a:off x="1158696" y="607103"/>
              <a:ext cx="333217" cy="81400"/>
            </a:xfrm>
            <a:prstGeom prst="rect">
              <a:avLst/>
            </a:prstGeom>
            <a:solidFill>
              <a:srgbClr val="009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B83A62-158D-5ACB-EE4D-45AE56BCBA39}"/>
                </a:ext>
              </a:extLst>
            </p:cNvPr>
            <p:cNvSpPr/>
            <p:nvPr/>
          </p:nvSpPr>
          <p:spPr>
            <a:xfrm>
              <a:off x="1306623" y="789291"/>
              <a:ext cx="78700" cy="51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i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72240CF-B336-C3EA-B5FE-DB69D88E36DE}"/>
                </a:ext>
              </a:extLst>
            </p:cNvPr>
            <p:cNvSpPr/>
            <p:nvPr/>
          </p:nvSpPr>
          <p:spPr>
            <a:xfrm>
              <a:off x="1406421" y="789291"/>
              <a:ext cx="78700" cy="51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0D16D05-E700-90DA-AA2A-F99C0D8E17A8}"/>
                </a:ext>
              </a:extLst>
            </p:cNvPr>
            <p:cNvGrpSpPr/>
            <p:nvPr/>
          </p:nvGrpSpPr>
          <p:grpSpPr>
            <a:xfrm>
              <a:off x="1301566" y="718482"/>
              <a:ext cx="183555" cy="56073"/>
              <a:chOff x="4129589" y="3411793"/>
              <a:chExt cx="1358369" cy="22000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C93510E-C61C-9A7E-D5D5-5881FD5FFBE7}"/>
                  </a:ext>
                </a:extLst>
              </p:cNvPr>
              <p:cNvSpPr/>
              <p:nvPr/>
            </p:nvSpPr>
            <p:spPr>
              <a:xfrm>
                <a:off x="4214108" y="3411793"/>
                <a:ext cx="1273850" cy="2200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i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1" name="Graphic 60" descr="Lightning bolt with solid fill">
                <a:extLst>
                  <a:ext uri="{FF2B5EF4-FFF2-40B4-BE49-F238E27FC236}">
                    <a16:creationId xmlns:a16="http://schemas.microsoft.com/office/drawing/2014/main" id="{77E204C0-19E9-A695-BA30-D7746AE19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129589" y="3416909"/>
                <a:ext cx="128100" cy="12809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8829A26-391F-8AE9-DABD-1DDEABFD4D77}"/>
                </a:ext>
              </a:extLst>
            </p:cNvPr>
            <p:cNvSpPr/>
            <p:nvPr/>
          </p:nvSpPr>
          <p:spPr>
            <a:xfrm>
              <a:off x="1158696" y="711477"/>
              <a:ext cx="131323" cy="133612"/>
            </a:xfrm>
            <a:prstGeom prst="rect">
              <a:avLst/>
            </a:prstGeom>
            <a:solidFill>
              <a:srgbClr val="009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i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Graphic 38" descr="Power Plant with solid fill">
              <a:extLst>
                <a:ext uri="{FF2B5EF4-FFF2-40B4-BE49-F238E27FC236}">
                  <a16:creationId xmlns:a16="http://schemas.microsoft.com/office/drawing/2014/main" id="{6748BC08-1FC3-81DC-681E-E1950745E9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3275" y="713867"/>
              <a:ext cx="17310" cy="3264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43B869A-66FA-5DD3-8A37-714832A145F7}"/>
                </a:ext>
              </a:extLst>
            </p:cNvPr>
            <p:cNvSpPr/>
            <p:nvPr/>
          </p:nvSpPr>
          <p:spPr>
            <a:xfrm>
              <a:off x="1510552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42" name="Graphic 41" descr="Deciduous tree with solid fill">
              <a:extLst>
                <a:ext uri="{FF2B5EF4-FFF2-40B4-BE49-F238E27FC236}">
                  <a16:creationId xmlns:a16="http://schemas.microsoft.com/office/drawing/2014/main" id="{6C0DB29D-8BF7-46AE-B53C-D467E2665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16881" y="612810"/>
              <a:ext cx="15059" cy="2840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6425D7C-38CD-CE4C-48B3-EBF08D6BA2E0}"/>
                </a:ext>
              </a:extLst>
            </p:cNvPr>
            <p:cNvSpPr/>
            <p:nvPr/>
          </p:nvSpPr>
          <p:spPr>
            <a:xfrm>
              <a:off x="1740698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srgbClr val="00777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4" name="Graphic 53" descr="Users with solid fill">
              <a:extLst>
                <a:ext uri="{FF2B5EF4-FFF2-40B4-BE49-F238E27FC236}">
                  <a16:creationId xmlns:a16="http://schemas.microsoft.com/office/drawing/2014/main" id="{6AA4D5B1-231C-740D-AD26-0F18226F51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44426" y="614600"/>
              <a:ext cx="15059" cy="25620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62087D6-C6ED-B7DC-5A9B-480134F93910}"/>
                </a:ext>
              </a:extLst>
            </p:cNvPr>
            <p:cNvSpPr/>
            <p:nvPr/>
          </p:nvSpPr>
          <p:spPr>
            <a:xfrm>
              <a:off x="1970844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srgbClr val="00777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6" name="Graphic 55" descr="Cycle with people with solid fill">
              <a:extLst>
                <a:ext uri="{FF2B5EF4-FFF2-40B4-BE49-F238E27FC236}">
                  <a16:creationId xmlns:a16="http://schemas.microsoft.com/office/drawing/2014/main" id="{474FB394-8778-5363-4ACF-B8D0C51777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86365" y="612003"/>
              <a:ext cx="17210" cy="29281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56C5C13-D19B-EDA6-8ECB-5029D093006A}"/>
                </a:ext>
              </a:extLst>
            </p:cNvPr>
            <p:cNvSpPr/>
            <p:nvPr/>
          </p:nvSpPr>
          <p:spPr>
            <a:xfrm>
              <a:off x="1010504" y="857193"/>
              <a:ext cx="131324" cy="73933"/>
            </a:xfrm>
            <a:prstGeom prst="rect">
              <a:avLst/>
            </a:prstGeom>
            <a:solidFill>
              <a:srgbClr val="E5F7F7"/>
            </a:solidFill>
            <a:ln w="3175">
              <a:solidFill>
                <a:srgbClr val="00757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F9FA449-163D-3AAA-B266-74C392208D1A}"/>
                </a:ext>
              </a:extLst>
            </p:cNvPr>
            <p:cNvSpPr/>
            <p:nvPr/>
          </p:nvSpPr>
          <p:spPr>
            <a:xfrm>
              <a:off x="1158696" y="857192"/>
              <a:ext cx="1027000" cy="770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21A8095-8D2B-5606-BDFC-FE4048D0809B}"/>
                </a:ext>
              </a:extLst>
            </p:cNvPr>
            <p:cNvSpPr/>
            <p:nvPr/>
          </p:nvSpPr>
          <p:spPr>
            <a:xfrm>
              <a:off x="1158695" y="940558"/>
              <a:ext cx="1027000" cy="770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700" name="TextBox 699">
            <a:extLst>
              <a:ext uri="{FF2B5EF4-FFF2-40B4-BE49-F238E27FC236}">
                <a16:creationId xmlns:a16="http://schemas.microsoft.com/office/drawing/2014/main" id="{CC832A6A-7474-FB87-BB46-F09E75BB6B46}"/>
              </a:ext>
            </a:extLst>
          </p:cNvPr>
          <p:cNvSpPr txBox="1"/>
          <p:nvPr/>
        </p:nvSpPr>
        <p:spPr>
          <a:xfrm>
            <a:off x="6549098" y="1494275"/>
            <a:ext cx="3314230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Identificazione dello scenario di riferimento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Selezione delle traiettorie settoriali NGFS </a:t>
            </a:r>
            <a:r>
              <a:rPr lang="it-IT" sz="900" err="1">
                <a:latin typeface="Arial" panose="020B0604020202020204" pitchFamily="34" charset="0"/>
                <a:cs typeface="Arial" panose="020B0604020202020204" pitchFamily="34" charset="0"/>
              </a:rPr>
              <a:t>Delayed</a:t>
            </a: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900" err="1">
                <a:latin typeface="Arial" panose="020B0604020202020204" pitchFamily="34" charset="0"/>
                <a:cs typeface="Arial" panose="020B0604020202020204" pitchFamily="34" charset="0"/>
              </a:rPr>
              <a:t>Transition</a:t>
            </a: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 per la valutazione del rischio di transizione.</a:t>
            </a:r>
          </a:p>
          <a:p>
            <a:pPr lvl="0">
              <a:spcAft>
                <a:spcPts val="200"/>
              </a:spcAft>
            </a:pPr>
            <a:endParaRPr lang="it-IT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Acquisizione del dato di emissioni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Acquisizione delle traiettorie emissive NGFS (rispetto allo scenario selezionato) e riconduzione alle diverse categorie di settori economici in analisi</a:t>
            </a:r>
          </a:p>
        </p:txBody>
      </p:sp>
      <p:cxnSp>
        <p:nvCxnSpPr>
          <p:cNvPr id="9" name="Connettore diritto 40">
            <a:extLst>
              <a:ext uri="{FF2B5EF4-FFF2-40B4-BE49-F238E27FC236}">
                <a16:creationId xmlns:a16="http://schemas.microsoft.com/office/drawing/2014/main" id="{D3826511-F9FB-3A02-BBEC-AA5D2019A9F3}"/>
              </a:ext>
            </a:extLst>
          </p:cNvPr>
          <p:cNvCxnSpPr>
            <a:cxnSpLocks/>
          </p:cNvCxnSpPr>
          <p:nvPr/>
        </p:nvCxnSpPr>
        <p:spPr>
          <a:xfrm flipV="1">
            <a:off x="5737239" y="1397347"/>
            <a:ext cx="704580" cy="21389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41">
            <a:extLst>
              <a:ext uri="{FF2B5EF4-FFF2-40B4-BE49-F238E27FC236}">
                <a16:creationId xmlns:a16="http://schemas.microsoft.com/office/drawing/2014/main" id="{4F9B52C9-1432-2D50-CCE5-2E362CC4168C}"/>
              </a:ext>
            </a:extLst>
          </p:cNvPr>
          <p:cNvCxnSpPr>
            <a:cxnSpLocks/>
          </p:cNvCxnSpPr>
          <p:nvPr/>
        </p:nvCxnSpPr>
        <p:spPr>
          <a:xfrm>
            <a:off x="5724296" y="4558067"/>
            <a:ext cx="730465" cy="166401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6132853-9293-31E3-61E7-EAAC0694A657}"/>
              </a:ext>
            </a:extLst>
          </p:cNvPr>
          <p:cNvSpPr/>
          <p:nvPr/>
        </p:nvSpPr>
        <p:spPr>
          <a:xfrm>
            <a:off x="891406" y="6609876"/>
            <a:ext cx="10801798" cy="12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it-IT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fini della classificazione delle controparti come ad alto rischio, sono stati considerati le seguenti classi di score: E </a:t>
            </a:r>
            <a:r>
              <a:rPr kumimoji="0" lang="it-IT" sz="7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  <a:r>
              <a:rPr kumimoji="0" lang="it-IT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 per lo score di CA.sa; 1 e 2 per lo score di CACIB; «Alto» e «Molto </a:t>
            </a:r>
            <a:r>
              <a:rPr lang="it-IT" sz="700" b="1">
                <a:solidFill>
                  <a:prstClr val="white"/>
                </a:solidFill>
                <a:latin typeface="Calibri" panose="020F0502020204030204"/>
              </a:rPr>
              <a:t>A</a:t>
            </a:r>
            <a:r>
              <a:rPr kumimoji="0" lang="it-IT" sz="7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lto</a:t>
            </a:r>
            <a:r>
              <a:rPr kumimoji="0" lang="it-IT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 per lo score di Cerved</a:t>
            </a:r>
          </a:p>
        </p:txBody>
      </p:sp>
      <p:sp>
        <p:nvSpPr>
          <p:cNvPr id="22" name="CasellaDiTesto 36">
            <a:extLst>
              <a:ext uri="{FF2B5EF4-FFF2-40B4-BE49-F238E27FC236}">
                <a16:creationId xmlns:a16="http://schemas.microsoft.com/office/drawing/2014/main" id="{9E9F303D-595F-00B3-76B1-8FD65B7B4D63}"/>
              </a:ext>
            </a:extLst>
          </p:cNvPr>
          <p:cNvSpPr txBox="1"/>
          <p:nvPr/>
        </p:nvSpPr>
        <p:spPr>
          <a:xfrm>
            <a:off x="1151343" y="1549260"/>
            <a:ext cx="4585896" cy="1249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>
                <a:solidFill>
                  <a:srgbClr val="000000"/>
                </a:solidFill>
              </a:rPr>
              <a:t>Individuazione delle </a:t>
            </a:r>
            <a:r>
              <a:rPr lang="it-IT" sz="1050" b="1">
                <a:solidFill>
                  <a:srgbClr val="000000"/>
                </a:solidFill>
              </a:rPr>
              <a:t>controparti ad alto rischio </a:t>
            </a:r>
            <a:r>
              <a:rPr lang="it-IT" sz="1050">
                <a:solidFill>
                  <a:srgbClr val="000000"/>
                </a:solidFill>
              </a:rPr>
              <a:t>sulla base dell’applicazione di una gerarchia degli </a:t>
            </a:r>
            <a:r>
              <a:rPr lang="it-IT" sz="1050" b="1">
                <a:solidFill>
                  <a:srgbClr val="000000"/>
                </a:solidFill>
              </a:rPr>
              <a:t>score di rischio di transizione attualmente disponibili:</a:t>
            </a:r>
          </a:p>
          <a:p>
            <a:pPr marL="628650" lvl="1" indent="-171450">
              <a:spcBef>
                <a:spcPts val="200"/>
              </a:spcBef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CA.sa: controparti con fatturato compreso tra 7,5 €mln e 200 €mln</a:t>
            </a:r>
          </a:p>
          <a:p>
            <a:pPr marL="628650" lvl="1" indent="-171450"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CACIB: controparti con fatturato maggiore di 200 €mln</a:t>
            </a:r>
          </a:p>
          <a:p>
            <a:pPr marL="628650" lvl="1" indent="-171450"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Cerved: controparti non coperte da score CA.sa o CACIB</a:t>
            </a:r>
            <a:endParaRPr lang="it-IT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sellaDiTesto 36">
            <a:extLst>
              <a:ext uri="{FF2B5EF4-FFF2-40B4-BE49-F238E27FC236}">
                <a16:creationId xmlns:a16="http://schemas.microsoft.com/office/drawing/2014/main" id="{0FDBB76B-C193-EA03-40A4-3BE2CFCA9D9C}"/>
              </a:ext>
            </a:extLst>
          </p:cNvPr>
          <p:cNvSpPr txBox="1"/>
          <p:nvPr/>
        </p:nvSpPr>
        <p:spPr>
          <a:xfrm>
            <a:off x="1151343" y="4816214"/>
            <a:ext cx="4506668" cy="900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>
                <a:solidFill>
                  <a:srgbClr val="000000"/>
                </a:solidFill>
              </a:rPr>
              <a:t>Individuazione dei </a:t>
            </a:r>
            <a:r>
              <a:rPr lang="it-IT" sz="1050" b="1">
                <a:solidFill>
                  <a:srgbClr val="000000"/>
                </a:solidFill>
              </a:rPr>
              <a:t>settori potenzialmente materiali </a:t>
            </a:r>
            <a:r>
              <a:rPr lang="it-IT" sz="1050">
                <a:solidFill>
                  <a:srgbClr val="000000"/>
                </a:solidFill>
              </a:rPr>
              <a:t>adottando una </a:t>
            </a:r>
            <a:r>
              <a:rPr lang="it-IT" sz="1050" err="1">
                <a:solidFill>
                  <a:srgbClr val="000000"/>
                </a:solidFill>
              </a:rPr>
              <a:t>una</a:t>
            </a:r>
            <a:r>
              <a:rPr lang="it-IT" sz="1050">
                <a:solidFill>
                  <a:srgbClr val="000000"/>
                </a:solidFill>
              </a:rPr>
              <a:t> </a:t>
            </a:r>
            <a:r>
              <a:rPr lang="it-IT" sz="1050" b="1">
                <a:solidFill>
                  <a:srgbClr val="000000"/>
                </a:solidFill>
              </a:rPr>
              <a:t>soglia</a:t>
            </a:r>
            <a:r>
              <a:rPr lang="it-IT" sz="1050">
                <a:solidFill>
                  <a:srgbClr val="000000"/>
                </a:solidFill>
              </a:rPr>
              <a:t> pari al </a:t>
            </a:r>
            <a:r>
              <a:rPr lang="it-IT" sz="1050" b="1">
                <a:solidFill>
                  <a:srgbClr val="000000"/>
                </a:solidFill>
              </a:rPr>
              <a:t>20%</a:t>
            </a:r>
            <a:r>
              <a:rPr lang="it-IT" sz="1050">
                <a:solidFill>
                  <a:srgbClr val="000000"/>
                </a:solidFill>
              </a:rPr>
              <a:t> di </a:t>
            </a:r>
            <a:r>
              <a:rPr lang="it-IT" sz="1050" b="1">
                <a:solidFill>
                  <a:srgbClr val="000000"/>
                </a:solidFill>
              </a:rPr>
              <a:t>incidenza</a:t>
            </a:r>
            <a:r>
              <a:rPr lang="it-IT" sz="1050">
                <a:solidFill>
                  <a:srgbClr val="000000"/>
                </a:solidFill>
              </a:rPr>
              <a:t> delle esposizioni verso </a:t>
            </a:r>
            <a:r>
              <a:rPr lang="it-IT" sz="1050" b="1">
                <a:solidFill>
                  <a:srgbClr val="000000"/>
                </a:solidFill>
              </a:rPr>
              <a:t>controparti ad «alto rischio»</a:t>
            </a:r>
            <a:r>
              <a:rPr lang="it-IT" sz="1050">
                <a:solidFill>
                  <a:srgbClr val="000000"/>
                </a:solidFill>
              </a:rPr>
              <a:t> sul totale delle controparti appartenenti al settore ed </a:t>
            </a:r>
            <a:r>
              <a:rPr lang="it-IT" sz="1050" b="1">
                <a:solidFill>
                  <a:srgbClr val="000000"/>
                </a:solidFill>
              </a:rPr>
              <a:t>esclusione</a:t>
            </a:r>
            <a:r>
              <a:rPr lang="it-IT" sz="1050">
                <a:solidFill>
                  <a:srgbClr val="000000"/>
                </a:solidFill>
              </a:rPr>
              <a:t> dei </a:t>
            </a:r>
            <a:r>
              <a:rPr lang="it-IT" sz="1050" b="1">
                <a:solidFill>
                  <a:srgbClr val="000000"/>
                </a:solidFill>
              </a:rPr>
              <a:t>settori</a:t>
            </a:r>
            <a:r>
              <a:rPr lang="it-IT" sz="1050">
                <a:solidFill>
                  <a:srgbClr val="000000"/>
                </a:solidFill>
              </a:rPr>
              <a:t> con </a:t>
            </a:r>
            <a:r>
              <a:rPr lang="it-IT" sz="1050" b="1">
                <a:solidFill>
                  <a:srgbClr val="000000"/>
                </a:solidFill>
              </a:rPr>
              <a:t>limitata incidenza </a:t>
            </a:r>
            <a:r>
              <a:rPr lang="it-IT" sz="1050">
                <a:solidFill>
                  <a:srgbClr val="000000"/>
                </a:solidFill>
              </a:rPr>
              <a:t>sul portafoglio in termini di </a:t>
            </a:r>
            <a:r>
              <a:rPr lang="it-IT" sz="1050" b="1">
                <a:solidFill>
                  <a:srgbClr val="000000"/>
                </a:solidFill>
              </a:rPr>
              <a:t>volume di esposizione</a:t>
            </a:r>
          </a:p>
        </p:txBody>
      </p:sp>
      <p:sp>
        <p:nvSpPr>
          <p:cNvPr id="23" name="CasellaDiTesto 36">
            <a:extLst>
              <a:ext uri="{FF2B5EF4-FFF2-40B4-BE49-F238E27FC236}">
                <a16:creationId xmlns:a16="http://schemas.microsoft.com/office/drawing/2014/main" id="{2B86F90F-9DFA-8AD6-54FB-27020153CC29}"/>
              </a:ext>
            </a:extLst>
          </p:cNvPr>
          <p:cNvSpPr txBox="1"/>
          <p:nvPr/>
        </p:nvSpPr>
        <p:spPr>
          <a:xfrm>
            <a:off x="1151343" y="2923731"/>
            <a:ext cx="4506668" cy="15901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spcAft>
                <a:spcPts val="800"/>
              </a:spcAft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 b="1">
                <a:solidFill>
                  <a:srgbClr val="000000"/>
                </a:solidFill>
              </a:rPr>
              <a:t>Esclusione</a:t>
            </a:r>
            <a:r>
              <a:rPr lang="it-IT" sz="1050">
                <a:solidFill>
                  <a:srgbClr val="000000"/>
                </a:solidFill>
              </a:rPr>
              <a:t> preventiva dal </a:t>
            </a:r>
            <a:r>
              <a:rPr lang="it-IT" sz="1050" b="1">
                <a:solidFill>
                  <a:srgbClr val="000000"/>
                </a:solidFill>
              </a:rPr>
              <a:t>perimetro</a:t>
            </a:r>
            <a:r>
              <a:rPr lang="it-IT" sz="1050">
                <a:solidFill>
                  <a:srgbClr val="000000"/>
                </a:solidFill>
              </a:rPr>
              <a:t> considerato a «</a:t>
            </a:r>
            <a:r>
              <a:rPr lang="it-IT" sz="1050" b="1">
                <a:solidFill>
                  <a:srgbClr val="000000"/>
                </a:solidFill>
              </a:rPr>
              <a:t>rischio alto</a:t>
            </a:r>
            <a:r>
              <a:rPr lang="it-IT" sz="1050">
                <a:solidFill>
                  <a:srgbClr val="000000"/>
                </a:solidFill>
              </a:rPr>
              <a:t>»</a:t>
            </a:r>
            <a:r>
              <a:rPr lang="it-IT" sz="1050" baseline="30000">
                <a:solidFill>
                  <a:srgbClr val="000000"/>
                </a:solidFill>
              </a:rPr>
              <a:t>1</a:t>
            </a:r>
            <a:r>
              <a:rPr lang="it-IT" sz="1050">
                <a:solidFill>
                  <a:srgbClr val="000000"/>
                </a:solidFill>
              </a:rPr>
              <a:t> di:</a:t>
            </a:r>
          </a:p>
          <a:p>
            <a:pPr marL="360000" indent="-171450">
              <a:spcAft>
                <a:spcPts val="800"/>
              </a:spcAft>
              <a:buClr>
                <a:srgbClr val="007578"/>
              </a:buClr>
              <a:buSzPct val="60000"/>
              <a:buFont typeface="Wingdings" panose="05000000000000000000" pitchFamily="2" charset="2"/>
              <a:buChar char="q"/>
            </a:pPr>
            <a:endParaRPr lang="it-IT" sz="1050">
              <a:solidFill>
                <a:srgbClr val="000000"/>
              </a:solidFill>
            </a:endParaRPr>
          </a:p>
          <a:p>
            <a:pPr marL="360000" indent="-171450">
              <a:spcAft>
                <a:spcPts val="800"/>
              </a:spcAft>
              <a:buClr>
                <a:srgbClr val="007578"/>
              </a:buClr>
              <a:buSzPct val="60000"/>
              <a:buFont typeface="Wingdings" panose="05000000000000000000" pitchFamily="2" charset="2"/>
              <a:buChar char="q"/>
            </a:pPr>
            <a:r>
              <a:rPr lang="it-IT" sz="1050">
                <a:solidFill>
                  <a:srgbClr val="000000"/>
                </a:solidFill>
              </a:rPr>
              <a:t>Esposizioni verso controparti considerate non rischiose rispetto al parametro </a:t>
            </a:r>
            <a:r>
              <a:rPr lang="it-IT" sz="1050" b="1">
                <a:solidFill>
                  <a:srgbClr val="000000"/>
                </a:solidFill>
              </a:rPr>
              <a:t>GHG </a:t>
            </a:r>
            <a:r>
              <a:rPr lang="it-IT" sz="1050" b="1" err="1">
                <a:solidFill>
                  <a:srgbClr val="000000"/>
                </a:solidFill>
              </a:rPr>
              <a:t>intensity</a:t>
            </a:r>
            <a:r>
              <a:rPr lang="it-IT" sz="1050">
                <a:solidFill>
                  <a:srgbClr val="000000"/>
                </a:solidFill>
              </a:rPr>
              <a:t>, individuate tramite il </a:t>
            </a:r>
            <a:r>
              <a:rPr lang="it-IT" sz="1050" b="1">
                <a:solidFill>
                  <a:srgbClr val="000000"/>
                </a:solidFill>
              </a:rPr>
              <a:t>confronto</a:t>
            </a:r>
            <a:r>
              <a:rPr lang="it-IT" sz="1050">
                <a:solidFill>
                  <a:srgbClr val="000000"/>
                </a:solidFill>
              </a:rPr>
              <a:t> del </a:t>
            </a:r>
            <a:r>
              <a:rPr lang="it-IT" sz="1050" b="1">
                <a:solidFill>
                  <a:srgbClr val="000000"/>
                </a:solidFill>
              </a:rPr>
              <a:t>profilo emissivo </a:t>
            </a:r>
            <a:r>
              <a:rPr lang="it-IT" sz="1050">
                <a:solidFill>
                  <a:srgbClr val="000000"/>
                </a:solidFill>
              </a:rPr>
              <a:t>delle stesse </a:t>
            </a:r>
            <a:r>
              <a:rPr lang="it-IT" sz="1050" b="1">
                <a:solidFill>
                  <a:srgbClr val="000000"/>
                </a:solidFill>
              </a:rPr>
              <a:t>e</a:t>
            </a:r>
            <a:r>
              <a:rPr lang="it-IT" sz="1050">
                <a:solidFill>
                  <a:srgbClr val="000000"/>
                </a:solidFill>
              </a:rPr>
              <a:t> la </a:t>
            </a:r>
            <a:r>
              <a:rPr lang="it-IT" sz="1050" b="1">
                <a:solidFill>
                  <a:srgbClr val="000000"/>
                </a:solidFill>
              </a:rPr>
              <a:t>traiettoria delineata </a:t>
            </a:r>
            <a:r>
              <a:rPr lang="it-IT" sz="1050">
                <a:solidFill>
                  <a:srgbClr val="000000"/>
                </a:solidFill>
              </a:rPr>
              <a:t>dallo</a:t>
            </a:r>
            <a:r>
              <a:rPr lang="it-IT" sz="1050" b="1">
                <a:solidFill>
                  <a:srgbClr val="000000"/>
                </a:solidFill>
              </a:rPr>
              <a:t> scenario climatico di riferimento </a:t>
            </a:r>
            <a:r>
              <a:rPr lang="it-IT" sz="1050">
                <a:solidFill>
                  <a:srgbClr val="000000"/>
                </a:solidFill>
              </a:rPr>
              <a:t>(quantificando la distanza nell’intervallo temporale 2025-2050).</a:t>
            </a:r>
          </a:p>
        </p:txBody>
      </p:sp>
      <p:sp>
        <p:nvSpPr>
          <p:cNvPr id="47" name="Speech Bubble: Rectangle 80">
            <a:extLst>
              <a:ext uri="{FF2B5EF4-FFF2-40B4-BE49-F238E27FC236}">
                <a16:creationId xmlns:a16="http://schemas.microsoft.com/office/drawing/2014/main" id="{75638AD8-DFCA-B024-3BB2-C9942ACBF443}"/>
              </a:ext>
            </a:extLst>
          </p:cNvPr>
          <p:cNvSpPr/>
          <p:nvPr/>
        </p:nvSpPr>
        <p:spPr>
          <a:xfrm>
            <a:off x="10760298" y="1111004"/>
            <a:ext cx="1064767" cy="244608"/>
          </a:xfrm>
          <a:prstGeom prst="rect">
            <a:avLst/>
          </a:prstGeom>
          <a:solidFill>
            <a:schemeClr val="bg1"/>
          </a:solidFill>
          <a:ln w="9525">
            <a:solidFill>
              <a:srgbClr val="00757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1" u="none" strike="noStrike" kern="1200" cap="none" spc="0" normalizeH="0" baseline="0" noProof="0">
                <a:ln>
                  <a:noFill/>
                </a:ln>
                <a:solidFill>
                  <a:srgbClr val="00757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Maggior dettaglio a slide successiva</a:t>
            </a:r>
            <a:endParaRPr kumimoji="0" lang="it-IT" sz="800" b="1" i="1" u="none" strike="noStrike" kern="1200" cap="none" spc="0" normalizeH="0" baseline="0" noProof="0">
              <a:ln>
                <a:noFill/>
              </a:ln>
              <a:solidFill>
                <a:srgbClr val="00757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0" name="Graphic 49" descr="Magnifying glass with solid fill">
            <a:extLst>
              <a:ext uri="{FF2B5EF4-FFF2-40B4-BE49-F238E27FC236}">
                <a16:creationId xmlns:a16="http://schemas.microsoft.com/office/drawing/2014/main" id="{32798629-1135-AEBA-78C4-758CA3DD2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11085" y="1073062"/>
            <a:ext cx="320492" cy="320492"/>
          </a:xfrm>
          <a:prstGeom prst="rect">
            <a:avLst/>
          </a:prstGeom>
        </p:spPr>
      </p:pic>
      <p:sp>
        <p:nvSpPr>
          <p:cNvPr id="62" name="Title 2">
            <a:extLst>
              <a:ext uri="{FF2B5EF4-FFF2-40B4-BE49-F238E27FC236}">
                <a16:creationId xmlns:a16="http://schemas.microsoft.com/office/drawing/2014/main" id="{B6429992-8DA4-862B-A3F5-B413FBD6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463" y="293634"/>
            <a:ext cx="10515600" cy="475068"/>
          </a:xfrm>
        </p:spPr>
        <p:txBody>
          <a:bodyPr vert="horz">
            <a:normAutofit fontScale="90000"/>
          </a:bodyPr>
          <a:lstStyle/>
          <a:p>
            <a:r>
              <a:rPr lang="it-IT"/>
              <a:t>Analisi di materialità rischio di transizione – Approccio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7196B8-0029-1ABD-8DD9-05F6BF491A4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611" y="1566009"/>
            <a:ext cx="1051822" cy="5815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CasellaDiTesto 36">
            <a:extLst>
              <a:ext uri="{FF2B5EF4-FFF2-40B4-BE49-F238E27FC236}">
                <a16:creationId xmlns:a16="http://schemas.microsoft.com/office/drawing/2014/main" id="{8E08A791-0155-39AD-B48C-65751A6857FD}"/>
              </a:ext>
            </a:extLst>
          </p:cNvPr>
          <p:cNvSpPr txBox="1"/>
          <p:nvPr/>
        </p:nvSpPr>
        <p:spPr>
          <a:xfrm>
            <a:off x="3964461" y="3344402"/>
            <a:ext cx="187972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buClr>
                <a:srgbClr val="007578"/>
              </a:buClr>
              <a:buSzPct val="130000"/>
            </a:pPr>
            <a:r>
              <a:rPr lang="it-IT" sz="900" b="1" i="1">
                <a:solidFill>
                  <a:schemeClr val="accent2"/>
                </a:solidFill>
              </a:rPr>
              <a:t>Analisi di Portfolio Alignment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0E4F98-8648-BD93-3CB8-BC18DE36ABB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114" y="3039513"/>
            <a:ext cx="1324856" cy="43597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EC4A2F-54B2-32CF-E622-ED71C359CEDD}"/>
              </a:ext>
            </a:extLst>
          </p:cNvPr>
          <p:cNvSpPr txBox="1"/>
          <p:nvPr/>
        </p:nvSpPr>
        <p:spPr>
          <a:xfrm>
            <a:off x="6549098" y="2852259"/>
            <a:ext cx="3519462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Acquisizione e rielaborazione del dato di fatturato</a:t>
            </a: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Acquisizione dei dati di fatturato (settoriali) provenienti da Eurostat e condizionamento prospettico degli stessi (in ottica 2050) mediante l’utilizzo di stime NGFS (sulla base dell’andamento atteso del PIL)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2C763E-9AA3-6B19-EC8E-17D972196E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32710" y="1566009"/>
            <a:ext cx="684870" cy="1144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82F0DE-497B-6812-3393-1EF482AABFF9}"/>
              </a:ext>
            </a:extLst>
          </p:cNvPr>
          <p:cNvSpPr txBox="1"/>
          <p:nvPr/>
        </p:nvSpPr>
        <p:spPr>
          <a:xfrm>
            <a:off x="6549098" y="3717801"/>
            <a:ext cx="5168482" cy="2426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Costruzione metrica di scenario e definizione del percorso di decarbonizzazione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Calcolo delle traiettorie di GHG </a:t>
            </a:r>
            <a:r>
              <a:rPr lang="it-IT" sz="900" err="1">
                <a:latin typeface="Arial" panose="020B0604020202020204" pitchFamily="34" charset="0"/>
                <a:cs typeface="Arial" panose="020B0604020202020204" pitchFamily="34" charset="0"/>
              </a:rPr>
              <a:t>Intensity</a:t>
            </a: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 settoriali (rapportando emissioni e fatturato) nell’intervallo temporale 2025-2050.</a:t>
            </a:r>
          </a:p>
          <a:p>
            <a:pPr lvl="0">
              <a:spcAft>
                <a:spcPts val="200"/>
              </a:spcAft>
            </a:pPr>
            <a:endParaRPr lang="it-IT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Costruzione metriche di controparte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Calcolo della variabile GHG </a:t>
            </a:r>
            <a:r>
              <a:rPr lang="it-IT" sz="900" err="1">
                <a:latin typeface="Arial" panose="020B0604020202020204" pitchFamily="34" charset="0"/>
                <a:cs typeface="Arial" panose="020B0604020202020204" pitchFamily="34" charset="0"/>
              </a:rPr>
              <a:t>Intensity</a:t>
            </a: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 di ciascuna controparte (sulla base di emissioni Cerved e fatturato) e costruzione di una traiettoria prospettica mediante logica di convergenza con scenario.</a:t>
            </a:r>
          </a:p>
          <a:p>
            <a:pPr lvl="0">
              <a:spcAft>
                <a:spcPts val="200"/>
              </a:spcAft>
            </a:pPr>
            <a:endParaRPr lang="it-IT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Misurazione dello scostamento dagli scenari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Confronto tra le traiettorie delle controparti e di scenario mediante calcolo dell’area sottesa dalle due curve (i.e. scostamento), nel periodo 2025–2050.</a:t>
            </a:r>
          </a:p>
          <a:p>
            <a:pPr lvl="0">
              <a:spcAft>
                <a:spcPts val="200"/>
              </a:spcAft>
            </a:pPr>
            <a:endParaRPr lang="it-IT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it-IT" sz="9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Valutazione dell’allineamento</a:t>
            </a:r>
            <a:endParaRPr lang="it-IT" sz="900">
              <a:solidFill>
                <a:srgbClr val="0075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200"/>
              </a:spcAft>
            </a:pPr>
            <a:r>
              <a:rPr lang="it-IT" sz="900">
                <a:latin typeface="Arial" panose="020B0604020202020204" pitchFamily="34" charset="0"/>
                <a:cs typeface="Arial" panose="020B0604020202020204" pitchFamily="34" charset="0"/>
              </a:rPr>
              <a:t>Analisi della distribuzione degli scostamenti di portafoglio e classificazione delle controparti più rischiose in funzione del grado di allineamento allo scenario NGFS.</a:t>
            </a:r>
          </a:p>
        </p:txBody>
      </p:sp>
      <p:sp>
        <p:nvSpPr>
          <p:cNvPr id="40" name="CasellaDiTesto 36">
            <a:extLst>
              <a:ext uri="{FF2B5EF4-FFF2-40B4-BE49-F238E27FC236}">
                <a16:creationId xmlns:a16="http://schemas.microsoft.com/office/drawing/2014/main" id="{4C783480-15DA-5F05-A676-625E0347E9DA}"/>
              </a:ext>
            </a:extLst>
          </p:cNvPr>
          <p:cNvSpPr txBox="1"/>
          <p:nvPr/>
        </p:nvSpPr>
        <p:spPr>
          <a:xfrm>
            <a:off x="1151343" y="5883443"/>
            <a:ext cx="4506668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buClr>
                <a:srgbClr val="007578"/>
              </a:buClr>
              <a:buSzPct val="130000"/>
              <a:buFont typeface="Wingdings" panose="05000000000000000000" pitchFamily="2" charset="2"/>
              <a:buChar char="§"/>
            </a:pPr>
            <a:r>
              <a:rPr lang="it-IT" sz="1050" b="1" dirty="0">
                <a:solidFill>
                  <a:srgbClr val="000000"/>
                </a:solidFill>
              </a:rPr>
              <a:t>Integrazione</a:t>
            </a:r>
            <a:r>
              <a:rPr lang="it-IT" sz="1050" dirty="0">
                <a:solidFill>
                  <a:srgbClr val="000000"/>
                </a:solidFill>
              </a:rPr>
              <a:t> di </a:t>
            </a:r>
            <a:r>
              <a:rPr lang="it-IT" sz="105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considerazioni di natura qualitativa </a:t>
            </a:r>
            <a:r>
              <a:rPr lang="it-IT" sz="10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base alla </a:t>
            </a:r>
            <a:r>
              <a:rPr lang="it-IT" sz="105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presenza di politiche </a:t>
            </a:r>
            <a:r>
              <a:rPr lang="it-IT" sz="10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(Settoriali e Net Zero) </a:t>
            </a:r>
            <a:r>
              <a:rPr lang="it-IT" sz="105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dedicate</a:t>
            </a:r>
          </a:p>
        </p:txBody>
      </p:sp>
    </p:spTree>
    <p:extLst>
      <p:ext uri="{BB962C8B-B14F-4D97-AF65-F5344CB8AC3E}">
        <p14:creationId xmlns:p14="http://schemas.microsoft.com/office/powerpoint/2010/main" val="47917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0FB3-38A6-1CFB-F895-162B306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DD534102-CD74-74CD-894A-A886F0919F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8" imgH="608" progId="TCLayout.ActiveDocument.1">
                  <p:embed/>
                </p:oleObj>
              </mc:Choice>
              <mc:Fallback>
                <p:oleObj name="think-cell Slide" r:id="rId4" imgW="608" imgH="608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534102-CD74-74CD-894A-A886F0919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7414288-4899-3173-A050-01A584CA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it-IT" dirty="0"/>
              <a:t>Focus – Analisi di Portfolio </a:t>
            </a:r>
            <a:r>
              <a:rPr lang="it-IT" dirty="0" err="1"/>
              <a:t>Alignment</a:t>
            </a:r>
            <a:endParaRPr lang="it-IT" dirty="0"/>
          </a:p>
        </p:txBody>
      </p:sp>
      <p:sp>
        <p:nvSpPr>
          <p:cNvPr id="28" name="Rettangolo con angoli arrotondati 17">
            <a:extLst>
              <a:ext uri="{FF2B5EF4-FFF2-40B4-BE49-F238E27FC236}">
                <a16:creationId xmlns:a16="http://schemas.microsoft.com/office/drawing/2014/main" id="{B41A3C85-E31B-23CA-793B-59035270F26C}"/>
              </a:ext>
            </a:extLst>
          </p:cNvPr>
          <p:cNvSpPr/>
          <p:nvPr/>
        </p:nvSpPr>
        <p:spPr>
          <a:xfrm>
            <a:off x="6108700" y="119"/>
            <a:ext cx="6091400" cy="14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72000" bIns="720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PRELIMINARE PER DISCUSSIONE </a:t>
            </a:r>
          </a:p>
        </p:txBody>
      </p:sp>
      <p:sp>
        <p:nvSpPr>
          <p:cNvPr id="543" name="Slide Number Placeholder 3">
            <a:extLst>
              <a:ext uri="{FF2B5EF4-FFF2-40B4-BE49-F238E27FC236}">
                <a16:creationId xmlns:a16="http://schemas.microsoft.com/office/drawing/2014/main" id="{5176D735-AC92-EC8A-AF32-986B491978A4}"/>
              </a:ext>
            </a:extLst>
          </p:cNvPr>
          <p:cNvSpPr txBox="1">
            <a:spLocks/>
          </p:cNvSpPr>
          <p:nvPr/>
        </p:nvSpPr>
        <p:spPr>
          <a:xfrm>
            <a:off x="0" y="6519986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5ABC3C-103B-4086-8D3F-569824F59C7E}" type="slidenum">
              <a:rPr kumimoji="0" lang="it-IT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F3B514-041F-2062-09CF-F8E3C86C8D43}"/>
              </a:ext>
            </a:extLst>
          </p:cNvPr>
          <p:cNvSpPr txBox="1">
            <a:spLocks/>
          </p:cNvSpPr>
          <p:nvPr/>
        </p:nvSpPr>
        <p:spPr>
          <a:xfrm>
            <a:off x="51698" y="1050998"/>
            <a:ext cx="913471" cy="5400603"/>
          </a:xfrm>
          <a:prstGeom prst="rect">
            <a:avLst/>
          </a:prstGeom>
          <a:solidFill>
            <a:srgbClr val="009597"/>
          </a:solidFill>
          <a:ln w="3175" cmpd="sng">
            <a:solidFill>
              <a:srgbClr val="40915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8100" tIns="38100" rIns="38100" bIns="3810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srgbClr val="003A79"/>
                </a:solidFill>
                <a:effectLst/>
                <a:uLnTx/>
                <a:uFillTx/>
                <a:latin typeface="Century Gothic"/>
                <a:cs typeface="Arial" panose="020B0604020202020204" pitchFamily="34" charset="0"/>
              </a:defRPr>
            </a:lvl1pPr>
            <a:lvl2pPr marL="211138" lvl="1" indent="-2079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5000"/>
              <a:buFont typeface="Century Gothic" panose="020B0502020202020204" pitchFamily="34" charset="0"/>
              <a:buChar char="▪"/>
              <a:defRPr sz="16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732142" lvl="3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0000"/>
              <a:buFont typeface="Century Gothic" panose="020B0502020202020204" pitchFamily="34" charset="0"/>
              <a:buChar char="▫"/>
              <a:defRPr sz="16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Rischio di transizione</a:t>
            </a:r>
            <a:r>
              <a:rPr lang="it-IT" sz="1050" kern="0">
                <a:solidFill>
                  <a:prstClr val="white"/>
                </a:solidFill>
                <a:latin typeface="Arial" panose="020B0604020202020204" pitchFamily="34" charset="0"/>
              </a:rPr>
              <a:t>- </a:t>
            </a:r>
          </a:p>
          <a:p>
            <a:pPr lvl="0">
              <a:defRPr/>
            </a:pPr>
            <a:r>
              <a:rPr lang="it-IT" sz="1050" kern="0">
                <a:solidFill>
                  <a:prstClr val="white"/>
                </a:solidFill>
                <a:latin typeface="Arial" panose="020B0604020202020204" pitchFamily="34" charset="0"/>
              </a:rPr>
              <a:t>Perimetro Imprese (</a:t>
            </a:r>
            <a:r>
              <a:rPr lang="it-IT" sz="1050">
                <a:solidFill>
                  <a:prstClr val="white"/>
                </a:solidFill>
              </a:rPr>
              <a:t>Corporate e Retail)</a:t>
            </a:r>
            <a:endParaRPr lang="it-IT" sz="1050" kern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endParaRPr kumimoji="0" lang="it-IT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3574A3-7518-F39D-8030-C0DB43D91F62}"/>
              </a:ext>
            </a:extLst>
          </p:cNvPr>
          <p:cNvGrpSpPr/>
          <p:nvPr/>
        </p:nvGrpSpPr>
        <p:grpSpPr>
          <a:xfrm>
            <a:off x="1010504" y="607103"/>
            <a:ext cx="1175192" cy="410491"/>
            <a:chOff x="1010504" y="607103"/>
            <a:chExt cx="1175192" cy="41049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D22CFB-6909-C305-E482-1FCAA82FEF82}"/>
                </a:ext>
              </a:extLst>
            </p:cNvPr>
            <p:cNvSpPr/>
            <p:nvPr/>
          </p:nvSpPr>
          <p:spPr>
            <a:xfrm>
              <a:off x="1010504" y="942175"/>
              <a:ext cx="131324" cy="754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BDE791-3CB1-F9A0-064A-F78301A8EF3E}"/>
                </a:ext>
              </a:extLst>
            </p:cNvPr>
            <p:cNvSpPr/>
            <p:nvPr/>
          </p:nvSpPr>
          <p:spPr>
            <a:xfrm>
              <a:off x="1158696" y="607103"/>
              <a:ext cx="333217" cy="81400"/>
            </a:xfrm>
            <a:prstGeom prst="rect">
              <a:avLst/>
            </a:prstGeom>
            <a:solidFill>
              <a:srgbClr val="009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CA412A9-39CE-3D52-1D94-5CA199A0611D}"/>
                </a:ext>
              </a:extLst>
            </p:cNvPr>
            <p:cNvSpPr/>
            <p:nvPr/>
          </p:nvSpPr>
          <p:spPr>
            <a:xfrm>
              <a:off x="1306623" y="789291"/>
              <a:ext cx="78700" cy="51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i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80BF856-B09A-07A1-2FCB-0D48D038746D}"/>
                </a:ext>
              </a:extLst>
            </p:cNvPr>
            <p:cNvSpPr/>
            <p:nvPr/>
          </p:nvSpPr>
          <p:spPr>
            <a:xfrm>
              <a:off x="1406421" y="789291"/>
              <a:ext cx="78700" cy="51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6D5A580-188D-8E5B-494D-DC27B2356752}"/>
                </a:ext>
              </a:extLst>
            </p:cNvPr>
            <p:cNvGrpSpPr/>
            <p:nvPr/>
          </p:nvGrpSpPr>
          <p:grpSpPr>
            <a:xfrm>
              <a:off x="1301566" y="718482"/>
              <a:ext cx="183555" cy="56073"/>
              <a:chOff x="4129589" y="3411793"/>
              <a:chExt cx="1358369" cy="22000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AA0C1A4-67B6-107D-6D06-1DB707E7221B}"/>
                  </a:ext>
                </a:extLst>
              </p:cNvPr>
              <p:cNvSpPr/>
              <p:nvPr/>
            </p:nvSpPr>
            <p:spPr>
              <a:xfrm>
                <a:off x="4214108" y="3411793"/>
                <a:ext cx="1273850" cy="2200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i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1" name="Graphic 60" descr="Lightning bolt with solid fill">
                <a:extLst>
                  <a:ext uri="{FF2B5EF4-FFF2-40B4-BE49-F238E27FC236}">
                    <a16:creationId xmlns:a16="http://schemas.microsoft.com/office/drawing/2014/main" id="{14B5318D-3C90-8371-8210-795C2007C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129589" y="3416909"/>
                <a:ext cx="128100" cy="12809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9187DCE-6F23-DFEF-F1C9-4CF7BCC31CCB}"/>
                </a:ext>
              </a:extLst>
            </p:cNvPr>
            <p:cNvSpPr/>
            <p:nvPr/>
          </p:nvSpPr>
          <p:spPr>
            <a:xfrm>
              <a:off x="1158696" y="711477"/>
              <a:ext cx="131323" cy="133612"/>
            </a:xfrm>
            <a:prstGeom prst="rect">
              <a:avLst/>
            </a:prstGeom>
            <a:solidFill>
              <a:srgbClr val="009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i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Graphic 38" descr="Power Plant with solid fill">
              <a:extLst>
                <a:ext uri="{FF2B5EF4-FFF2-40B4-BE49-F238E27FC236}">
                  <a16:creationId xmlns:a16="http://schemas.microsoft.com/office/drawing/2014/main" id="{1FBADD55-ABF8-2512-CF33-5EAD4F5468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3275" y="713867"/>
              <a:ext cx="17310" cy="3264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DFF04A5-16DD-CD8F-FB19-67460E168A40}"/>
                </a:ext>
              </a:extLst>
            </p:cNvPr>
            <p:cNvSpPr/>
            <p:nvPr/>
          </p:nvSpPr>
          <p:spPr>
            <a:xfrm>
              <a:off x="1510552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42" name="Graphic 41" descr="Deciduous tree with solid fill">
              <a:extLst>
                <a:ext uri="{FF2B5EF4-FFF2-40B4-BE49-F238E27FC236}">
                  <a16:creationId xmlns:a16="http://schemas.microsoft.com/office/drawing/2014/main" id="{CA45AE50-5A88-8493-551C-D39E6574F8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16881" y="612810"/>
              <a:ext cx="15059" cy="2840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FF84ED8-AA6E-CCC8-DE16-5DDB185A3A63}"/>
                </a:ext>
              </a:extLst>
            </p:cNvPr>
            <p:cNvSpPr/>
            <p:nvPr/>
          </p:nvSpPr>
          <p:spPr>
            <a:xfrm>
              <a:off x="1740698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srgbClr val="00777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4" name="Graphic 53" descr="Users with solid fill">
              <a:extLst>
                <a:ext uri="{FF2B5EF4-FFF2-40B4-BE49-F238E27FC236}">
                  <a16:creationId xmlns:a16="http://schemas.microsoft.com/office/drawing/2014/main" id="{4DF53B21-604D-F2DD-60F8-7170EBD8D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44426" y="614600"/>
              <a:ext cx="15059" cy="25620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3C1EA5-A4B6-5683-AE85-E22D6EB47546}"/>
                </a:ext>
              </a:extLst>
            </p:cNvPr>
            <p:cNvSpPr/>
            <p:nvPr/>
          </p:nvSpPr>
          <p:spPr>
            <a:xfrm>
              <a:off x="1970844" y="613107"/>
              <a:ext cx="214851" cy="227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srgbClr val="00777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6" name="Graphic 55" descr="Cycle with people with solid fill">
              <a:extLst>
                <a:ext uri="{FF2B5EF4-FFF2-40B4-BE49-F238E27FC236}">
                  <a16:creationId xmlns:a16="http://schemas.microsoft.com/office/drawing/2014/main" id="{78EA5854-BB2F-D9BB-4597-C9420DA7EC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86365" y="612003"/>
              <a:ext cx="17210" cy="29281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BC74566-012E-F40D-262E-3740A0A200B8}"/>
                </a:ext>
              </a:extLst>
            </p:cNvPr>
            <p:cNvSpPr/>
            <p:nvPr/>
          </p:nvSpPr>
          <p:spPr>
            <a:xfrm>
              <a:off x="1010504" y="857193"/>
              <a:ext cx="131324" cy="73933"/>
            </a:xfrm>
            <a:prstGeom prst="rect">
              <a:avLst/>
            </a:prstGeom>
            <a:solidFill>
              <a:srgbClr val="E5F7F7"/>
            </a:solidFill>
            <a:ln w="3175">
              <a:solidFill>
                <a:srgbClr val="00757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05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73D6CEF-D04D-D86B-A008-D5CABC586876}"/>
                </a:ext>
              </a:extLst>
            </p:cNvPr>
            <p:cNvSpPr/>
            <p:nvPr/>
          </p:nvSpPr>
          <p:spPr>
            <a:xfrm>
              <a:off x="1158696" y="857192"/>
              <a:ext cx="1027000" cy="770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87AC39B-4991-0418-BA0A-5F02AE65A9C4}"/>
                </a:ext>
              </a:extLst>
            </p:cNvPr>
            <p:cNvSpPr/>
            <p:nvPr/>
          </p:nvSpPr>
          <p:spPr>
            <a:xfrm>
              <a:off x="1158695" y="940558"/>
              <a:ext cx="1027000" cy="770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211FDC2-B48D-F12B-2F4A-307E23A34A89}"/>
              </a:ext>
            </a:extLst>
          </p:cNvPr>
          <p:cNvSpPr/>
          <p:nvPr/>
        </p:nvSpPr>
        <p:spPr>
          <a:xfrm>
            <a:off x="891406" y="6609876"/>
            <a:ext cx="10801798" cy="12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it-IT" sz="700" b="1">
                <a:solidFill>
                  <a:prstClr val="white"/>
                </a:solidFill>
                <a:latin typeface="Calibri" panose="020F0502020204030204"/>
              </a:rPr>
              <a:t>Ai fini della costruzione delle traiettorie settoriali NGFS vengono ricondotti i dati NGFS, originariamente espressi in termini di produzione, a metriche economiche, per consentire il confronto con le controparti del portafoglio.</a:t>
            </a: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94CB9ADE-4906-3050-07D5-96A1A98F2485}"/>
              </a:ext>
            </a:extLst>
          </p:cNvPr>
          <p:cNvSpPr/>
          <p:nvPr/>
        </p:nvSpPr>
        <p:spPr>
          <a:xfrm>
            <a:off x="7265195" y="6292232"/>
            <a:ext cx="435447" cy="15844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DE2F4507-0C34-510A-B22B-74E49C25B0DD}"/>
              </a:ext>
            </a:extLst>
          </p:cNvPr>
          <p:cNvSpPr/>
          <p:nvPr/>
        </p:nvSpPr>
        <p:spPr>
          <a:xfrm>
            <a:off x="7394453" y="4007059"/>
            <a:ext cx="3857155" cy="2102944"/>
          </a:xfrm>
          <a:prstGeom prst="rect">
            <a:avLst/>
          </a:prstGeom>
          <a:pattFill prst="dkDnDiag">
            <a:fgClr>
              <a:srgbClr val="ABDDDF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47" name="Isosceles Triangle 946">
            <a:extLst>
              <a:ext uri="{FF2B5EF4-FFF2-40B4-BE49-F238E27FC236}">
                <a16:creationId xmlns:a16="http://schemas.microsoft.com/office/drawing/2014/main" id="{33349C33-F69C-7C63-B7AF-C9026128A5B4}"/>
              </a:ext>
            </a:extLst>
          </p:cNvPr>
          <p:cNvSpPr/>
          <p:nvPr/>
        </p:nvSpPr>
        <p:spPr>
          <a:xfrm rot="10800000">
            <a:off x="7399619" y="3999558"/>
            <a:ext cx="3857155" cy="2060531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48" name="Isosceles Triangle 726">
            <a:extLst>
              <a:ext uri="{FF2B5EF4-FFF2-40B4-BE49-F238E27FC236}">
                <a16:creationId xmlns:a16="http://schemas.microsoft.com/office/drawing/2014/main" id="{8EF87A3B-571A-D687-757A-02C5532AA7D7}"/>
              </a:ext>
            </a:extLst>
          </p:cNvPr>
          <p:cNvSpPr/>
          <p:nvPr/>
        </p:nvSpPr>
        <p:spPr>
          <a:xfrm>
            <a:off x="7385899" y="5706746"/>
            <a:ext cx="3852415" cy="415092"/>
          </a:xfrm>
          <a:custGeom>
            <a:avLst/>
            <a:gdLst>
              <a:gd name="csX0" fmla="*/ 10160 w 8257995"/>
              <a:gd name="csY0" fmla="*/ 608349 h 618509"/>
              <a:gd name="csX1" fmla="*/ 0 w 8257995"/>
              <a:gd name="csY1" fmla="*/ 0 h 618509"/>
              <a:gd name="csX2" fmla="*/ 8257995 w 8257995"/>
              <a:gd name="csY2" fmla="*/ 618509 h 618509"/>
              <a:gd name="csX3" fmla="*/ 10160 w 8257995"/>
              <a:gd name="csY3" fmla="*/ 608349 h 618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257995" h="618509">
                <a:moveTo>
                  <a:pt x="10160" y="608349"/>
                </a:moveTo>
                <a:lnTo>
                  <a:pt x="0" y="0"/>
                </a:lnTo>
                <a:lnTo>
                  <a:pt x="8257995" y="618509"/>
                </a:lnTo>
                <a:lnTo>
                  <a:pt x="10160" y="6083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49" name="Straight Connector 948">
            <a:extLst>
              <a:ext uri="{FF2B5EF4-FFF2-40B4-BE49-F238E27FC236}">
                <a16:creationId xmlns:a16="http://schemas.microsoft.com/office/drawing/2014/main" id="{4810E166-B3F4-0425-0E0A-D2C1AD6AF598}"/>
              </a:ext>
            </a:extLst>
          </p:cNvPr>
          <p:cNvCxnSpPr>
            <a:cxnSpLocks/>
            <a:stCxn id="948" idx="1"/>
          </p:cNvCxnSpPr>
          <p:nvPr/>
        </p:nvCxnSpPr>
        <p:spPr>
          <a:xfrm>
            <a:off x="7385899" y="5706746"/>
            <a:ext cx="3974827" cy="423166"/>
          </a:xfrm>
          <a:prstGeom prst="line">
            <a:avLst/>
          </a:prstGeom>
          <a:ln w="28575">
            <a:solidFill>
              <a:srgbClr val="00757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" name="TextBox 922">
            <a:extLst>
              <a:ext uri="{FF2B5EF4-FFF2-40B4-BE49-F238E27FC236}">
                <a16:creationId xmlns:a16="http://schemas.microsoft.com/office/drawing/2014/main" id="{80605F4D-CAB9-4E7E-2A46-EB895F3753A5}"/>
              </a:ext>
            </a:extLst>
          </p:cNvPr>
          <p:cNvSpPr txBox="1"/>
          <p:nvPr/>
        </p:nvSpPr>
        <p:spPr>
          <a:xfrm flipH="1">
            <a:off x="8159305" y="3766392"/>
            <a:ext cx="2147341" cy="2703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it-IT" sz="8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Profilo emissivo della controparte</a:t>
            </a:r>
          </a:p>
        </p:txBody>
      </p:sp>
      <p:sp>
        <p:nvSpPr>
          <p:cNvPr id="916" name="TextBox 915">
            <a:extLst>
              <a:ext uri="{FF2B5EF4-FFF2-40B4-BE49-F238E27FC236}">
                <a16:creationId xmlns:a16="http://schemas.microsoft.com/office/drawing/2014/main" id="{16CCF080-6FAE-A8DC-85F3-E4773F962B23}"/>
              </a:ext>
            </a:extLst>
          </p:cNvPr>
          <p:cNvSpPr txBox="1"/>
          <p:nvPr/>
        </p:nvSpPr>
        <p:spPr>
          <a:xfrm flipH="1">
            <a:off x="6869248" y="5957886"/>
            <a:ext cx="2147341" cy="270312"/>
          </a:xfrm>
          <a:prstGeom prst="rect">
            <a:avLst/>
          </a:prstGeom>
          <a:solidFill>
            <a:schemeClr val="bg1"/>
          </a:solidFill>
          <a:ln w="19050">
            <a:solidFill>
              <a:srgbClr val="00959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>
            <a:spAutoFit/>
          </a:bodyPr>
          <a:lstStyle/>
          <a:p>
            <a:pPr marR="0" lvl="0" indent="0" algn="just" fontAlgn="auto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it-IT" sz="8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Traiettoria coerente con scenario NGFS</a:t>
            </a:r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7F4DFDC0-47BA-1345-4032-D29A9E3B2B6D}"/>
              </a:ext>
            </a:extLst>
          </p:cNvPr>
          <p:cNvSpPr/>
          <p:nvPr/>
        </p:nvSpPr>
        <p:spPr>
          <a:xfrm>
            <a:off x="11050580" y="6292232"/>
            <a:ext cx="435447" cy="15844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2050</a:t>
            </a:r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5EFACBB7-E2A3-56E5-E746-003D9D583AFC}"/>
              </a:ext>
            </a:extLst>
          </p:cNvPr>
          <p:cNvSpPr/>
          <p:nvPr/>
        </p:nvSpPr>
        <p:spPr>
          <a:xfrm>
            <a:off x="8166293" y="6292232"/>
            <a:ext cx="435447" cy="15844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2030</a:t>
            </a:r>
          </a:p>
        </p:txBody>
      </p:sp>
      <p:graphicFrame>
        <p:nvGraphicFramePr>
          <p:cNvPr id="950" name="Chart 949">
            <a:extLst>
              <a:ext uri="{FF2B5EF4-FFF2-40B4-BE49-F238E27FC236}">
                <a16:creationId xmlns:a16="http://schemas.microsoft.com/office/drawing/2014/main" id="{F49D9EF0-709E-BB0C-35D9-4285BB880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259052"/>
              </p:ext>
            </p:extLst>
          </p:nvPr>
        </p:nvGraphicFramePr>
        <p:xfrm>
          <a:off x="6889114" y="3469288"/>
          <a:ext cx="5007898" cy="2931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706" name="TextBox 705">
            <a:extLst>
              <a:ext uri="{FF2B5EF4-FFF2-40B4-BE49-F238E27FC236}">
                <a16:creationId xmlns:a16="http://schemas.microsoft.com/office/drawing/2014/main" id="{67C52602-5272-693D-2BC7-59B85CAC1E2F}"/>
              </a:ext>
            </a:extLst>
          </p:cNvPr>
          <p:cNvSpPr txBox="1"/>
          <p:nvPr/>
        </p:nvSpPr>
        <p:spPr>
          <a:xfrm rot="16200000">
            <a:off x="6000164" y="4698893"/>
            <a:ext cx="23502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tCO2 / €mln</a:t>
            </a:r>
          </a:p>
        </p:txBody>
      </p:sp>
      <p:grpSp>
        <p:nvGrpSpPr>
          <p:cNvPr id="1011" name="Group 1010">
            <a:extLst>
              <a:ext uri="{FF2B5EF4-FFF2-40B4-BE49-F238E27FC236}">
                <a16:creationId xmlns:a16="http://schemas.microsoft.com/office/drawing/2014/main" id="{438267CA-17E5-3917-B5B7-4BFC55B1B58C}"/>
              </a:ext>
            </a:extLst>
          </p:cNvPr>
          <p:cNvGrpSpPr/>
          <p:nvPr/>
        </p:nvGrpSpPr>
        <p:grpSpPr>
          <a:xfrm>
            <a:off x="1224355" y="3623293"/>
            <a:ext cx="5339003" cy="1126741"/>
            <a:chOff x="1224355" y="2359978"/>
            <a:chExt cx="5339003" cy="1126741"/>
          </a:xfrm>
        </p:grpSpPr>
        <p:sp>
          <p:nvSpPr>
            <p:cNvPr id="964" name="TextBox 963">
              <a:extLst>
                <a:ext uri="{FF2B5EF4-FFF2-40B4-BE49-F238E27FC236}">
                  <a16:creationId xmlns:a16="http://schemas.microsoft.com/office/drawing/2014/main" id="{061637B6-879F-5B30-C76A-284C6D3501F5}"/>
                </a:ext>
              </a:extLst>
            </p:cNvPr>
            <p:cNvSpPr txBox="1"/>
            <p:nvPr/>
          </p:nvSpPr>
          <p:spPr>
            <a:xfrm flipH="1">
              <a:off x="1224355" y="2359978"/>
              <a:ext cx="5339003" cy="1126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9597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72000" tIns="72000" rIns="72000" bIns="72000" rtlCol="0">
              <a:noAutofit/>
            </a:bodyPr>
            <a:lstStyle/>
            <a:p>
              <a:pPr marR="0" lvl="0" indent="0" algn="just" fontAlgn="auto">
                <a:lnSpc>
                  <a:spcPct val="11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lang="it-IT" sz="9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960" name="CasellaDiTesto 36">
              <a:extLst>
                <a:ext uri="{FF2B5EF4-FFF2-40B4-BE49-F238E27FC236}">
                  <a16:creationId xmlns:a16="http://schemas.microsoft.com/office/drawing/2014/main" id="{92B881F3-3545-113C-C706-21377964BD5D}"/>
                </a:ext>
              </a:extLst>
            </p:cNvPr>
            <p:cNvSpPr txBox="1"/>
            <p:nvPr/>
          </p:nvSpPr>
          <p:spPr>
            <a:xfrm>
              <a:off x="1248321" y="2372305"/>
              <a:ext cx="3188618" cy="2308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006B73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it-IT" sz="900" b="1">
                  <a:solidFill>
                    <a:srgbClr val="000000"/>
                  </a:solidFill>
                </a:rPr>
                <a:t>Traiettoria coerente con scenario NGFS</a:t>
              </a:r>
            </a:p>
          </p:txBody>
        </p:sp>
        <p:sp>
          <p:nvSpPr>
            <p:cNvPr id="966" name="CasellaDiTesto 36">
              <a:extLst>
                <a:ext uri="{FF2B5EF4-FFF2-40B4-BE49-F238E27FC236}">
                  <a16:creationId xmlns:a16="http://schemas.microsoft.com/office/drawing/2014/main" id="{2C3A0FE7-0428-1EA5-88DB-EB946332A4E0}"/>
                </a:ext>
              </a:extLst>
            </p:cNvPr>
            <p:cNvSpPr txBox="1"/>
            <p:nvPr/>
          </p:nvSpPr>
          <p:spPr>
            <a:xfrm>
              <a:off x="1315555" y="2554807"/>
              <a:ext cx="5161445" cy="8745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006B73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1450" indent="-171450">
                <a:spcAft>
                  <a:spcPts val="500"/>
                </a:spcAft>
                <a:buFont typeface="Wingdings" panose="05000000000000000000" pitchFamily="2" charset="2"/>
                <a:buChar char="§"/>
              </a:pPr>
              <a:r>
                <a:rPr lang="it-IT" sz="900" dirty="0">
                  <a:solidFill>
                    <a:srgbClr val="000000"/>
                  </a:solidFill>
                </a:rPr>
                <a:t>La curva rappresenta la traiettoria settoriale definita da NGFS, utilizzata come percorso di riferimento, in termini di GHG intensity</a:t>
              </a:r>
              <a:r>
                <a:rPr lang="it-IT" sz="900" baseline="30000" dirty="0">
                  <a:solidFill>
                    <a:schemeClr val="tx1"/>
                  </a:solidFill>
                </a:rPr>
                <a:t>1</a:t>
              </a:r>
              <a:endParaRPr lang="it-IT" sz="900" dirty="0">
                <a:solidFill>
                  <a:schemeClr val="tx1"/>
                </a:solidFill>
              </a:endParaRPr>
            </a:p>
            <a:p>
              <a:pPr marL="171450" indent="-171450"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it-IT" sz="900" dirty="0">
                  <a:solidFill>
                    <a:srgbClr val="000000"/>
                  </a:solidFill>
                </a:rPr>
                <a:t>La curva considera l’andamento atteso delle emissioni GHG settoriali nel breve, medio e lungo periodo definiti da NGFS. Tali valori vengono rapportati a dati di fatturato (correnti e prospettici) al fine ottenere una metrica in termini di GHG </a:t>
              </a:r>
              <a:r>
                <a:rPr lang="it-IT" sz="900" dirty="0" err="1">
                  <a:solidFill>
                    <a:srgbClr val="000000"/>
                  </a:solidFill>
                </a:rPr>
                <a:t>intensity</a:t>
              </a:r>
              <a:endParaRPr lang="it-IT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12" name="Group 1011">
            <a:extLst>
              <a:ext uri="{FF2B5EF4-FFF2-40B4-BE49-F238E27FC236}">
                <a16:creationId xmlns:a16="http://schemas.microsoft.com/office/drawing/2014/main" id="{D73308E9-F586-9C10-57F8-E3CBC00F2061}"/>
              </a:ext>
            </a:extLst>
          </p:cNvPr>
          <p:cNvGrpSpPr/>
          <p:nvPr/>
        </p:nvGrpSpPr>
        <p:grpSpPr>
          <a:xfrm>
            <a:off x="1224353" y="5055685"/>
            <a:ext cx="5339003" cy="999512"/>
            <a:chOff x="1224353" y="3702614"/>
            <a:chExt cx="5339003" cy="999512"/>
          </a:xfrm>
        </p:grpSpPr>
        <p:sp>
          <p:nvSpPr>
            <p:cNvPr id="965" name="TextBox 964">
              <a:extLst>
                <a:ext uri="{FF2B5EF4-FFF2-40B4-BE49-F238E27FC236}">
                  <a16:creationId xmlns:a16="http://schemas.microsoft.com/office/drawing/2014/main" id="{D9288832-CE1F-344E-243D-58303AB525EA}"/>
                </a:ext>
              </a:extLst>
            </p:cNvPr>
            <p:cNvSpPr txBox="1"/>
            <p:nvPr/>
          </p:nvSpPr>
          <p:spPr>
            <a:xfrm flipH="1">
              <a:off x="1224353" y="3702614"/>
              <a:ext cx="5339003" cy="9995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6717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72000" tIns="72000" rIns="72000" bIns="72000" rtlCol="0">
              <a:noAutofit/>
            </a:bodyPr>
            <a:lstStyle/>
            <a:p>
              <a:pPr marR="0" lvl="0" indent="0" algn="just" fontAlgn="auto">
                <a:lnSpc>
                  <a:spcPct val="11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lang="it-IT" sz="900" b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958" name="CasellaDiTesto 36">
              <a:extLst>
                <a:ext uri="{FF2B5EF4-FFF2-40B4-BE49-F238E27FC236}">
                  <a16:creationId xmlns:a16="http://schemas.microsoft.com/office/drawing/2014/main" id="{A0A0DA90-F97E-E9F4-027A-0601FC73EBCD}"/>
                </a:ext>
              </a:extLst>
            </p:cNvPr>
            <p:cNvSpPr txBox="1"/>
            <p:nvPr/>
          </p:nvSpPr>
          <p:spPr>
            <a:xfrm>
              <a:off x="1248321" y="3741156"/>
              <a:ext cx="2148873" cy="2308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006B73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it-IT" sz="900" b="1">
                  <a:solidFill>
                    <a:srgbClr val="000000"/>
                  </a:solidFill>
                </a:rPr>
                <a:t>Profilo emissivo di controparte</a:t>
              </a:r>
            </a:p>
          </p:txBody>
        </p:sp>
        <p:sp>
          <p:nvSpPr>
            <p:cNvPr id="970" name="CasellaDiTesto 36">
              <a:extLst>
                <a:ext uri="{FF2B5EF4-FFF2-40B4-BE49-F238E27FC236}">
                  <a16:creationId xmlns:a16="http://schemas.microsoft.com/office/drawing/2014/main" id="{374C14E2-FECD-7841-6155-C8C05721432D}"/>
                </a:ext>
              </a:extLst>
            </p:cNvPr>
            <p:cNvSpPr txBox="1"/>
            <p:nvPr/>
          </p:nvSpPr>
          <p:spPr>
            <a:xfrm>
              <a:off x="1315555" y="3947810"/>
              <a:ext cx="5161445" cy="7104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006B73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171450" indent="-171450">
                <a:spcAft>
                  <a:spcPts val="500"/>
                </a:spcAft>
                <a:buFont typeface="Wingdings" panose="05000000000000000000" pitchFamily="2" charset="2"/>
                <a:buChar char="§"/>
              </a:pPr>
              <a:r>
                <a:rPr lang="it-IT" sz="900">
                  <a:solidFill>
                    <a:srgbClr val="000000"/>
                  </a:solidFill>
                </a:rPr>
                <a:t>La curva rappresenta l’andamento prospettico delle GHG </a:t>
              </a:r>
              <a:r>
                <a:rPr lang="it-IT" sz="900" err="1">
                  <a:solidFill>
                    <a:srgbClr val="000000"/>
                  </a:solidFill>
                </a:rPr>
                <a:t>intensity</a:t>
              </a:r>
              <a:r>
                <a:rPr lang="it-IT" sz="900">
                  <a:solidFill>
                    <a:srgbClr val="000000"/>
                  </a:solidFill>
                </a:rPr>
                <a:t> per ciascuna controparte </a:t>
              </a:r>
            </a:p>
            <a:p>
              <a:pPr marL="171450" indent="-171450">
                <a:spcAft>
                  <a:spcPts val="500"/>
                </a:spcAft>
                <a:buFont typeface="Wingdings" panose="05000000000000000000" pitchFamily="2" charset="2"/>
                <a:buChar char="§"/>
              </a:pPr>
              <a:r>
                <a:rPr lang="it-IT" sz="900">
                  <a:solidFill>
                    <a:srgbClr val="000000"/>
                  </a:solidFill>
                </a:rPr>
                <a:t>La curva viene stimata considerando il valore iniziale della GHG </a:t>
              </a:r>
              <a:r>
                <a:rPr lang="it-IT" sz="900" err="1">
                  <a:solidFill>
                    <a:srgbClr val="000000"/>
                  </a:solidFill>
                </a:rPr>
                <a:t>intensity</a:t>
              </a:r>
              <a:r>
                <a:rPr lang="it-IT" sz="900">
                  <a:solidFill>
                    <a:srgbClr val="000000"/>
                  </a:solidFill>
                </a:rPr>
                <a:t> al 2025 e ipotizzando una riduzione progressiva della stessa da parte della controparte, fino al raggiungimento del valore delineato dallo scenario NGFS nel 2050 (logica di convergenza)</a:t>
              </a:r>
            </a:p>
          </p:txBody>
        </p:sp>
      </p:grpSp>
      <p:sp>
        <p:nvSpPr>
          <p:cNvPr id="971" name="Freeform: Shape 970">
            <a:extLst>
              <a:ext uri="{FF2B5EF4-FFF2-40B4-BE49-F238E27FC236}">
                <a16:creationId xmlns:a16="http://schemas.microsoft.com/office/drawing/2014/main" id="{10090302-BC39-05CB-CA3B-8AD6787AAC12}"/>
              </a:ext>
            </a:extLst>
          </p:cNvPr>
          <p:cNvSpPr/>
          <p:nvPr/>
        </p:nvSpPr>
        <p:spPr>
          <a:xfrm rot="10800000">
            <a:off x="10745879" y="4734860"/>
            <a:ext cx="1111632" cy="1258995"/>
          </a:xfrm>
          <a:custGeom>
            <a:avLst/>
            <a:gdLst>
              <a:gd name="connsiteX0" fmla="*/ 917971 w 1440564"/>
              <a:gd name="connsiteY0" fmla="*/ 0 h 1258995"/>
              <a:gd name="connsiteX1" fmla="*/ 1440564 w 1440564"/>
              <a:gd name="connsiteY1" fmla="*/ 1258995 h 1258995"/>
              <a:gd name="connsiteX2" fmla="*/ 0 w 1440564"/>
              <a:gd name="connsiteY2" fmla="*/ 1258995 h 1258995"/>
              <a:gd name="connsiteX3" fmla="*/ 507024 w 1440564"/>
              <a:gd name="connsiteY3" fmla="*/ 37507 h 1258995"/>
              <a:gd name="connsiteX4" fmla="*/ 507648 w 1440564"/>
              <a:gd name="connsiteY4" fmla="*/ 39515 h 1258995"/>
              <a:gd name="connsiteX5" fmla="*/ 706674 w 1440564"/>
              <a:gd name="connsiteY5" fmla="*/ 171387 h 1258995"/>
              <a:gd name="connsiteX6" fmla="*/ 905700 w 1440564"/>
              <a:gd name="connsiteY6" fmla="*/ 39515 h 1258995"/>
              <a:gd name="connsiteX7" fmla="*/ 917971 w 1440564"/>
              <a:gd name="connsiteY7" fmla="*/ 0 h 125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564" h="1258995">
                <a:moveTo>
                  <a:pt x="917971" y="0"/>
                </a:moveTo>
                <a:lnTo>
                  <a:pt x="1440564" y="1258995"/>
                </a:lnTo>
                <a:lnTo>
                  <a:pt x="0" y="1258995"/>
                </a:lnTo>
                <a:lnTo>
                  <a:pt x="507024" y="37507"/>
                </a:lnTo>
                <a:lnTo>
                  <a:pt x="507648" y="39515"/>
                </a:lnTo>
                <a:cubicBezTo>
                  <a:pt x="540439" y="117011"/>
                  <a:pt x="617204" y="171387"/>
                  <a:pt x="706674" y="171387"/>
                </a:cubicBezTo>
                <a:cubicBezTo>
                  <a:pt x="796144" y="171387"/>
                  <a:pt x="872909" y="117011"/>
                  <a:pt x="905700" y="39515"/>
                </a:cubicBezTo>
                <a:lnTo>
                  <a:pt x="917971" y="0"/>
                </a:lnTo>
                <a:close/>
              </a:path>
            </a:pathLst>
          </a:custGeom>
          <a:solidFill>
            <a:srgbClr val="00338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978" name="Oval 977">
            <a:extLst>
              <a:ext uri="{FF2B5EF4-FFF2-40B4-BE49-F238E27FC236}">
                <a16:creationId xmlns:a16="http://schemas.microsoft.com/office/drawing/2014/main" id="{E91F1212-1253-3D86-88EE-0ED17D18AA85}"/>
              </a:ext>
            </a:extLst>
          </p:cNvPr>
          <p:cNvSpPr/>
          <p:nvPr/>
        </p:nvSpPr>
        <p:spPr>
          <a:xfrm>
            <a:off x="11095211" y="5829654"/>
            <a:ext cx="432000" cy="43183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82" name="Group 981">
            <a:extLst>
              <a:ext uri="{FF2B5EF4-FFF2-40B4-BE49-F238E27FC236}">
                <a16:creationId xmlns:a16="http://schemas.microsoft.com/office/drawing/2014/main" id="{1533BC15-6505-3219-1351-AF20F7D4FC72}"/>
              </a:ext>
            </a:extLst>
          </p:cNvPr>
          <p:cNvGrpSpPr/>
          <p:nvPr/>
        </p:nvGrpSpPr>
        <p:grpSpPr>
          <a:xfrm>
            <a:off x="10687110" y="3939073"/>
            <a:ext cx="1206785" cy="1190083"/>
            <a:chOff x="10560397" y="2760766"/>
            <a:chExt cx="1460210" cy="1440000"/>
          </a:xfrm>
        </p:grpSpPr>
        <p:sp>
          <p:nvSpPr>
            <p:cNvPr id="972" name="Oval 971">
              <a:extLst>
                <a:ext uri="{FF2B5EF4-FFF2-40B4-BE49-F238E27FC236}">
                  <a16:creationId xmlns:a16="http://schemas.microsoft.com/office/drawing/2014/main" id="{015E1BB1-98C0-0267-BB66-1B3328026782}"/>
                </a:ext>
              </a:extLst>
            </p:cNvPr>
            <p:cNvSpPr/>
            <p:nvPr/>
          </p:nvSpPr>
          <p:spPr>
            <a:xfrm>
              <a:off x="10580043" y="2760766"/>
              <a:ext cx="1440564" cy="1440000"/>
            </a:xfrm>
            <a:prstGeom prst="ellipse">
              <a:avLst/>
            </a:prstGeom>
            <a:solidFill>
              <a:schemeClr val="bg1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FF589CDC-FB21-A5B6-E156-E47A67B4B9F3}"/>
                </a:ext>
              </a:extLst>
            </p:cNvPr>
            <p:cNvSpPr/>
            <p:nvPr/>
          </p:nvSpPr>
          <p:spPr>
            <a:xfrm rot="18339211">
              <a:off x="10649187" y="2982012"/>
              <a:ext cx="824549" cy="1002129"/>
            </a:xfrm>
            <a:custGeom>
              <a:avLst/>
              <a:gdLst>
                <a:gd name="connsiteX0" fmla="*/ 158603 w 247268"/>
                <a:gd name="connsiteY0" fmla="*/ 0 h 300521"/>
                <a:gd name="connsiteX1" fmla="*/ 247268 w 247268"/>
                <a:gd name="connsiteY1" fmla="*/ 183583 h 300521"/>
                <a:gd name="connsiteX2" fmla="*/ 88019 w 247268"/>
                <a:gd name="connsiteY2" fmla="*/ 300521 h 300521"/>
                <a:gd name="connsiteX3" fmla="*/ 0 w 247268"/>
                <a:gd name="connsiteY3" fmla="*/ 81403 h 300521"/>
                <a:gd name="connsiteX4" fmla="*/ 41948 w 247268"/>
                <a:gd name="connsiteY4" fmla="*/ 36306 h 300521"/>
                <a:gd name="connsiteX5" fmla="*/ 120132 w 247268"/>
                <a:gd name="connsiteY5" fmla="*/ 1111 h 300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268" h="300521">
                  <a:moveTo>
                    <a:pt x="158603" y="0"/>
                  </a:moveTo>
                  <a:lnTo>
                    <a:pt x="247268" y="183583"/>
                  </a:lnTo>
                  <a:lnTo>
                    <a:pt x="88019" y="300521"/>
                  </a:lnTo>
                  <a:lnTo>
                    <a:pt x="0" y="81403"/>
                  </a:lnTo>
                  <a:lnTo>
                    <a:pt x="41948" y="36306"/>
                  </a:lnTo>
                  <a:cubicBezTo>
                    <a:pt x="66172" y="18929"/>
                    <a:pt x="92772" y="7286"/>
                    <a:pt x="120132" y="1111"/>
                  </a:cubicBezTo>
                  <a:close/>
                </a:path>
              </a:pathLst>
            </a:custGeom>
            <a:pattFill prst="dkDnDiag">
              <a:fgClr>
                <a:schemeClr val="accent3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8EDC8FB3-B829-5941-6CDD-CF20566B8D4E}"/>
                </a:ext>
              </a:extLst>
            </p:cNvPr>
            <p:cNvCxnSpPr>
              <a:cxnSpLocks/>
              <a:stCxn id="973" idx="0"/>
            </p:cNvCxnSpPr>
            <p:nvPr/>
          </p:nvCxnSpPr>
          <p:spPr>
            <a:xfrm>
              <a:off x="10722287" y="3096264"/>
              <a:ext cx="687202" cy="762399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70B3E507-5AD3-7E20-B06C-18A9A452DE7C}"/>
                </a:ext>
              </a:extLst>
            </p:cNvPr>
            <p:cNvCxnSpPr>
              <a:cxnSpLocks/>
              <a:stCxn id="973" idx="2"/>
              <a:endCxn id="973" idx="3"/>
            </p:cNvCxnSpPr>
            <p:nvPr/>
          </p:nvCxnSpPr>
          <p:spPr>
            <a:xfrm flipH="1" flipV="1">
              <a:off x="10634579" y="3684235"/>
              <a:ext cx="764801" cy="187405"/>
            </a:xfrm>
            <a:prstGeom prst="line">
              <a:avLst/>
            </a:prstGeom>
            <a:ln w="38100">
              <a:solidFill>
                <a:srgbClr val="009597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1" name="Isosceles Triangle 980">
              <a:extLst>
                <a:ext uri="{FF2B5EF4-FFF2-40B4-BE49-F238E27FC236}">
                  <a16:creationId xmlns:a16="http://schemas.microsoft.com/office/drawing/2014/main" id="{204AF753-DC40-5993-435C-14F683BFA16C}"/>
                </a:ext>
              </a:extLst>
            </p:cNvPr>
            <p:cNvSpPr/>
            <p:nvPr/>
          </p:nvSpPr>
          <p:spPr>
            <a:xfrm rot="2443539">
              <a:off x="10721380" y="3104522"/>
              <a:ext cx="953238" cy="459603"/>
            </a:xfrm>
            <a:custGeom>
              <a:avLst/>
              <a:gdLst>
                <a:gd name="csX0" fmla="*/ 0 w 953238"/>
                <a:gd name="csY0" fmla="*/ 346426 h 459603"/>
                <a:gd name="csX1" fmla="*/ 527789 w 953238"/>
                <a:gd name="csY1" fmla="*/ 0 h 459603"/>
                <a:gd name="csX2" fmla="*/ 953238 w 953238"/>
                <a:gd name="csY2" fmla="*/ 459603 h 459603"/>
                <a:gd name="csX3" fmla="*/ 0 w 953238"/>
                <a:gd name="csY3" fmla="*/ 346426 h 4596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3238" h="459603">
                  <a:moveTo>
                    <a:pt x="0" y="346426"/>
                  </a:moveTo>
                  <a:lnTo>
                    <a:pt x="527789" y="0"/>
                  </a:lnTo>
                  <a:lnTo>
                    <a:pt x="953238" y="459603"/>
                  </a:lnTo>
                  <a:lnTo>
                    <a:pt x="0" y="3464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894" name="Group 893">
            <a:extLst>
              <a:ext uri="{FF2B5EF4-FFF2-40B4-BE49-F238E27FC236}">
                <a16:creationId xmlns:a16="http://schemas.microsoft.com/office/drawing/2014/main" id="{99D95BB6-9434-4DC2-263A-F20A141A15C7}"/>
              </a:ext>
            </a:extLst>
          </p:cNvPr>
          <p:cNvGrpSpPr/>
          <p:nvPr/>
        </p:nvGrpSpPr>
        <p:grpSpPr>
          <a:xfrm rot="12502927">
            <a:off x="9202720" y="6008839"/>
            <a:ext cx="297988" cy="278656"/>
            <a:chOff x="5186718" y="1813851"/>
            <a:chExt cx="580694" cy="370891"/>
          </a:xfrm>
          <a:solidFill>
            <a:srgbClr val="009597"/>
          </a:solidFill>
        </p:grpSpPr>
        <p:sp>
          <p:nvSpPr>
            <p:cNvPr id="895" name="Freeform 734">
              <a:extLst>
                <a:ext uri="{FF2B5EF4-FFF2-40B4-BE49-F238E27FC236}">
                  <a16:creationId xmlns:a16="http://schemas.microsoft.com/office/drawing/2014/main" id="{E1AD29B6-8CAF-B142-F4A1-0AD637B5C627}"/>
                </a:ext>
              </a:extLst>
            </p:cNvPr>
            <p:cNvSpPr>
              <a:spLocks/>
            </p:cNvSpPr>
            <p:nvPr/>
          </p:nvSpPr>
          <p:spPr bwMode="auto">
            <a:xfrm rot="4041578" flipV="1">
              <a:off x="5318050" y="1852265"/>
              <a:ext cx="201145" cy="463810"/>
            </a:xfrm>
            <a:custGeom>
              <a:avLst/>
              <a:gdLst/>
              <a:ahLst/>
              <a:cxnLst>
                <a:cxn ang="0">
                  <a:pos x="180" y="1"/>
                </a:cxn>
                <a:cxn ang="0">
                  <a:pos x="175" y="4"/>
                </a:cxn>
                <a:cxn ang="0">
                  <a:pos x="146" y="47"/>
                </a:cxn>
                <a:cxn ang="0">
                  <a:pos x="107" y="116"/>
                </a:cxn>
                <a:cxn ang="0">
                  <a:pos x="80" y="164"/>
                </a:cxn>
                <a:cxn ang="0">
                  <a:pos x="46" y="263"/>
                </a:cxn>
                <a:cxn ang="0">
                  <a:pos x="27" y="331"/>
                </a:cxn>
                <a:cxn ang="0">
                  <a:pos x="0" y="445"/>
                </a:cxn>
                <a:cxn ang="0">
                  <a:pos x="4" y="486"/>
                </a:cxn>
                <a:cxn ang="0">
                  <a:pos x="29" y="477"/>
                </a:cxn>
                <a:cxn ang="0">
                  <a:pos x="29" y="477"/>
                </a:cxn>
                <a:cxn ang="0">
                  <a:pos x="53" y="372"/>
                </a:cxn>
                <a:cxn ang="0">
                  <a:pos x="90" y="245"/>
                </a:cxn>
                <a:cxn ang="0">
                  <a:pos x="95" y="239"/>
                </a:cxn>
                <a:cxn ang="0">
                  <a:pos x="95" y="240"/>
                </a:cxn>
                <a:cxn ang="0">
                  <a:pos x="97" y="238"/>
                </a:cxn>
                <a:cxn ang="0">
                  <a:pos x="109" y="211"/>
                </a:cxn>
                <a:cxn ang="0">
                  <a:pos x="116" y="197"/>
                </a:cxn>
                <a:cxn ang="0">
                  <a:pos x="107" y="224"/>
                </a:cxn>
                <a:cxn ang="0">
                  <a:pos x="95" y="261"/>
                </a:cxn>
                <a:cxn ang="0">
                  <a:pos x="57" y="398"/>
                </a:cxn>
                <a:cxn ang="0">
                  <a:pos x="42" y="463"/>
                </a:cxn>
                <a:cxn ang="0">
                  <a:pos x="48" y="457"/>
                </a:cxn>
                <a:cxn ang="0">
                  <a:pos x="62" y="400"/>
                </a:cxn>
                <a:cxn ang="0">
                  <a:pos x="79" y="337"/>
                </a:cxn>
                <a:cxn ang="0">
                  <a:pos x="103" y="280"/>
                </a:cxn>
                <a:cxn ang="0">
                  <a:pos x="133" y="209"/>
                </a:cxn>
                <a:cxn ang="0">
                  <a:pos x="133" y="209"/>
                </a:cxn>
                <a:cxn ang="0">
                  <a:pos x="128" y="221"/>
                </a:cxn>
                <a:cxn ang="0">
                  <a:pos x="132" y="217"/>
                </a:cxn>
                <a:cxn ang="0">
                  <a:pos x="150" y="179"/>
                </a:cxn>
                <a:cxn ang="0">
                  <a:pos x="166" y="147"/>
                </a:cxn>
                <a:cxn ang="0">
                  <a:pos x="180" y="122"/>
                </a:cxn>
                <a:cxn ang="0">
                  <a:pos x="183" y="123"/>
                </a:cxn>
                <a:cxn ang="0">
                  <a:pos x="174" y="140"/>
                </a:cxn>
                <a:cxn ang="0">
                  <a:pos x="159" y="164"/>
                </a:cxn>
                <a:cxn ang="0">
                  <a:pos x="146" y="192"/>
                </a:cxn>
                <a:cxn ang="0">
                  <a:pos x="141" y="203"/>
                </a:cxn>
                <a:cxn ang="0">
                  <a:pos x="142" y="202"/>
                </a:cxn>
                <a:cxn ang="0">
                  <a:pos x="159" y="168"/>
                </a:cxn>
                <a:cxn ang="0">
                  <a:pos x="205" y="93"/>
                </a:cxn>
                <a:cxn ang="0">
                  <a:pos x="239" y="53"/>
                </a:cxn>
                <a:cxn ang="0">
                  <a:pos x="239" y="47"/>
                </a:cxn>
                <a:cxn ang="0">
                  <a:pos x="230" y="34"/>
                </a:cxn>
                <a:cxn ang="0">
                  <a:pos x="205" y="12"/>
                </a:cxn>
                <a:cxn ang="0">
                  <a:pos x="192" y="1"/>
                </a:cxn>
              </a:cxnLst>
              <a:rect l="0" t="0" r="r" b="b"/>
              <a:pathLst>
                <a:path w="239" h="501">
                  <a:moveTo>
                    <a:pt x="188" y="0"/>
                  </a:moveTo>
                  <a:lnTo>
                    <a:pt x="188" y="0"/>
                  </a:lnTo>
                  <a:lnTo>
                    <a:pt x="180" y="1"/>
                  </a:lnTo>
                  <a:lnTo>
                    <a:pt x="180" y="1"/>
                  </a:lnTo>
                  <a:lnTo>
                    <a:pt x="176" y="3"/>
                  </a:lnTo>
                  <a:lnTo>
                    <a:pt x="175" y="4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46" y="47"/>
                  </a:lnTo>
                  <a:lnTo>
                    <a:pt x="146" y="47"/>
                  </a:lnTo>
                  <a:lnTo>
                    <a:pt x="125" y="83"/>
                  </a:lnTo>
                  <a:lnTo>
                    <a:pt x="107" y="116"/>
                  </a:lnTo>
                  <a:lnTo>
                    <a:pt x="88" y="148"/>
                  </a:lnTo>
                  <a:lnTo>
                    <a:pt x="88" y="148"/>
                  </a:lnTo>
                  <a:lnTo>
                    <a:pt x="80" y="164"/>
                  </a:lnTo>
                  <a:lnTo>
                    <a:pt x="72" y="184"/>
                  </a:lnTo>
                  <a:lnTo>
                    <a:pt x="58" y="223"/>
                  </a:lnTo>
                  <a:lnTo>
                    <a:pt x="46" y="263"/>
                  </a:lnTo>
                  <a:lnTo>
                    <a:pt x="36" y="297"/>
                  </a:lnTo>
                  <a:lnTo>
                    <a:pt x="36" y="297"/>
                  </a:lnTo>
                  <a:lnTo>
                    <a:pt x="27" y="331"/>
                  </a:lnTo>
                  <a:lnTo>
                    <a:pt x="15" y="375"/>
                  </a:lnTo>
                  <a:lnTo>
                    <a:pt x="0" y="445"/>
                  </a:lnTo>
                  <a:lnTo>
                    <a:pt x="0" y="445"/>
                  </a:lnTo>
                  <a:lnTo>
                    <a:pt x="2" y="469"/>
                  </a:lnTo>
                  <a:lnTo>
                    <a:pt x="4" y="486"/>
                  </a:lnTo>
                  <a:lnTo>
                    <a:pt x="4" y="486"/>
                  </a:lnTo>
                  <a:lnTo>
                    <a:pt x="7" y="501"/>
                  </a:lnTo>
                  <a:lnTo>
                    <a:pt x="7" y="501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41" y="423"/>
                  </a:lnTo>
                  <a:lnTo>
                    <a:pt x="53" y="372"/>
                  </a:lnTo>
                  <a:lnTo>
                    <a:pt x="53" y="372"/>
                  </a:lnTo>
                  <a:lnTo>
                    <a:pt x="72" y="305"/>
                  </a:lnTo>
                  <a:lnTo>
                    <a:pt x="83" y="266"/>
                  </a:lnTo>
                  <a:lnTo>
                    <a:pt x="90" y="245"/>
                  </a:lnTo>
                  <a:lnTo>
                    <a:pt x="90" y="245"/>
                  </a:lnTo>
                  <a:lnTo>
                    <a:pt x="93" y="240"/>
                  </a:lnTo>
                  <a:lnTo>
                    <a:pt x="95" y="239"/>
                  </a:lnTo>
                  <a:lnTo>
                    <a:pt x="95" y="239"/>
                  </a:lnTo>
                  <a:lnTo>
                    <a:pt x="95" y="240"/>
                  </a:lnTo>
                  <a:lnTo>
                    <a:pt x="95" y="240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7" y="238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109" y="211"/>
                  </a:lnTo>
                  <a:lnTo>
                    <a:pt x="114" y="198"/>
                  </a:lnTo>
                  <a:lnTo>
                    <a:pt x="114" y="198"/>
                  </a:lnTo>
                  <a:lnTo>
                    <a:pt x="116" y="197"/>
                  </a:lnTo>
                  <a:lnTo>
                    <a:pt x="116" y="197"/>
                  </a:lnTo>
                  <a:lnTo>
                    <a:pt x="113" y="206"/>
                  </a:lnTo>
                  <a:lnTo>
                    <a:pt x="107" y="224"/>
                  </a:lnTo>
                  <a:lnTo>
                    <a:pt x="107" y="224"/>
                  </a:lnTo>
                  <a:lnTo>
                    <a:pt x="95" y="261"/>
                  </a:lnTo>
                  <a:lnTo>
                    <a:pt x="95" y="261"/>
                  </a:lnTo>
                  <a:lnTo>
                    <a:pt x="62" y="373"/>
                  </a:lnTo>
                  <a:lnTo>
                    <a:pt x="62" y="373"/>
                  </a:lnTo>
                  <a:lnTo>
                    <a:pt x="57" y="398"/>
                  </a:lnTo>
                  <a:lnTo>
                    <a:pt x="51" y="423"/>
                  </a:lnTo>
                  <a:lnTo>
                    <a:pt x="51" y="423"/>
                  </a:lnTo>
                  <a:lnTo>
                    <a:pt x="42" y="463"/>
                  </a:lnTo>
                  <a:lnTo>
                    <a:pt x="42" y="463"/>
                  </a:lnTo>
                  <a:lnTo>
                    <a:pt x="48" y="457"/>
                  </a:lnTo>
                  <a:lnTo>
                    <a:pt x="48" y="457"/>
                  </a:lnTo>
                  <a:lnTo>
                    <a:pt x="53" y="437"/>
                  </a:lnTo>
                  <a:lnTo>
                    <a:pt x="53" y="437"/>
                  </a:lnTo>
                  <a:lnTo>
                    <a:pt x="62" y="400"/>
                  </a:lnTo>
                  <a:lnTo>
                    <a:pt x="62" y="400"/>
                  </a:lnTo>
                  <a:lnTo>
                    <a:pt x="71" y="368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103" y="280"/>
                  </a:lnTo>
                  <a:lnTo>
                    <a:pt x="103" y="280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0" y="213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2" y="217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50" y="179"/>
                  </a:lnTo>
                  <a:lnTo>
                    <a:pt x="150" y="179"/>
                  </a:lnTo>
                  <a:lnTo>
                    <a:pt x="166" y="147"/>
                  </a:lnTo>
                  <a:lnTo>
                    <a:pt x="166" y="147"/>
                  </a:lnTo>
                  <a:lnTo>
                    <a:pt x="172" y="135"/>
                  </a:lnTo>
                  <a:lnTo>
                    <a:pt x="180" y="122"/>
                  </a:lnTo>
                  <a:lnTo>
                    <a:pt x="180" y="122"/>
                  </a:lnTo>
                  <a:lnTo>
                    <a:pt x="183" y="121"/>
                  </a:lnTo>
                  <a:lnTo>
                    <a:pt x="183" y="121"/>
                  </a:lnTo>
                  <a:lnTo>
                    <a:pt x="183" y="123"/>
                  </a:lnTo>
                  <a:lnTo>
                    <a:pt x="180" y="126"/>
                  </a:lnTo>
                  <a:lnTo>
                    <a:pt x="180" y="126"/>
                  </a:lnTo>
                  <a:lnTo>
                    <a:pt x="174" y="140"/>
                  </a:lnTo>
                  <a:lnTo>
                    <a:pt x="174" y="140"/>
                  </a:lnTo>
                  <a:lnTo>
                    <a:pt x="167" y="151"/>
                  </a:lnTo>
                  <a:lnTo>
                    <a:pt x="159" y="164"/>
                  </a:lnTo>
                  <a:lnTo>
                    <a:pt x="159" y="164"/>
                  </a:lnTo>
                  <a:lnTo>
                    <a:pt x="153" y="176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2" y="200"/>
                  </a:lnTo>
                  <a:lnTo>
                    <a:pt x="141" y="203"/>
                  </a:lnTo>
                  <a:lnTo>
                    <a:pt x="141" y="203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50" y="185"/>
                  </a:lnTo>
                  <a:lnTo>
                    <a:pt x="159" y="168"/>
                  </a:lnTo>
                  <a:lnTo>
                    <a:pt x="159" y="168"/>
                  </a:lnTo>
                  <a:lnTo>
                    <a:pt x="180" y="133"/>
                  </a:lnTo>
                  <a:lnTo>
                    <a:pt x="180" y="133"/>
                  </a:lnTo>
                  <a:lnTo>
                    <a:pt x="205" y="93"/>
                  </a:lnTo>
                  <a:lnTo>
                    <a:pt x="205" y="93"/>
                  </a:lnTo>
                  <a:lnTo>
                    <a:pt x="222" y="72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0"/>
                  </a:lnTo>
                  <a:lnTo>
                    <a:pt x="239" y="47"/>
                  </a:lnTo>
                  <a:lnTo>
                    <a:pt x="237" y="42"/>
                  </a:lnTo>
                  <a:lnTo>
                    <a:pt x="234" y="37"/>
                  </a:lnTo>
                  <a:lnTo>
                    <a:pt x="230" y="34"/>
                  </a:lnTo>
                  <a:lnTo>
                    <a:pt x="230" y="34"/>
                  </a:lnTo>
                  <a:lnTo>
                    <a:pt x="217" y="24"/>
                  </a:lnTo>
                  <a:lnTo>
                    <a:pt x="205" y="12"/>
                  </a:lnTo>
                  <a:lnTo>
                    <a:pt x="205" y="12"/>
                  </a:lnTo>
                  <a:lnTo>
                    <a:pt x="198" y="7"/>
                  </a:lnTo>
                  <a:lnTo>
                    <a:pt x="192" y="1"/>
                  </a:lnTo>
                  <a:lnTo>
                    <a:pt x="192" y="1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896" name="Freeform 735">
              <a:extLst>
                <a:ext uri="{FF2B5EF4-FFF2-40B4-BE49-F238E27FC236}">
                  <a16:creationId xmlns:a16="http://schemas.microsoft.com/office/drawing/2014/main" id="{2746F6BF-EBB8-7949-9580-A2CBDEFF5B1F}"/>
                </a:ext>
              </a:extLst>
            </p:cNvPr>
            <p:cNvSpPr>
              <a:spLocks/>
            </p:cNvSpPr>
            <p:nvPr/>
          </p:nvSpPr>
          <p:spPr bwMode="auto">
            <a:xfrm rot="4041578" flipV="1">
              <a:off x="5318050" y="1852265"/>
              <a:ext cx="201145" cy="463810"/>
            </a:xfrm>
            <a:custGeom>
              <a:avLst/>
              <a:gdLst/>
              <a:ahLst/>
              <a:cxnLst>
                <a:cxn ang="0">
                  <a:pos x="180" y="1"/>
                </a:cxn>
                <a:cxn ang="0">
                  <a:pos x="175" y="4"/>
                </a:cxn>
                <a:cxn ang="0">
                  <a:pos x="146" y="47"/>
                </a:cxn>
                <a:cxn ang="0">
                  <a:pos x="107" y="116"/>
                </a:cxn>
                <a:cxn ang="0">
                  <a:pos x="80" y="164"/>
                </a:cxn>
                <a:cxn ang="0">
                  <a:pos x="46" y="263"/>
                </a:cxn>
                <a:cxn ang="0">
                  <a:pos x="27" y="331"/>
                </a:cxn>
                <a:cxn ang="0">
                  <a:pos x="0" y="445"/>
                </a:cxn>
                <a:cxn ang="0">
                  <a:pos x="4" y="486"/>
                </a:cxn>
                <a:cxn ang="0">
                  <a:pos x="29" y="477"/>
                </a:cxn>
                <a:cxn ang="0">
                  <a:pos x="29" y="477"/>
                </a:cxn>
                <a:cxn ang="0">
                  <a:pos x="53" y="372"/>
                </a:cxn>
                <a:cxn ang="0">
                  <a:pos x="90" y="245"/>
                </a:cxn>
                <a:cxn ang="0">
                  <a:pos x="95" y="239"/>
                </a:cxn>
                <a:cxn ang="0">
                  <a:pos x="95" y="240"/>
                </a:cxn>
                <a:cxn ang="0">
                  <a:pos x="97" y="238"/>
                </a:cxn>
                <a:cxn ang="0">
                  <a:pos x="109" y="211"/>
                </a:cxn>
                <a:cxn ang="0">
                  <a:pos x="116" y="197"/>
                </a:cxn>
                <a:cxn ang="0">
                  <a:pos x="107" y="224"/>
                </a:cxn>
                <a:cxn ang="0">
                  <a:pos x="95" y="261"/>
                </a:cxn>
                <a:cxn ang="0">
                  <a:pos x="57" y="398"/>
                </a:cxn>
                <a:cxn ang="0">
                  <a:pos x="42" y="463"/>
                </a:cxn>
                <a:cxn ang="0">
                  <a:pos x="48" y="457"/>
                </a:cxn>
                <a:cxn ang="0">
                  <a:pos x="62" y="400"/>
                </a:cxn>
                <a:cxn ang="0">
                  <a:pos x="79" y="337"/>
                </a:cxn>
                <a:cxn ang="0">
                  <a:pos x="103" y="280"/>
                </a:cxn>
                <a:cxn ang="0">
                  <a:pos x="133" y="209"/>
                </a:cxn>
                <a:cxn ang="0">
                  <a:pos x="133" y="209"/>
                </a:cxn>
                <a:cxn ang="0">
                  <a:pos x="128" y="221"/>
                </a:cxn>
                <a:cxn ang="0">
                  <a:pos x="132" y="217"/>
                </a:cxn>
                <a:cxn ang="0">
                  <a:pos x="150" y="179"/>
                </a:cxn>
                <a:cxn ang="0">
                  <a:pos x="166" y="147"/>
                </a:cxn>
                <a:cxn ang="0">
                  <a:pos x="180" y="122"/>
                </a:cxn>
                <a:cxn ang="0">
                  <a:pos x="183" y="123"/>
                </a:cxn>
                <a:cxn ang="0">
                  <a:pos x="174" y="140"/>
                </a:cxn>
                <a:cxn ang="0">
                  <a:pos x="159" y="164"/>
                </a:cxn>
                <a:cxn ang="0">
                  <a:pos x="146" y="192"/>
                </a:cxn>
                <a:cxn ang="0">
                  <a:pos x="141" y="203"/>
                </a:cxn>
                <a:cxn ang="0">
                  <a:pos x="142" y="202"/>
                </a:cxn>
                <a:cxn ang="0">
                  <a:pos x="159" y="168"/>
                </a:cxn>
                <a:cxn ang="0">
                  <a:pos x="205" y="93"/>
                </a:cxn>
                <a:cxn ang="0">
                  <a:pos x="239" y="53"/>
                </a:cxn>
                <a:cxn ang="0">
                  <a:pos x="239" y="47"/>
                </a:cxn>
                <a:cxn ang="0">
                  <a:pos x="230" y="34"/>
                </a:cxn>
                <a:cxn ang="0">
                  <a:pos x="205" y="12"/>
                </a:cxn>
                <a:cxn ang="0">
                  <a:pos x="192" y="1"/>
                </a:cxn>
              </a:cxnLst>
              <a:rect l="0" t="0" r="r" b="b"/>
              <a:pathLst>
                <a:path w="239" h="501">
                  <a:moveTo>
                    <a:pt x="188" y="0"/>
                  </a:moveTo>
                  <a:lnTo>
                    <a:pt x="188" y="0"/>
                  </a:lnTo>
                  <a:lnTo>
                    <a:pt x="180" y="1"/>
                  </a:lnTo>
                  <a:lnTo>
                    <a:pt x="180" y="1"/>
                  </a:lnTo>
                  <a:lnTo>
                    <a:pt x="176" y="3"/>
                  </a:lnTo>
                  <a:lnTo>
                    <a:pt x="175" y="4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46" y="47"/>
                  </a:lnTo>
                  <a:lnTo>
                    <a:pt x="146" y="47"/>
                  </a:lnTo>
                  <a:lnTo>
                    <a:pt x="125" y="83"/>
                  </a:lnTo>
                  <a:lnTo>
                    <a:pt x="107" y="116"/>
                  </a:lnTo>
                  <a:lnTo>
                    <a:pt x="88" y="148"/>
                  </a:lnTo>
                  <a:lnTo>
                    <a:pt x="88" y="148"/>
                  </a:lnTo>
                  <a:lnTo>
                    <a:pt x="80" y="164"/>
                  </a:lnTo>
                  <a:lnTo>
                    <a:pt x="72" y="184"/>
                  </a:lnTo>
                  <a:lnTo>
                    <a:pt x="58" y="223"/>
                  </a:lnTo>
                  <a:lnTo>
                    <a:pt x="46" y="263"/>
                  </a:lnTo>
                  <a:lnTo>
                    <a:pt x="36" y="297"/>
                  </a:lnTo>
                  <a:lnTo>
                    <a:pt x="36" y="297"/>
                  </a:lnTo>
                  <a:lnTo>
                    <a:pt x="27" y="331"/>
                  </a:lnTo>
                  <a:lnTo>
                    <a:pt x="15" y="375"/>
                  </a:lnTo>
                  <a:lnTo>
                    <a:pt x="0" y="445"/>
                  </a:lnTo>
                  <a:lnTo>
                    <a:pt x="0" y="445"/>
                  </a:lnTo>
                  <a:lnTo>
                    <a:pt x="2" y="469"/>
                  </a:lnTo>
                  <a:lnTo>
                    <a:pt x="4" y="486"/>
                  </a:lnTo>
                  <a:lnTo>
                    <a:pt x="4" y="486"/>
                  </a:lnTo>
                  <a:lnTo>
                    <a:pt x="7" y="501"/>
                  </a:lnTo>
                  <a:lnTo>
                    <a:pt x="7" y="501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41" y="423"/>
                  </a:lnTo>
                  <a:lnTo>
                    <a:pt x="53" y="372"/>
                  </a:lnTo>
                  <a:lnTo>
                    <a:pt x="53" y="372"/>
                  </a:lnTo>
                  <a:lnTo>
                    <a:pt x="72" y="305"/>
                  </a:lnTo>
                  <a:lnTo>
                    <a:pt x="83" y="266"/>
                  </a:lnTo>
                  <a:lnTo>
                    <a:pt x="90" y="245"/>
                  </a:lnTo>
                  <a:lnTo>
                    <a:pt x="90" y="245"/>
                  </a:lnTo>
                  <a:lnTo>
                    <a:pt x="93" y="240"/>
                  </a:lnTo>
                  <a:lnTo>
                    <a:pt x="95" y="239"/>
                  </a:lnTo>
                  <a:lnTo>
                    <a:pt x="95" y="239"/>
                  </a:lnTo>
                  <a:lnTo>
                    <a:pt x="95" y="240"/>
                  </a:lnTo>
                  <a:lnTo>
                    <a:pt x="95" y="240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7" y="238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109" y="211"/>
                  </a:lnTo>
                  <a:lnTo>
                    <a:pt x="114" y="198"/>
                  </a:lnTo>
                  <a:lnTo>
                    <a:pt x="114" y="198"/>
                  </a:lnTo>
                  <a:lnTo>
                    <a:pt x="116" y="197"/>
                  </a:lnTo>
                  <a:lnTo>
                    <a:pt x="116" y="197"/>
                  </a:lnTo>
                  <a:lnTo>
                    <a:pt x="113" y="206"/>
                  </a:lnTo>
                  <a:lnTo>
                    <a:pt x="107" y="224"/>
                  </a:lnTo>
                  <a:lnTo>
                    <a:pt x="107" y="224"/>
                  </a:lnTo>
                  <a:lnTo>
                    <a:pt x="95" y="261"/>
                  </a:lnTo>
                  <a:lnTo>
                    <a:pt x="95" y="261"/>
                  </a:lnTo>
                  <a:lnTo>
                    <a:pt x="62" y="373"/>
                  </a:lnTo>
                  <a:lnTo>
                    <a:pt x="62" y="373"/>
                  </a:lnTo>
                  <a:lnTo>
                    <a:pt x="57" y="398"/>
                  </a:lnTo>
                  <a:lnTo>
                    <a:pt x="51" y="423"/>
                  </a:lnTo>
                  <a:lnTo>
                    <a:pt x="51" y="423"/>
                  </a:lnTo>
                  <a:lnTo>
                    <a:pt x="42" y="463"/>
                  </a:lnTo>
                  <a:lnTo>
                    <a:pt x="42" y="463"/>
                  </a:lnTo>
                  <a:lnTo>
                    <a:pt x="48" y="457"/>
                  </a:lnTo>
                  <a:lnTo>
                    <a:pt x="48" y="457"/>
                  </a:lnTo>
                  <a:lnTo>
                    <a:pt x="53" y="437"/>
                  </a:lnTo>
                  <a:lnTo>
                    <a:pt x="53" y="437"/>
                  </a:lnTo>
                  <a:lnTo>
                    <a:pt x="62" y="400"/>
                  </a:lnTo>
                  <a:lnTo>
                    <a:pt x="62" y="400"/>
                  </a:lnTo>
                  <a:lnTo>
                    <a:pt x="71" y="368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103" y="280"/>
                  </a:lnTo>
                  <a:lnTo>
                    <a:pt x="103" y="280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0" y="213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2" y="217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50" y="179"/>
                  </a:lnTo>
                  <a:lnTo>
                    <a:pt x="150" y="179"/>
                  </a:lnTo>
                  <a:lnTo>
                    <a:pt x="166" y="147"/>
                  </a:lnTo>
                  <a:lnTo>
                    <a:pt x="166" y="147"/>
                  </a:lnTo>
                  <a:lnTo>
                    <a:pt x="172" y="135"/>
                  </a:lnTo>
                  <a:lnTo>
                    <a:pt x="180" y="122"/>
                  </a:lnTo>
                  <a:lnTo>
                    <a:pt x="180" y="122"/>
                  </a:lnTo>
                  <a:lnTo>
                    <a:pt x="183" y="121"/>
                  </a:lnTo>
                  <a:lnTo>
                    <a:pt x="183" y="121"/>
                  </a:lnTo>
                  <a:lnTo>
                    <a:pt x="183" y="123"/>
                  </a:lnTo>
                  <a:lnTo>
                    <a:pt x="180" y="126"/>
                  </a:lnTo>
                  <a:lnTo>
                    <a:pt x="180" y="126"/>
                  </a:lnTo>
                  <a:lnTo>
                    <a:pt x="174" y="140"/>
                  </a:lnTo>
                  <a:lnTo>
                    <a:pt x="174" y="140"/>
                  </a:lnTo>
                  <a:lnTo>
                    <a:pt x="167" y="151"/>
                  </a:lnTo>
                  <a:lnTo>
                    <a:pt x="159" y="164"/>
                  </a:lnTo>
                  <a:lnTo>
                    <a:pt x="159" y="164"/>
                  </a:lnTo>
                  <a:lnTo>
                    <a:pt x="153" y="176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2" y="200"/>
                  </a:lnTo>
                  <a:lnTo>
                    <a:pt x="141" y="203"/>
                  </a:lnTo>
                  <a:lnTo>
                    <a:pt x="141" y="203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50" y="185"/>
                  </a:lnTo>
                  <a:lnTo>
                    <a:pt x="159" y="168"/>
                  </a:lnTo>
                  <a:lnTo>
                    <a:pt x="159" y="168"/>
                  </a:lnTo>
                  <a:lnTo>
                    <a:pt x="180" y="133"/>
                  </a:lnTo>
                  <a:lnTo>
                    <a:pt x="180" y="133"/>
                  </a:lnTo>
                  <a:lnTo>
                    <a:pt x="205" y="93"/>
                  </a:lnTo>
                  <a:lnTo>
                    <a:pt x="205" y="93"/>
                  </a:lnTo>
                  <a:lnTo>
                    <a:pt x="222" y="72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0"/>
                  </a:lnTo>
                  <a:lnTo>
                    <a:pt x="239" y="47"/>
                  </a:lnTo>
                  <a:lnTo>
                    <a:pt x="237" y="42"/>
                  </a:lnTo>
                  <a:lnTo>
                    <a:pt x="234" y="37"/>
                  </a:lnTo>
                  <a:lnTo>
                    <a:pt x="230" y="34"/>
                  </a:lnTo>
                  <a:lnTo>
                    <a:pt x="230" y="34"/>
                  </a:lnTo>
                  <a:lnTo>
                    <a:pt x="217" y="24"/>
                  </a:lnTo>
                  <a:lnTo>
                    <a:pt x="205" y="12"/>
                  </a:lnTo>
                  <a:lnTo>
                    <a:pt x="205" y="12"/>
                  </a:lnTo>
                  <a:lnTo>
                    <a:pt x="198" y="7"/>
                  </a:lnTo>
                  <a:lnTo>
                    <a:pt x="192" y="1"/>
                  </a:lnTo>
                  <a:lnTo>
                    <a:pt x="192" y="1"/>
                  </a:lnTo>
                  <a:lnTo>
                    <a:pt x="188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id="{B01F729E-646D-F07F-F8C6-253936DF3187}"/>
                </a:ext>
              </a:extLst>
            </p:cNvPr>
            <p:cNvGrpSpPr/>
            <p:nvPr/>
          </p:nvGrpSpPr>
          <p:grpSpPr>
            <a:xfrm>
              <a:off x="5447033" y="1813851"/>
              <a:ext cx="320379" cy="296274"/>
              <a:chOff x="5447033" y="1813851"/>
              <a:chExt cx="320379" cy="296274"/>
            </a:xfrm>
            <a:grpFill/>
          </p:grpSpPr>
          <p:sp>
            <p:nvSpPr>
              <p:cNvPr id="898" name="Freeform 723">
                <a:extLst>
                  <a:ext uri="{FF2B5EF4-FFF2-40B4-BE49-F238E27FC236}">
                    <a16:creationId xmlns:a16="http://schemas.microsoft.com/office/drawing/2014/main" id="{4E108E83-6910-14B1-B608-4DDD281F68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489688" y="1835803"/>
                <a:ext cx="253324" cy="295320"/>
              </a:xfrm>
              <a:custGeom>
                <a:avLst/>
                <a:gdLst/>
                <a:ahLst/>
                <a:cxnLst>
                  <a:cxn ang="0">
                    <a:pos x="0" y="303"/>
                  </a:cxn>
                  <a:cxn ang="0">
                    <a:pos x="0" y="303"/>
                  </a:cxn>
                  <a:cxn ang="0">
                    <a:pos x="251" y="0"/>
                  </a:cxn>
                  <a:cxn ang="0">
                    <a:pos x="242" y="1"/>
                  </a:cxn>
                  <a:cxn ang="0">
                    <a:pos x="218" y="11"/>
                  </a:cxn>
                  <a:cxn ang="0">
                    <a:pos x="177" y="48"/>
                  </a:cxn>
                  <a:cxn ang="0">
                    <a:pos x="129" y="98"/>
                  </a:cxn>
                  <a:cxn ang="0">
                    <a:pos x="99" y="127"/>
                  </a:cxn>
                  <a:cxn ang="0">
                    <a:pos x="96" y="135"/>
                  </a:cxn>
                  <a:cxn ang="0">
                    <a:pos x="88" y="164"/>
                  </a:cxn>
                  <a:cxn ang="0">
                    <a:pos x="87" y="164"/>
                  </a:cxn>
                  <a:cxn ang="0">
                    <a:pos x="93" y="133"/>
                  </a:cxn>
                  <a:cxn ang="0">
                    <a:pos x="80" y="147"/>
                  </a:cxn>
                  <a:cxn ang="0">
                    <a:pos x="76" y="162"/>
                  </a:cxn>
                  <a:cxn ang="0">
                    <a:pos x="71" y="186"/>
                  </a:cxn>
                  <a:cxn ang="0">
                    <a:pos x="68" y="191"/>
                  </a:cxn>
                  <a:cxn ang="0">
                    <a:pos x="66" y="186"/>
                  </a:cxn>
                  <a:cxn ang="0">
                    <a:pos x="60" y="179"/>
                  </a:cxn>
                  <a:cxn ang="0">
                    <a:pos x="60" y="177"/>
                  </a:cxn>
                  <a:cxn ang="0">
                    <a:pos x="58" y="174"/>
                  </a:cxn>
                  <a:cxn ang="0">
                    <a:pos x="59" y="207"/>
                  </a:cxn>
                  <a:cxn ang="0">
                    <a:pos x="63" y="290"/>
                  </a:cxn>
                  <a:cxn ang="0">
                    <a:pos x="66" y="295"/>
                  </a:cxn>
                  <a:cxn ang="0">
                    <a:pos x="70" y="299"/>
                  </a:cxn>
                  <a:cxn ang="0">
                    <a:pos x="71" y="313"/>
                  </a:cxn>
                  <a:cxn ang="0">
                    <a:pos x="67" y="316"/>
                  </a:cxn>
                  <a:cxn ang="0">
                    <a:pos x="59" y="315"/>
                  </a:cxn>
                  <a:cxn ang="0">
                    <a:pos x="42" y="312"/>
                  </a:cxn>
                  <a:cxn ang="0">
                    <a:pos x="29" y="308"/>
                  </a:cxn>
                  <a:cxn ang="0">
                    <a:pos x="21" y="308"/>
                  </a:cxn>
                  <a:cxn ang="0">
                    <a:pos x="34" y="312"/>
                  </a:cxn>
                  <a:cxn ang="0">
                    <a:pos x="59" y="319"/>
                  </a:cxn>
                  <a:cxn ang="0">
                    <a:pos x="68" y="316"/>
                  </a:cxn>
                  <a:cxn ang="0">
                    <a:pos x="78" y="301"/>
                  </a:cxn>
                  <a:cxn ang="0">
                    <a:pos x="84" y="280"/>
                  </a:cxn>
                  <a:cxn ang="0">
                    <a:pos x="120" y="213"/>
                  </a:cxn>
                  <a:cxn ang="0">
                    <a:pos x="141" y="181"/>
                  </a:cxn>
                  <a:cxn ang="0">
                    <a:pos x="223" y="89"/>
                  </a:cxn>
                  <a:cxn ang="0">
                    <a:pos x="269" y="49"/>
                  </a:cxn>
                  <a:cxn ang="0">
                    <a:pos x="295" y="34"/>
                  </a:cxn>
                  <a:cxn ang="0">
                    <a:pos x="301" y="28"/>
                  </a:cxn>
                  <a:cxn ang="0">
                    <a:pos x="295" y="22"/>
                  </a:cxn>
                  <a:cxn ang="0">
                    <a:pos x="285" y="15"/>
                  </a:cxn>
                  <a:cxn ang="0">
                    <a:pos x="277" y="14"/>
                  </a:cxn>
                  <a:cxn ang="0">
                    <a:pos x="265" y="6"/>
                  </a:cxn>
                  <a:cxn ang="0">
                    <a:pos x="261" y="5"/>
                  </a:cxn>
                  <a:cxn ang="0">
                    <a:pos x="261" y="5"/>
                  </a:cxn>
                  <a:cxn ang="0">
                    <a:pos x="255" y="1"/>
                  </a:cxn>
                </a:cxnLst>
                <a:rect l="0" t="0" r="r" b="b"/>
                <a:pathLst>
                  <a:path w="301" h="319"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251" y="0"/>
                    </a:moveTo>
                    <a:lnTo>
                      <a:pt x="251" y="0"/>
                    </a:lnTo>
                    <a:lnTo>
                      <a:pt x="242" y="1"/>
                    </a:lnTo>
                    <a:lnTo>
                      <a:pt x="242" y="1"/>
                    </a:lnTo>
                    <a:lnTo>
                      <a:pt x="235" y="3"/>
                    </a:lnTo>
                    <a:lnTo>
                      <a:pt x="227" y="6"/>
                    </a:lnTo>
                    <a:lnTo>
                      <a:pt x="218" y="11"/>
                    </a:lnTo>
                    <a:lnTo>
                      <a:pt x="207" y="21"/>
                    </a:lnTo>
                    <a:lnTo>
                      <a:pt x="207" y="21"/>
                    </a:lnTo>
                    <a:lnTo>
                      <a:pt x="177" y="48"/>
                    </a:lnTo>
                    <a:lnTo>
                      <a:pt x="151" y="74"/>
                    </a:lnTo>
                    <a:lnTo>
                      <a:pt x="151" y="74"/>
                    </a:lnTo>
                    <a:lnTo>
                      <a:pt x="129" y="98"/>
                    </a:lnTo>
                    <a:lnTo>
                      <a:pt x="109" y="118"/>
                    </a:lnTo>
                    <a:lnTo>
                      <a:pt x="109" y="118"/>
                    </a:lnTo>
                    <a:lnTo>
                      <a:pt x="99" y="127"/>
                    </a:lnTo>
                    <a:lnTo>
                      <a:pt x="99" y="127"/>
                    </a:lnTo>
                    <a:lnTo>
                      <a:pt x="96" y="135"/>
                    </a:lnTo>
                    <a:lnTo>
                      <a:pt x="96" y="135"/>
                    </a:lnTo>
                    <a:lnTo>
                      <a:pt x="89" y="162"/>
                    </a:lnTo>
                    <a:lnTo>
                      <a:pt x="89" y="162"/>
                    </a:lnTo>
                    <a:lnTo>
                      <a:pt x="88" y="164"/>
                    </a:lnTo>
                    <a:lnTo>
                      <a:pt x="87" y="165"/>
                    </a:lnTo>
                    <a:lnTo>
                      <a:pt x="87" y="165"/>
                    </a:lnTo>
                    <a:lnTo>
                      <a:pt x="87" y="164"/>
                    </a:lnTo>
                    <a:lnTo>
                      <a:pt x="87" y="162"/>
                    </a:lnTo>
                    <a:lnTo>
                      <a:pt x="87" y="162"/>
                    </a:lnTo>
                    <a:lnTo>
                      <a:pt x="93" y="133"/>
                    </a:lnTo>
                    <a:lnTo>
                      <a:pt x="93" y="133"/>
                    </a:lnTo>
                    <a:lnTo>
                      <a:pt x="80" y="147"/>
                    </a:lnTo>
                    <a:lnTo>
                      <a:pt x="80" y="147"/>
                    </a:lnTo>
                    <a:lnTo>
                      <a:pt x="79" y="153"/>
                    </a:lnTo>
                    <a:lnTo>
                      <a:pt x="79" y="153"/>
                    </a:lnTo>
                    <a:lnTo>
                      <a:pt x="76" y="162"/>
                    </a:lnTo>
                    <a:lnTo>
                      <a:pt x="74" y="174"/>
                    </a:lnTo>
                    <a:lnTo>
                      <a:pt x="74" y="174"/>
                    </a:lnTo>
                    <a:lnTo>
                      <a:pt x="71" y="186"/>
                    </a:lnTo>
                    <a:lnTo>
                      <a:pt x="68" y="192"/>
                    </a:lnTo>
                    <a:lnTo>
                      <a:pt x="68" y="192"/>
                    </a:lnTo>
                    <a:lnTo>
                      <a:pt x="68" y="191"/>
                    </a:lnTo>
                    <a:lnTo>
                      <a:pt x="68" y="191"/>
                    </a:lnTo>
                    <a:lnTo>
                      <a:pt x="67" y="189"/>
                    </a:lnTo>
                    <a:lnTo>
                      <a:pt x="66" y="186"/>
                    </a:lnTo>
                    <a:lnTo>
                      <a:pt x="64" y="183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59" y="175"/>
                    </a:lnTo>
                    <a:lnTo>
                      <a:pt x="58" y="174"/>
                    </a:lnTo>
                    <a:lnTo>
                      <a:pt x="58" y="174"/>
                    </a:lnTo>
                    <a:lnTo>
                      <a:pt x="59" y="192"/>
                    </a:lnTo>
                    <a:lnTo>
                      <a:pt x="59" y="207"/>
                    </a:lnTo>
                    <a:lnTo>
                      <a:pt x="59" y="207"/>
                    </a:lnTo>
                    <a:lnTo>
                      <a:pt x="60" y="250"/>
                    </a:lnTo>
                    <a:lnTo>
                      <a:pt x="63" y="290"/>
                    </a:lnTo>
                    <a:lnTo>
                      <a:pt x="63" y="290"/>
                    </a:lnTo>
                    <a:lnTo>
                      <a:pt x="63" y="294"/>
                    </a:lnTo>
                    <a:lnTo>
                      <a:pt x="66" y="295"/>
                    </a:lnTo>
                    <a:lnTo>
                      <a:pt x="68" y="296"/>
                    </a:lnTo>
                    <a:lnTo>
                      <a:pt x="70" y="299"/>
                    </a:lnTo>
                    <a:lnTo>
                      <a:pt x="70" y="299"/>
                    </a:lnTo>
                    <a:lnTo>
                      <a:pt x="72" y="305"/>
                    </a:lnTo>
                    <a:lnTo>
                      <a:pt x="72" y="309"/>
                    </a:lnTo>
                    <a:lnTo>
                      <a:pt x="71" y="313"/>
                    </a:lnTo>
                    <a:lnTo>
                      <a:pt x="71" y="313"/>
                    </a:lnTo>
                    <a:lnTo>
                      <a:pt x="70" y="315"/>
                    </a:lnTo>
                    <a:lnTo>
                      <a:pt x="67" y="316"/>
                    </a:lnTo>
                    <a:lnTo>
                      <a:pt x="67" y="316"/>
                    </a:lnTo>
                    <a:lnTo>
                      <a:pt x="63" y="315"/>
                    </a:lnTo>
                    <a:lnTo>
                      <a:pt x="59" y="315"/>
                    </a:lnTo>
                    <a:lnTo>
                      <a:pt x="59" y="315"/>
                    </a:lnTo>
                    <a:lnTo>
                      <a:pt x="51" y="313"/>
                    </a:lnTo>
                    <a:lnTo>
                      <a:pt x="42" y="312"/>
                    </a:lnTo>
                    <a:lnTo>
                      <a:pt x="42" y="312"/>
                    </a:lnTo>
                    <a:lnTo>
                      <a:pt x="33" y="309"/>
                    </a:lnTo>
                    <a:lnTo>
                      <a:pt x="29" y="308"/>
                    </a:lnTo>
                    <a:lnTo>
                      <a:pt x="24" y="308"/>
                    </a:lnTo>
                    <a:lnTo>
                      <a:pt x="24" y="308"/>
                    </a:lnTo>
                    <a:lnTo>
                      <a:pt x="21" y="308"/>
                    </a:lnTo>
                    <a:lnTo>
                      <a:pt x="21" y="308"/>
                    </a:lnTo>
                    <a:lnTo>
                      <a:pt x="34" y="312"/>
                    </a:lnTo>
                    <a:lnTo>
                      <a:pt x="34" y="312"/>
                    </a:lnTo>
                    <a:lnTo>
                      <a:pt x="47" y="316"/>
                    </a:lnTo>
                    <a:lnTo>
                      <a:pt x="59" y="319"/>
                    </a:lnTo>
                    <a:lnTo>
                      <a:pt x="59" y="319"/>
                    </a:lnTo>
                    <a:lnTo>
                      <a:pt x="66" y="317"/>
                    </a:lnTo>
                    <a:lnTo>
                      <a:pt x="66" y="317"/>
                    </a:lnTo>
                    <a:lnTo>
                      <a:pt x="68" y="316"/>
                    </a:lnTo>
                    <a:lnTo>
                      <a:pt x="71" y="315"/>
                    </a:lnTo>
                    <a:lnTo>
                      <a:pt x="75" y="309"/>
                    </a:lnTo>
                    <a:lnTo>
                      <a:pt x="7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84" y="280"/>
                    </a:lnTo>
                    <a:lnTo>
                      <a:pt x="91" y="265"/>
                    </a:lnTo>
                    <a:lnTo>
                      <a:pt x="102" y="242"/>
                    </a:lnTo>
                    <a:lnTo>
                      <a:pt x="120" y="213"/>
                    </a:lnTo>
                    <a:lnTo>
                      <a:pt x="120" y="213"/>
                    </a:lnTo>
                    <a:lnTo>
                      <a:pt x="130" y="196"/>
                    </a:lnTo>
                    <a:lnTo>
                      <a:pt x="141" y="181"/>
                    </a:lnTo>
                    <a:lnTo>
                      <a:pt x="167" y="148"/>
                    </a:lnTo>
                    <a:lnTo>
                      <a:pt x="196" y="118"/>
                    </a:lnTo>
                    <a:lnTo>
                      <a:pt x="223" y="89"/>
                    </a:lnTo>
                    <a:lnTo>
                      <a:pt x="223" y="89"/>
                    </a:lnTo>
                    <a:lnTo>
                      <a:pt x="248" y="65"/>
                    </a:lnTo>
                    <a:lnTo>
                      <a:pt x="269" y="49"/>
                    </a:lnTo>
                    <a:lnTo>
                      <a:pt x="285" y="39"/>
                    </a:lnTo>
                    <a:lnTo>
                      <a:pt x="295" y="34"/>
                    </a:lnTo>
                    <a:lnTo>
                      <a:pt x="295" y="34"/>
                    </a:lnTo>
                    <a:lnTo>
                      <a:pt x="298" y="32"/>
                    </a:lnTo>
                    <a:lnTo>
                      <a:pt x="299" y="31"/>
                    </a:lnTo>
                    <a:lnTo>
                      <a:pt x="301" y="28"/>
                    </a:lnTo>
                    <a:lnTo>
                      <a:pt x="301" y="27"/>
                    </a:lnTo>
                    <a:lnTo>
                      <a:pt x="298" y="24"/>
                    </a:lnTo>
                    <a:lnTo>
                      <a:pt x="295" y="22"/>
                    </a:lnTo>
                    <a:lnTo>
                      <a:pt x="295" y="22"/>
                    </a:lnTo>
                    <a:lnTo>
                      <a:pt x="285" y="15"/>
                    </a:lnTo>
                    <a:lnTo>
                      <a:pt x="285" y="15"/>
                    </a:lnTo>
                    <a:lnTo>
                      <a:pt x="280" y="15"/>
                    </a:lnTo>
                    <a:lnTo>
                      <a:pt x="280" y="15"/>
                    </a:lnTo>
                    <a:lnTo>
                      <a:pt x="277" y="14"/>
                    </a:lnTo>
                    <a:lnTo>
                      <a:pt x="274" y="13"/>
                    </a:lnTo>
                    <a:lnTo>
                      <a:pt x="265" y="6"/>
                    </a:lnTo>
                    <a:lnTo>
                      <a:pt x="265" y="6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59" y="2"/>
                    </a:lnTo>
                    <a:lnTo>
                      <a:pt x="259" y="2"/>
                    </a:lnTo>
                    <a:lnTo>
                      <a:pt x="255" y="1"/>
                    </a:lnTo>
                    <a:lnTo>
                      <a:pt x="25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899" name="Freeform 724">
                <a:extLst>
                  <a:ext uri="{FF2B5EF4-FFF2-40B4-BE49-F238E27FC236}">
                    <a16:creationId xmlns:a16="http://schemas.microsoft.com/office/drawing/2014/main" id="{60B35357-3738-33C3-FB1D-BBB5BAEEC297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0" name="Rectangle 725">
                <a:extLst>
                  <a:ext uri="{FF2B5EF4-FFF2-40B4-BE49-F238E27FC236}">
                    <a16:creationId xmlns:a16="http://schemas.microsoft.com/office/drawing/2014/main" id="{033F4FEE-1BD3-B83E-37FC-ACBFE6814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1" name="Freeform 726">
                <a:extLst>
                  <a:ext uri="{FF2B5EF4-FFF2-40B4-BE49-F238E27FC236}">
                    <a16:creationId xmlns:a16="http://schemas.microsoft.com/office/drawing/2014/main" id="{0269C0D7-977E-69C2-1587-402EA3844D80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01927" y="1843958"/>
                <a:ext cx="235650" cy="295320"/>
              </a:xfrm>
              <a:custGeom>
                <a:avLst/>
                <a:gdLst/>
                <a:ahLst/>
                <a:cxnLst>
                  <a:cxn ang="0">
                    <a:pos x="221" y="1"/>
                  </a:cxn>
                  <a:cxn ang="0">
                    <a:pos x="206" y="6"/>
                  </a:cxn>
                  <a:cxn ang="0">
                    <a:pos x="186" y="21"/>
                  </a:cxn>
                  <a:cxn ang="0">
                    <a:pos x="130" y="74"/>
                  </a:cxn>
                  <a:cxn ang="0">
                    <a:pos x="88" y="118"/>
                  </a:cxn>
                  <a:cxn ang="0">
                    <a:pos x="75" y="135"/>
                  </a:cxn>
                  <a:cxn ang="0">
                    <a:pos x="68" y="162"/>
                  </a:cxn>
                  <a:cxn ang="0">
                    <a:pos x="66" y="165"/>
                  </a:cxn>
                  <a:cxn ang="0">
                    <a:pos x="66" y="162"/>
                  </a:cxn>
                  <a:cxn ang="0">
                    <a:pos x="59" y="147"/>
                  </a:cxn>
                  <a:cxn ang="0">
                    <a:pos x="58" y="153"/>
                  </a:cxn>
                  <a:cxn ang="0">
                    <a:pos x="53" y="174"/>
                  </a:cxn>
                  <a:cxn ang="0">
                    <a:pos x="47" y="192"/>
                  </a:cxn>
                  <a:cxn ang="0">
                    <a:pos x="46" y="189"/>
                  </a:cxn>
                  <a:cxn ang="0">
                    <a:pos x="39" y="179"/>
                  </a:cxn>
                  <a:cxn ang="0">
                    <a:pos x="39" y="181"/>
                  </a:cxn>
                  <a:cxn ang="0">
                    <a:pos x="38" y="175"/>
                  </a:cxn>
                  <a:cxn ang="0">
                    <a:pos x="38" y="192"/>
                  </a:cxn>
                  <a:cxn ang="0">
                    <a:pos x="39" y="250"/>
                  </a:cxn>
                  <a:cxn ang="0">
                    <a:pos x="42" y="294"/>
                  </a:cxn>
                  <a:cxn ang="0">
                    <a:pos x="49" y="299"/>
                  </a:cxn>
                  <a:cxn ang="0">
                    <a:pos x="51" y="309"/>
                  </a:cxn>
                  <a:cxn ang="0">
                    <a:pos x="49" y="315"/>
                  </a:cxn>
                  <a:cxn ang="0">
                    <a:pos x="42" y="315"/>
                  </a:cxn>
                  <a:cxn ang="0">
                    <a:pos x="30" y="313"/>
                  </a:cxn>
                  <a:cxn ang="0">
                    <a:pos x="12" y="309"/>
                  </a:cxn>
                  <a:cxn ang="0">
                    <a:pos x="3" y="308"/>
                  </a:cxn>
                  <a:cxn ang="0">
                    <a:pos x="13" y="312"/>
                  </a:cxn>
                  <a:cxn ang="0">
                    <a:pos x="38" y="319"/>
                  </a:cxn>
                  <a:cxn ang="0">
                    <a:pos x="45" y="317"/>
                  </a:cxn>
                  <a:cxn ang="0">
                    <a:pos x="54" y="309"/>
                  </a:cxn>
                  <a:cxn ang="0">
                    <a:pos x="59" y="292"/>
                  </a:cxn>
                  <a:cxn ang="0">
                    <a:pos x="81" y="242"/>
                  </a:cxn>
                  <a:cxn ang="0">
                    <a:pos x="109" y="196"/>
                  </a:cxn>
                  <a:cxn ang="0">
                    <a:pos x="175" y="118"/>
                  </a:cxn>
                  <a:cxn ang="0">
                    <a:pos x="227" y="65"/>
                  </a:cxn>
                  <a:cxn ang="0">
                    <a:pos x="274" y="34"/>
                  </a:cxn>
                  <a:cxn ang="0">
                    <a:pos x="278" y="31"/>
                  </a:cxn>
                  <a:cxn ang="0">
                    <a:pos x="277" y="24"/>
                  </a:cxn>
                  <a:cxn ang="0">
                    <a:pos x="264" y="15"/>
                  </a:cxn>
                  <a:cxn ang="0">
                    <a:pos x="259" y="15"/>
                  </a:cxn>
                  <a:cxn ang="0">
                    <a:pos x="244" y="6"/>
                  </a:cxn>
                  <a:cxn ang="0">
                    <a:pos x="239" y="3"/>
                  </a:cxn>
                  <a:cxn ang="0">
                    <a:pos x="240" y="5"/>
                  </a:cxn>
                  <a:cxn ang="0">
                    <a:pos x="238" y="2"/>
                  </a:cxn>
                </a:cxnLst>
                <a:rect l="0" t="0" r="r" b="b"/>
                <a:pathLst>
                  <a:path w="280" h="319">
                    <a:moveTo>
                      <a:pt x="230" y="0"/>
                    </a:moveTo>
                    <a:lnTo>
                      <a:pt x="230" y="0"/>
                    </a:lnTo>
                    <a:lnTo>
                      <a:pt x="221" y="1"/>
                    </a:lnTo>
                    <a:lnTo>
                      <a:pt x="221" y="1"/>
                    </a:lnTo>
                    <a:lnTo>
                      <a:pt x="214" y="3"/>
                    </a:lnTo>
                    <a:lnTo>
                      <a:pt x="206" y="6"/>
                    </a:lnTo>
                    <a:lnTo>
                      <a:pt x="197" y="11"/>
                    </a:lnTo>
                    <a:lnTo>
                      <a:pt x="186" y="21"/>
                    </a:lnTo>
                    <a:lnTo>
                      <a:pt x="186" y="21"/>
                    </a:lnTo>
                    <a:lnTo>
                      <a:pt x="156" y="48"/>
                    </a:lnTo>
                    <a:lnTo>
                      <a:pt x="130" y="74"/>
                    </a:lnTo>
                    <a:lnTo>
                      <a:pt x="130" y="74"/>
                    </a:lnTo>
                    <a:lnTo>
                      <a:pt x="108" y="98"/>
                    </a:lnTo>
                    <a:lnTo>
                      <a:pt x="88" y="118"/>
                    </a:lnTo>
                    <a:lnTo>
                      <a:pt x="88" y="118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5" y="135"/>
                    </a:lnTo>
                    <a:lnTo>
                      <a:pt x="75" y="135"/>
                    </a:lnTo>
                    <a:lnTo>
                      <a:pt x="68" y="162"/>
                    </a:lnTo>
                    <a:lnTo>
                      <a:pt x="68" y="162"/>
                    </a:lnTo>
                    <a:lnTo>
                      <a:pt x="67" y="164"/>
                    </a:lnTo>
                    <a:lnTo>
                      <a:pt x="66" y="165"/>
                    </a:lnTo>
                    <a:lnTo>
                      <a:pt x="66" y="165"/>
                    </a:lnTo>
                    <a:lnTo>
                      <a:pt x="66" y="164"/>
                    </a:lnTo>
                    <a:lnTo>
                      <a:pt x="66" y="162"/>
                    </a:lnTo>
                    <a:lnTo>
                      <a:pt x="66" y="162"/>
                    </a:lnTo>
                    <a:lnTo>
                      <a:pt x="72" y="133"/>
                    </a:lnTo>
                    <a:lnTo>
                      <a:pt x="72" y="133"/>
                    </a:lnTo>
                    <a:lnTo>
                      <a:pt x="59" y="147"/>
                    </a:lnTo>
                    <a:lnTo>
                      <a:pt x="59" y="147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5" y="162"/>
                    </a:lnTo>
                    <a:lnTo>
                      <a:pt x="53" y="174"/>
                    </a:lnTo>
                    <a:lnTo>
                      <a:pt x="53" y="174"/>
                    </a:lnTo>
                    <a:lnTo>
                      <a:pt x="50" y="186"/>
                    </a:lnTo>
                    <a:lnTo>
                      <a:pt x="47" y="192"/>
                    </a:lnTo>
                    <a:lnTo>
                      <a:pt x="47" y="192"/>
                    </a:lnTo>
                    <a:lnTo>
                      <a:pt x="47" y="191"/>
                    </a:lnTo>
                    <a:lnTo>
                      <a:pt x="47" y="191"/>
                    </a:lnTo>
                    <a:lnTo>
                      <a:pt x="46" y="189"/>
                    </a:lnTo>
                    <a:lnTo>
                      <a:pt x="45" y="186"/>
                    </a:lnTo>
                    <a:lnTo>
                      <a:pt x="43" y="183"/>
                    </a:lnTo>
                    <a:lnTo>
                      <a:pt x="39" y="179"/>
                    </a:lnTo>
                    <a:lnTo>
                      <a:pt x="39" y="179"/>
                    </a:lnTo>
                    <a:lnTo>
                      <a:pt x="39" y="181"/>
                    </a:lnTo>
                    <a:lnTo>
                      <a:pt x="39" y="181"/>
                    </a:lnTo>
                    <a:lnTo>
                      <a:pt x="39" y="177"/>
                    </a:lnTo>
                    <a:lnTo>
                      <a:pt x="39" y="177"/>
                    </a:lnTo>
                    <a:lnTo>
                      <a:pt x="38" y="175"/>
                    </a:lnTo>
                    <a:lnTo>
                      <a:pt x="37" y="174"/>
                    </a:lnTo>
                    <a:lnTo>
                      <a:pt x="37" y="174"/>
                    </a:lnTo>
                    <a:lnTo>
                      <a:pt x="38" y="192"/>
                    </a:lnTo>
                    <a:lnTo>
                      <a:pt x="38" y="207"/>
                    </a:lnTo>
                    <a:lnTo>
                      <a:pt x="38" y="207"/>
                    </a:lnTo>
                    <a:lnTo>
                      <a:pt x="39" y="250"/>
                    </a:lnTo>
                    <a:lnTo>
                      <a:pt x="42" y="290"/>
                    </a:lnTo>
                    <a:lnTo>
                      <a:pt x="42" y="290"/>
                    </a:lnTo>
                    <a:lnTo>
                      <a:pt x="42" y="294"/>
                    </a:lnTo>
                    <a:lnTo>
                      <a:pt x="45" y="295"/>
                    </a:lnTo>
                    <a:lnTo>
                      <a:pt x="47" y="296"/>
                    </a:lnTo>
                    <a:lnTo>
                      <a:pt x="49" y="299"/>
                    </a:lnTo>
                    <a:lnTo>
                      <a:pt x="49" y="299"/>
                    </a:lnTo>
                    <a:lnTo>
                      <a:pt x="51" y="305"/>
                    </a:lnTo>
                    <a:lnTo>
                      <a:pt x="51" y="309"/>
                    </a:lnTo>
                    <a:lnTo>
                      <a:pt x="50" y="313"/>
                    </a:lnTo>
                    <a:lnTo>
                      <a:pt x="50" y="313"/>
                    </a:lnTo>
                    <a:lnTo>
                      <a:pt x="49" y="315"/>
                    </a:lnTo>
                    <a:lnTo>
                      <a:pt x="46" y="316"/>
                    </a:lnTo>
                    <a:lnTo>
                      <a:pt x="46" y="316"/>
                    </a:lnTo>
                    <a:lnTo>
                      <a:pt x="42" y="315"/>
                    </a:lnTo>
                    <a:lnTo>
                      <a:pt x="38" y="315"/>
                    </a:lnTo>
                    <a:lnTo>
                      <a:pt x="38" y="315"/>
                    </a:lnTo>
                    <a:lnTo>
                      <a:pt x="30" y="313"/>
                    </a:lnTo>
                    <a:lnTo>
                      <a:pt x="21" y="312"/>
                    </a:lnTo>
                    <a:lnTo>
                      <a:pt x="21" y="312"/>
                    </a:lnTo>
                    <a:lnTo>
                      <a:pt x="12" y="309"/>
                    </a:lnTo>
                    <a:lnTo>
                      <a:pt x="8" y="308"/>
                    </a:lnTo>
                    <a:lnTo>
                      <a:pt x="3" y="308"/>
                    </a:lnTo>
                    <a:lnTo>
                      <a:pt x="3" y="308"/>
                    </a:lnTo>
                    <a:lnTo>
                      <a:pt x="0" y="308"/>
                    </a:lnTo>
                    <a:lnTo>
                      <a:pt x="0" y="308"/>
                    </a:lnTo>
                    <a:lnTo>
                      <a:pt x="13" y="312"/>
                    </a:lnTo>
                    <a:lnTo>
                      <a:pt x="13" y="312"/>
                    </a:lnTo>
                    <a:lnTo>
                      <a:pt x="26" y="316"/>
                    </a:lnTo>
                    <a:lnTo>
                      <a:pt x="38" y="319"/>
                    </a:lnTo>
                    <a:lnTo>
                      <a:pt x="38" y="319"/>
                    </a:lnTo>
                    <a:lnTo>
                      <a:pt x="45" y="317"/>
                    </a:lnTo>
                    <a:lnTo>
                      <a:pt x="45" y="317"/>
                    </a:lnTo>
                    <a:lnTo>
                      <a:pt x="47" y="316"/>
                    </a:lnTo>
                    <a:lnTo>
                      <a:pt x="50" y="315"/>
                    </a:lnTo>
                    <a:lnTo>
                      <a:pt x="54" y="309"/>
                    </a:lnTo>
                    <a:lnTo>
                      <a:pt x="57" y="301"/>
                    </a:lnTo>
                    <a:lnTo>
                      <a:pt x="59" y="292"/>
                    </a:lnTo>
                    <a:lnTo>
                      <a:pt x="59" y="292"/>
                    </a:lnTo>
                    <a:lnTo>
                      <a:pt x="63" y="280"/>
                    </a:lnTo>
                    <a:lnTo>
                      <a:pt x="70" y="265"/>
                    </a:lnTo>
                    <a:lnTo>
                      <a:pt x="81" y="242"/>
                    </a:lnTo>
                    <a:lnTo>
                      <a:pt x="99" y="213"/>
                    </a:lnTo>
                    <a:lnTo>
                      <a:pt x="99" y="213"/>
                    </a:lnTo>
                    <a:lnTo>
                      <a:pt x="109" y="196"/>
                    </a:lnTo>
                    <a:lnTo>
                      <a:pt x="120" y="181"/>
                    </a:lnTo>
                    <a:lnTo>
                      <a:pt x="146" y="148"/>
                    </a:lnTo>
                    <a:lnTo>
                      <a:pt x="175" y="118"/>
                    </a:lnTo>
                    <a:lnTo>
                      <a:pt x="202" y="89"/>
                    </a:lnTo>
                    <a:lnTo>
                      <a:pt x="202" y="89"/>
                    </a:lnTo>
                    <a:lnTo>
                      <a:pt x="227" y="65"/>
                    </a:lnTo>
                    <a:lnTo>
                      <a:pt x="248" y="49"/>
                    </a:lnTo>
                    <a:lnTo>
                      <a:pt x="264" y="39"/>
                    </a:lnTo>
                    <a:lnTo>
                      <a:pt x="274" y="34"/>
                    </a:lnTo>
                    <a:lnTo>
                      <a:pt x="274" y="34"/>
                    </a:lnTo>
                    <a:lnTo>
                      <a:pt x="277" y="32"/>
                    </a:lnTo>
                    <a:lnTo>
                      <a:pt x="278" y="31"/>
                    </a:lnTo>
                    <a:lnTo>
                      <a:pt x="280" y="28"/>
                    </a:lnTo>
                    <a:lnTo>
                      <a:pt x="280" y="27"/>
                    </a:lnTo>
                    <a:lnTo>
                      <a:pt x="277" y="24"/>
                    </a:lnTo>
                    <a:lnTo>
                      <a:pt x="274" y="22"/>
                    </a:lnTo>
                    <a:lnTo>
                      <a:pt x="274" y="22"/>
                    </a:lnTo>
                    <a:lnTo>
                      <a:pt x="264" y="15"/>
                    </a:lnTo>
                    <a:lnTo>
                      <a:pt x="264" y="15"/>
                    </a:lnTo>
                    <a:lnTo>
                      <a:pt x="259" y="15"/>
                    </a:lnTo>
                    <a:lnTo>
                      <a:pt x="259" y="15"/>
                    </a:lnTo>
                    <a:lnTo>
                      <a:pt x="256" y="14"/>
                    </a:lnTo>
                    <a:lnTo>
                      <a:pt x="253" y="13"/>
                    </a:lnTo>
                    <a:lnTo>
                      <a:pt x="244" y="6"/>
                    </a:lnTo>
                    <a:lnTo>
                      <a:pt x="244" y="6"/>
                    </a:lnTo>
                    <a:lnTo>
                      <a:pt x="239" y="3"/>
                    </a:lnTo>
                    <a:lnTo>
                      <a:pt x="239" y="3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38" y="2"/>
                    </a:lnTo>
                    <a:lnTo>
                      <a:pt x="238" y="2"/>
                    </a:lnTo>
                    <a:lnTo>
                      <a:pt x="234" y="1"/>
                    </a:lnTo>
                    <a:lnTo>
                      <a:pt x="23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2" name="Freeform 727">
                <a:extLst>
                  <a:ext uri="{FF2B5EF4-FFF2-40B4-BE49-F238E27FC236}">
                    <a16:creationId xmlns:a16="http://schemas.microsoft.com/office/drawing/2014/main" id="{3263B6D8-A3F4-9433-A13D-C5BD45D8F5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544406" y="1745602"/>
                <a:ext cx="68171" cy="262918"/>
              </a:xfrm>
              <a:custGeom>
                <a:avLst/>
                <a:gdLst/>
                <a:ahLst/>
                <a:cxnLst>
                  <a:cxn ang="0">
                    <a:pos x="24" y="279"/>
                  </a:cxn>
                  <a:cxn ang="0">
                    <a:pos x="45" y="284"/>
                  </a:cxn>
                  <a:cxn ang="0">
                    <a:pos x="33" y="281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10" y="170"/>
                  </a:cxn>
                  <a:cxn ang="0">
                    <a:pos x="14" y="209"/>
                  </a:cxn>
                  <a:cxn ang="0">
                    <a:pos x="16" y="243"/>
                  </a:cxn>
                  <a:cxn ang="0">
                    <a:pos x="16" y="262"/>
                  </a:cxn>
                  <a:cxn ang="0">
                    <a:pos x="16" y="272"/>
                  </a:cxn>
                  <a:cxn ang="0">
                    <a:pos x="20" y="277"/>
                  </a:cxn>
                  <a:cxn ang="0">
                    <a:pos x="24" y="279"/>
                  </a:cxn>
                  <a:cxn ang="0">
                    <a:pos x="18" y="271"/>
                  </a:cxn>
                  <a:cxn ang="0">
                    <a:pos x="20" y="259"/>
                  </a:cxn>
                  <a:cxn ang="0">
                    <a:pos x="25" y="245"/>
                  </a:cxn>
                  <a:cxn ang="0">
                    <a:pos x="32" y="229"/>
                  </a:cxn>
                  <a:cxn ang="0">
                    <a:pos x="42" y="207"/>
                  </a:cxn>
                  <a:cxn ang="0">
                    <a:pos x="54" y="186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9" y="147"/>
                  </a:cxn>
                  <a:cxn ang="0">
                    <a:pos x="78" y="144"/>
                  </a:cxn>
                  <a:cxn ang="0">
                    <a:pos x="77" y="129"/>
                  </a:cxn>
                  <a:cxn ang="0">
                    <a:pos x="74" y="116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5"/>
                  </a:cxn>
                  <a:cxn ang="0">
                    <a:pos x="73" y="16"/>
                  </a:cxn>
                  <a:cxn ang="0">
                    <a:pos x="69" y="12"/>
                  </a:cxn>
                  <a:cxn ang="0">
                    <a:pos x="57" y="8"/>
                  </a:cxn>
                  <a:cxn ang="0">
                    <a:pos x="39" y="6"/>
                  </a:cxn>
                  <a:cxn ang="0">
                    <a:pos x="20" y="2"/>
                  </a:cxn>
                  <a:cxn ang="0">
                    <a:pos x="8" y="0"/>
                  </a:cxn>
                </a:cxnLst>
                <a:rect l="0" t="0" r="r" b="b"/>
                <a:pathLst>
                  <a:path w="81" h="284">
                    <a:moveTo>
                      <a:pt x="24" y="279"/>
                    </a:moveTo>
                    <a:lnTo>
                      <a:pt x="24" y="279"/>
                    </a:lnTo>
                    <a:lnTo>
                      <a:pt x="35" y="281"/>
                    </a:lnTo>
                    <a:lnTo>
                      <a:pt x="45" y="284"/>
                    </a:lnTo>
                    <a:lnTo>
                      <a:pt x="45" y="284"/>
                    </a:lnTo>
                    <a:lnTo>
                      <a:pt x="33" y="281"/>
                    </a:lnTo>
                    <a:lnTo>
                      <a:pt x="33" y="281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3" name="Freeform 728">
                <a:extLst>
                  <a:ext uri="{FF2B5EF4-FFF2-40B4-BE49-F238E27FC236}">
                    <a16:creationId xmlns:a16="http://schemas.microsoft.com/office/drawing/2014/main" id="{4236F584-FAA6-15F5-6891-D0DAF508EF08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86903" y="1820373"/>
                <a:ext cx="17674" cy="46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1" y="2"/>
                  </a:cxn>
                  <a:cxn ang="0">
                    <a:pos x="21" y="5"/>
                  </a:cxn>
                  <a:cxn ang="0">
                    <a:pos x="21" y="5"/>
                  </a:cxn>
                  <a:cxn ang="0">
                    <a:pos x="9" y="2"/>
                  </a:cxn>
                  <a:cxn ang="0">
                    <a:pos x="9" y="2"/>
                  </a:cxn>
                  <a:cxn ang="0">
                    <a:pos x="0" y="0"/>
                  </a:cxn>
                </a:cxnLst>
                <a:rect l="0" t="0" r="r" b="b"/>
                <a:pathLst>
                  <a:path w="21" h="5">
                    <a:moveTo>
                      <a:pt x="0" y="0"/>
                    </a:moveTo>
                    <a:lnTo>
                      <a:pt x="0" y="0"/>
                    </a:lnTo>
                    <a:lnTo>
                      <a:pt x="11" y="2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4" name="Freeform 729">
                <a:extLst>
                  <a:ext uri="{FF2B5EF4-FFF2-40B4-BE49-F238E27FC236}">
                    <a16:creationId xmlns:a16="http://schemas.microsoft.com/office/drawing/2014/main" id="{434DCB59-B570-7FAE-3406-3A40C7E170E9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5" name="Freeform 730">
                <a:extLst>
                  <a:ext uri="{FF2B5EF4-FFF2-40B4-BE49-F238E27FC236}">
                    <a16:creationId xmlns:a16="http://schemas.microsoft.com/office/drawing/2014/main" id="{614B8BA9-5AD6-996F-B8DD-FAF9E2B21813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6" name="Freeform 731">
                <a:extLst>
                  <a:ext uri="{FF2B5EF4-FFF2-40B4-BE49-F238E27FC236}">
                    <a16:creationId xmlns:a16="http://schemas.microsoft.com/office/drawing/2014/main" id="{D5E9BEB9-0EF0-C6AE-4F5B-B71FA7677B67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42271" y="1748807"/>
                <a:ext cx="68171" cy="25828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2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6" y="120"/>
                  </a:cxn>
                  <a:cxn ang="0">
                    <a:pos x="10" y="170"/>
                  </a:cxn>
                  <a:cxn ang="0">
                    <a:pos x="16" y="243"/>
                  </a:cxn>
                  <a:cxn ang="0">
                    <a:pos x="15" y="253"/>
                  </a:cxn>
                  <a:cxn ang="0">
                    <a:pos x="16" y="262"/>
                  </a:cxn>
                  <a:cxn ang="0">
                    <a:pos x="19" y="276"/>
                  </a:cxn>
                  <a:cxn ang="0">
                    <a:pos x="24" y="279"/>
                  </a:cxn>
                  <a:cxn ang="0">
                    <a:pos x="20" y="276"/>
                  </a:cxn>
                  <a:cxn ang="0">
                    <a:pos x="18" y="266"/>
                  </a:cxn>
                  <a:cxn ang="0">
                    <a:pos x="20" y="259"/>
                  </a:cxn>
                  <a:cxn ang="0">
                    <a:pos x="32" y="229"/>
                  </a:cxn>
                  <a:cxn ang="0">
                    <a:pos x="36" y="220"/>
                  </a:cxn>
                  <a:cxn ang="0">
                    <a:pos x="54" y="186"/>
                  </a:cxn>
                  <a:cxn ang="0">
                    <a:pos x="65" y="168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8" y="144"/>
                  </a:cxn>
                  <a:cxn ang="0">
                    <a:pos x="77" y="136"/>
                  </a:cxn>
                  <a:cxn ang="0">
                    <a:pos x="77" y="129"/>
                  </a:cxn>
                  <a:cxn ang="0">
                    <a:pos x="74" y="107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0"/>
                  </a:cxn>
                  <a:cxn ang="0">
                    <a:pos x="69" y="12"/>
                  </a:cxn>
                  <a:cxn ang="0">
                    <a:pos x="62" y="10"/>
                  </a:cxn>
                  <a:cxn ang="0">
                    <a:pos x="39" y="6"/>
                  </a:cxn>
                  <a:cxn ang="0">
                    <a:pos x="28" y="4"/>
                  </a:cxn>
                  <a:cxn ang="0">
                    <a:pos x="14" y="0"/>
                  </a:cxn>
                </a:cxnLst>
                <a:rect l="0" t="0" r="r" b="b"/>
                <a:pathLst>
                  <a:path w="81" h="279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7" name="Freeform 732">
                <a:extLst>
                  <a:ext uri="{FF2B5EF4-FFF2-40B4-BE49-F238E27FC236}">
                    <a16:creationId xmlns:a16="http://schemas.microsoft.com/office/drawing/2014/main" id="{4B92037D-1C28-0882-7D4B-EB52302075FD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18087" y="1795710"/>
                <a:ext cx="65645" cy="132385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8" name="Freeform 733">
                <a:extLst>
                  <a:ext uri="{FF2B5EF4-FFF2-40B4-BE49-F238E27FC236}">
                    <a16:creationId xmlns:a16="http://schemas.microsoft.com/office/drawing/2014/main" id="{6F94A6AA-B1A1-54F3-EB26-703ADDA0D2FA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18087" y="1795710"/>
                <a:ext cx="65645" cy="132385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09" name="Freeform 736">
                <a:extLst>
                  <a:ext uri="{FF2B5EF4-FFF2-40B4-BE49-F238E27FC236}">
                    <a16:creationId xmlns:a16="http://schemas.microsoft.com/office/drawing/2014/main" id="{73BF7E3D-4E33-C409-D7E2-14153100A1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575771" y="1897449"/>
                <a:ext cx="34506" cy="60175"/>
              </a:xfrm>
              <a:custGeom>
                <a:avLst/>
                <a:gdLst/>
                <a:ahLst/>
                <a:cxnLst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47"/>
                  </a:cxn>
                  <a:cxn ang="0">
                    <a:pos x="0" y="47"/>
                  </a:cxn>
                  <a:cxn ang="0">
                    <a:pos x="1" y="48"/>
                  </a:cxn>
                  <a:cxn ang="0">
                    <a:pos x="2" y="50"/>
                  </a:cxn>
                  <a:cxn ang="0">
                    <a:pos x="2" y="50"/>
                  </a:cxn>
                  <a:cxn ang="0">
                    <a:pos x="2" y="54"/>
                  </a:cxn>
                  <a:cxn ang="0">
                    <a:pos x="2" y="54"/>
                  </a:cxn>
                  <a:cxn ang="0">
                    <a:pos x="2" y="52"/>
                  </a:cxn>
                  <a:cxn ang="0">
                    <a:pos x="6" y="56"/>
                  </a:cxn>
                  <a:cxn ang="0">
                    <a:pos x="6" y="56"/>
                  </a:cxn>
                  <a:cxn ang="0">
                    <a:pos x="8" y="59"/>
                  </a:cxn>
                  <a:cxn ang="0">
                    <a:pos x="9" y="62"/>
                  </a:cxn>
                  <a:cxn ang="0">
                    <a:pos x="10" y="64"/>
                  </a:cxn>
                  <a:cxn ang="0">
                    <a:pos x="10" y="64"/>
                  </a:cxn>
                  <a:cxn ang="0">
                    <a:pos x="10" y="65"/>
                  </a:cxn>
                  <a:cxn ang="0">
                    <a:pos x="10" y="65"/>
                  </a:cxn>
                  <a:cxn ang="0">
                    <a:pos x="13" y="59"/>
                  </a:cxn>
                  <a:cxn ang="0">
                    <a:pos x="16" y="47"/>
                  </a:cxn>
                  <a:cxn ang="0">
                    <a:pos x="16" y="47"/>
                  </a:cxn>
                  <a:cxn ang="0">
                    <a:pos x="18" y="35"/>
                  </a:cxn>
                  <a:cxn ang="0">
                    <a:pos x="21" y="26"/>
                  </a:cxn>
                  <a:cxn ang="0">
                    <a:pos x="21" y="26"/>
                  </a:cxn>
                  <a:cxn ang="0">
                    <a:pos x="22" y="2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5" y="6"/>
                  </a:cxn>
                  <a:cxn ang="0">
                    <a:pos x="35" y="6"/>
                  </a:cxn>
                  <a:cxn ang="0">
                    <a:pos x="29" y="35"/>
                  </a:cxn>
                  <a:cxn ang="0">
                    <a:pos x="29" y="35"/>
                  </a:cxn>
                  <a:cxn ang="0">
                    <a:pos x="29" y="37"/>
                  </a:cxn>
                  <a:cxn ang="0">
                    <a:pos x="29" y="38"/>
                  </a:cxn>
                  <a:cxn ang="0">
                    <a:pos x="29" y="38"/>
                  </a:cxn>
                  <a:cxn ang="0">
                    <a:pos x="30" y="37"/>
                  </a:cxn>
                  <a:cxn ang="0">
                    <a:pos x="31" y="35"/>
                  </a:cxn>
                  <a:cxn ang="0">
                    <a:pos x="31" y="35"/>
                  </a:cxn>
                  <a:cxn ang="0">
                    <a:pos x="38" y="8"/>
                  </a:cxn>
                  <a:cxn ang="0">
                    <a:pos x="38" y="8"/>
                  </a:cxn>
                  <a:cxn ang="0">
                    <a:pos x="41" y="0"/>
                  </a:cxn>
                </a:cxnLst>
                <a:rect l="0" t="0" r="r" b="b"/>
                <a:pathLst>
                  <a:path w="41" h="65">
                    <a:moveTo>
                      <a:pt x="22" y="20"/>
                    </a:moveTo>
                    <a:lnTo>
                      <a:pt x="22" y="20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8" y="59"/>
                    </a:lnTo>
                    <a:lnTo>
                      <a:pt x="9" y="62"/>
                    </a:lnTo>
                    <a:lnTo>
                      <a:pt x="10" y="64"/>
                    </a:lnTo>
                    <a:lnTo>
                      <a:pt x="10" y="64"/>
                    </a:lnTo>
                    <a:lnTo>
                      <a:pt x="10" y="65"/>
                    </a:lnTo>
                    <a:lnTo>
                      <a:pt x="10" y="65"/>
                    </a:lnTo>
                    <a:lnTo>
                      <a:pt x="13" y="59"/>
                    </a:lnTo>
                    <a:lnTo>
                      <a:pt x="16" y="47"/>
                    </a:lnTo>
                    <a:lnTo>
                      <a:pt x="16" y="47"/>
                    </a:lnTo>
                    <a:lnTo>
                      <a:pt x="18" y="35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2" y="20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9" y="35"/>
                    </a:lnTo>
                    <a:lnTo>
                      <a:pt x="29" y="35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30" y="37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8" y="8"/>
                    </a:lnTo>
                    <a:lnTo>
                      <a:pt x="38" y="8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0" name="Freeform 737">
                <a:extLst>
                  <a:ext uri="{FF2B5EF4-FFF2-40B4-BE49-F238E27FC236}">
                    <a16:creationId xmlns:a16="http://schemas.microsoft.com/office/drawing/2014/main" id="{A69DBCDE-D152-0C81-0248-88C8BB2818EF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89233" y="1895763"/>
                <a:ext cx="18515" cy="41660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0" y="24"/>
                  </a:cxn>
                  <a:cxn ang="0">
                    <a:pos x="0" y="24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1" y="28"/>
                  </a:cxn>
                  <a:cxn ang="0">
                    <a:pos x="2" y="30"/>
                  </a:cxn>
                  <a:cxn ang="0">
                    <a:pos x="2" y="30"/>
                  </a:cxn>
                  <a:cxn ang="0">
                    <a:pos x="2" y="34"/>
                  </a:cxn>
                  <a:cxn ang="0">
                    <a:pos x="2" y="34"/>
                  </a:cxn>
                  <a:cxn ang="0">
                    <a:pos x="2" y="32"/>
                  </a:cxn>
                  <a:cxn ang="0">
                    <a:pos x="6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0" y="44"/>
                  </a:cxn>
                  <a:cxn ang="0">
                    <a:pos x="10" y="45"/>
                  </a:cxn>
                  <a:cxn ang="0">
                    <a:pos x="10" y="45"/>
                  </a:cxn>
                  <a:cxn ang="0">
                    <a:pos x="13" y="39"/>
                  </a:cxn>
                  <a:cxn ang="0">
                    <a:pos x="16" y="27"/>
                  </a:cxn>
                  <a:cxn ang="0">
                    <a:pos x="16" y="27"/>
                  </a:cxn>
                  <a:cxn ang="0">
                    <a:pos x="18" y="15"/>
                  </a:cxn>
                  <a:cxn ang="0">
                    <a:pos x="21" y="6"/>
                  </a:cxn>
                  <a:cxn ang="0">
                    <a:pos x="21" y="6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22" y="0"/>
                    </a:lnTo>
                    <a:lnTo>
                      <a:pt x="22" y="0"/>
                    </a:lnTo>
                    <a:lnTo>
                      <a:pt x="22" y="0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8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5"/>
                    </a:lnTo>
                    <a:lnTo>
                      <a:pt x="13" y="39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8" y="15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2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1" name="Freeform 738">
                <a:extLst>
                  <a:ext uri="{FF2B5EF4-FFF2-40B4-BE49-F238E27FC236}">
                    <a16:creationId xmlns:a16="http://schemas.microsoft.com/office/drawing/2014/main" id="{1E7CA450-25DC-7456-C80C-914F956C60FC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81137" y="1926020"/>
                <a:ext cx="10099" cy="35179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0" y="35"/>
                  </a:cxn>
                  <a:cxn ang="0">
                    <a:pos x="0" y="35"/>
                  </a:cxn>
                  <a:cxn ang="0">
                    <a:pos x="0" y="37"/>
                  </a:cxn>
                  <a:cxn ang="0">
                    <a:pos x="0" y="38"/>
                  </a:cxn>
                  <a:cxn ang="0">
                    <a:pos x="0" y="38"/>
                  </a:cxn>
                  <a:cxn ang="0">
                    <a:pos x="1" y="37"/>
                  </a:cxn>
                  <a:cxn ang="0">
                    <a:pos x="2" y="35"/>
                  </a:cxn>
                  <a:cxn ang="0">
                    <a:pos x="2" y="35"/>
                  </a:cxn>
                  <a:cxn ang="0">
                    <a:pos x="9" y="8"/>
                  </a:cxn>
                  <a:cxn ang="0">
                    <a:pos x="9" y="8"/>
                  </a:cxn>
                  <a:cxn ang="0">
                    <a:pos x="12" y="0"/>
                  </a:cxn>
                </a:cxnLst>
                <a:rect l="0" t="0" r="r" b="b"/>
                <a:pathLst>
                  <a:path w="12" h="38"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1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2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2" name="Freeform 739">
                <a:extLst>
                  <a:ext uri="{FF2B5EF4-FFF2-40B4-BE49-F238E27FC236}">
                    <a16:creationId xmlns:a16="http://schemas.microsoft.com/office/drawing/2014/main" id="{5E01C6F5-CD2C-E168-1E04-EF35199BDEB2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68477" y="1887182"/>
                <a:ext cx="6733" cy="5369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3" name="Freeform 740">
                <a:extLst>
                  <a:ext uri="{FF2B5EF4-FFF2-40B4-BE49-F238E27FC236}">
                    <a16:creationId xmlns:a16="http://schemas.microsoft.com/office/drawing/2014/main" id="{754945CB-E161-0536-12B0-5F3D7117BEA6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68477" y="1887182"/>
                <a:ext cx="6733" cy="5369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4" name="Freeform 741">
                <a:extLst>
                  <a:ext uri="{FF2B5EF4-FFF2-40B4-BE49-F238E27FC236}">
                    <a16:creationId xmlns:a16="http://schemas.microsoft.com/office/drawing/2014/main" id="{B60AFA84-ACC9-4B68-7BFC-73DC91A400A6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96907" y="1905203"/>
                <a:ext cx="842" cy="277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15" name="Freeform 742">
                <a:extLst>
                  <a:ext uri="{FF2B5EF4-FFF2-40B4-BE49-F238E27FC236}">
                    <a16:creationId xmlns:a16="http://schemas.microsoft.com/office/drawing/2014/main" id="{4CFB649E-701B-8740-AA95-D129AEDF9864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96907" y="1905203"/>
                <a:ext cx="842" cy="277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A4C7FB9B-755C-A611-D872-12477ED4907D}"/>
              </a:ext>
            </a:extLst>
          </p:cNvPr>
          <p:cNvGrpSpPr/>
          <p:nvPr/>
        </p:nvGrpSpPr>
        <p:grpSpPr>
          <a:xfrm rot="20711847">
            <a:off x="8517480" y="4166450"/>
            <a:ext cx="297988" cy="278656"/>
            <a:chOff x="5186718" y="1813851"/>
            <a:chExt cx="580694" cy="370891"/>
          </a:xfrm>
          <a:solidFill>
            <a:srgbClr val="767171"/>
          </a:solidFill>
        </p:grpSpPr>
        <p:sp>
          <p:nvSpPr>
            <p:cNvPr id="984" name="Freeform 734">
              <a:extLst>
                <a:ext uri="{FF2B5EF4-FFF2-40B4-BE49-F238E27FC236}">
                  <a16:creationId xmlns:a16="http://schemas.microsoft.com/office/drawing/2014/main" id="{8436C4C4-46C7-BFDE-0DD5-8B2BFDC97DEA}"/>
                </a:ext>
              </a:extLst>
            </p:cNvPr>
            <p:cNvSpPr>
              <a:spLocks/>
            </p:cNvSpPr>
            <p:nvPr/>
          </p:nvSpPr>
          <p:spPr bwMode="auto">
            <a:xfrm rot="4041578" flipV="1">
              <a:off x="5318050" y="1852265"/>
              <a:ext cx="201145" cy="463810"/>
            </a:xfrm>
            <a:custGeom>
              <a:avLst/>
              <a:gdLst/>
              <a:ahLst/>
              <a:cxnLst>
                <a:cxn ang="0">
                  <a:pos x="180" y="1"/>
                </a:cxn>
                <a:cxn ang="0">
                  <a:pos x="175" y="4"/>
                </a:cxn>
                <a:cxn ang="0">
                  <a:pos x="146" y="47"/>
                </a:cxn>
                <a:cxn ang="0">
                  <a:pos x="107" y="116"/>
                </a:cxn>
                <a:cxn ang="0">
                  <a:pos x="80" y="164"/>
                </a:cxn>
                <a:cxn ang="0">
                  <a:pos x="46" y="263"/>
                </a:cxn>
                <a:cxn ang="0">
                  <a:pos x="27" y="331"/>
                </a:cxn>
                <a:cxn ang="0">
                  <a:pos x="0" y="445"/>
                </a:cxn>
                <a:cxn ang="0">
                  <a:pos x="4" y="486"/>
                </a:cxn>
                <a:cxn ang="0">
                  <a:pos x="29" y="477"/>
                </a:cxn>
                <a:cxn ang="0">
                  <a:pos x="29" y="477"/>
                </a:cxn>
                <a:cxn ang="0">
                  <a:pos x="53" y="372"/>
                </a:cxn>
                <a:cxn ang="0">
                  <a:pos x="90" y="245"/>
                </a:cxn>
                <a:cxn ang="0">
                  <a:pos x="95" y="239"/>
                </a:cxn>
                <a:cxn ang="0">
                  <a:pos x="95" y="240"/>
                </a:cxn>
                <a:cxn ang="0">
                  <a:pos x="97" y="238"/>
                </a:cxn>
                <a:cxn ang="0">
                  <a:pos x="109" y="211"/>
                </a:cxn>
                <a:cxn ang="0">
                  <a:pos x="116" y="197"/>
                </a:cxn>
                <a:cxn ang="0">
                  <a:pos x="107" y="224"/>
                </a:cxn>
                <a:cxn ang="0">
                  <a:pos x="95" y="261"/>
                </a:cxn>
                <a:cxn ang="0">
                  <a:pos x="57" y="398"/>
                </a:cxn>
                <a:cxn ang="0">
                  <a:pos x="42" y="463"/>
                </a:cxn>
                <a:cxn ang="0">
                  <a:pos x="48" y="457"/>
                </a:cxn>
                <a:cxn ang="0">
                  <a:pos x="62" y="400"/>
                </a:cxn>
                <a:cxn ang="0">
                  <a:pos x="79" y="337"/>
                </a:cxn>
                <a:cxn ang="0">
                  <a:pos x="103" y="280"/>
                </a:cxn>
                <a:cxn ang="0">
                  <a:pos x="133" y="209"/>
                </a:cxn>
                <a:cxn ang="0">
                  <a:pos x="133" y="209"/>
                </a:cxn>
                <a:cxn ang="0">
                  <a:pos x="128" y="221"/>
                </a:cxn>
                <a:cxn ang="0">
                  <a:pos x="132" y="217"/>
                </a:cxn>
                <a:cxn ang="0">
                  <a:pos x="150" y="179"/>
                </a:cxn>
                <a:cxn ang="0">
                  <a:pos x="166" y="147"/>
                </a:cxn>
                <a:cxn ang="0">
                  <a:pos x="180" y="122"/>
                </a:cxn>
                <a:cxn ang="0">
                  <a:pos x="183" y="123"/>
                </a:cxn>
                <a:cxn ang="0">
                  <a:pos x="174" y="140"/>
                </a:cxn>
                <a:cxn ang="0">
                  <a:pos x="159" y="164"/>
                </a:cxn>
                <a:cxn ang="0">
                  <a:pos x="146" y="192"/>
                </a:cxn>
                <a:cxn ang="0">
                  <a:pos x="141" y="203"/>
                </a:cxn>
                <a:cxn ang="0">
                  <a:pos x="142" y="202"/>
                </a:cxn>
                <a:cxn ang="0">
                  <a:pos x="159" y="168"/>
                </a:cxn>
                <a:cxn ang="0">
                  <a:pos x="205" y="93"/>
                </a:cxn>
                <a:cxn ang="0">
                  <a:pos x="239" y="53"/>
                </a:cxn>
                <a:cxn ang="0">
                  <a:pos x="239" y="47"/>
                </a:cxn>
                <a:cxn ang="0">
                  <a:pos x="230" y="34"/>
                </a:cxn>
                <a:cxn ang="0">
                  <a:pos x="205" y="12"/>
                </a:cxn>
                <a:cxn ang="0">
                  <a:pos x="192" y="1"/>
                </a:cxn>
              </a:cxnLst>
              <a:rect l="0" t="0" r="r" b="b"/>
              <a:pathLst>
                <a:path w="239" h="501">
                  <a:moveTo>
                    <a:pt x="188" y="0"/>
                  </a:moveTo>
                  <a:lnTo>
                    <a:pt x="188" y="0"/>
                  </a:lnTo>
                  <a:lnTo>
                    <a:pt x="180" y="1"/>
                  </a:lnTo>
                  <a:lnTo>
                    <a:pt x="180" y="1"/>
                  </a:lnTo>
                  <a:lnTo>
                    <a:pt x="176" y="3"/>
                  </a:lnTo>
                  <a:lnTo>
                    <a:pt x="175" y="4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46" y="47"/>
                  </a:lnTo>
                  <a:lnTo>
                    <a:pt x="146" y="47"/>
                  </a:lnTo>
                  <a:lnTo>
                    <a:pt x="125" y="83"/>
                  </a:lnTo>
                  <a:lnTo>
                    <a:pt x="107" y="116"/>
                  </a:lnTo>
                  <a:lnTo>
                    <a:pt x="88" y="148"/>
                  </a:lnTo>
                  <a:lnTo>
                    <a:pt x="88" y="148"/>
                  </a:lnTo>
                  <a:lnTo>
                    <a:pt x="80" y="164"/>
                  </a:lnTo>
                  <a:lnTo>
                    <a:pt x="72" y="184"/>
                  </a:lnTo>
                  <a:lnTo>
                    <a:pt x="58" y="223"/>
                  </a:lnTo>
                  <a:lnTo>
                    <a:pt x="46" y="263"/>
                  </a:lnTo>
                  <a:lnTo>
                    <a:pt x="36" y="297"/>
                  </a:lnTo>
                  <a:lnTo>
                    <a:pt x="36" y="297"/>
                  </a:lnTo>
                  <a:lnTo>
                    <a:pt x="27" y="331"/>
                  </a:lnTo>
                  <a:lnTo>
                    <a:pt x="15" y="375"/>
                  </a:lnTo>
                  <a:lnTo>
                    <a:pt x="0" y="445"/>
                  </a:lnTo>
                  <a:lnTo>
                    <a:pt x="0" y="445"/>
                  </a:lnTo>
                  <a:lnTo>
                    <a:pt x="2" y="469"/>
                  </a:lnTo>
                  <a:lnTo>
                    <a:pt x="4" y="486"/>
                  </a:lnTo>
                  <a:lnTo>
                    <a:pt x="4" y="486"/>
                  </a:lnTo>
                  <a:lnTo>
                    <a:pt x="7" y="501"/>
                  </a:lnTo>
                  <a:lnTo>
                    <a:pt x="7" y="501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41" y="423"/>
                  </a:lnTo>
                  <a:lnTo>
                    <a:pt x="53" y="372"/>
                  </a:lnTo>
                  <a:lnTo>
                    <a:pt x="53" y="372"/>
                  </a:lnTo>
                  <a:lnTo>
                    <a:pt x="72" y="305"/>
                  </a:lnTo>
                  <a:lnTo>
                    <a:pt x="83" y="266"/>
                  </a:lnTo>
                  <a:lnTo>
                    <a:pt x="90" y="245"/>
                  </a:lnTo>
                  <a:lnTo>
                    <a:pt x="90" y="245"/>
                  </a:lnTo>
                  <a:lnTo>
                    <a:pt x="93" y="240"/>
                  </a:lnTo>
                  <a:lnTo>
                    <a:pt x="95" y="239"/>
                  </a:lnTo>
                  <a:lnTo>
                    <a:pt x="95" y="239"/>
                  </a:lnTo>
                  <a:lnTo>
                    <a:pt x="95" y="240"/>
                  </a:lnTo>
                  <a:lnTo>
                    <a:pt x="95" y="240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7" y="238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109" y="211"/>
                  </a:lnTo>
                  <a:lnTo>
                    <a:pt x="114" y="198"/>
                  </a:lnTo>
                  <a:lnTo>
                    <a:pt x="114" y="198"/>
                  </a:lnTo>
                  <a:lnTo>
                    <a:pt x="116" y="197"/>
                  </a:lnTo>
                  <a:lnTo>
                    <a:pt x="116" y="197"/>
                  </a:lnTo>
                  <a:lnTo>
                    <a:pt x="113" y="206"/>
                  </a:lnTo>
                  <a:lnTo>
                    <a:pt x="107" y="224"/>
                  </a:lnTo>
                  <a:lnTo>
                    <a:pt x="107" y="224"/>
                  </a:lnTo>
                  <a:lnTo>
                    <a:pt x="95" y="261"/>
                  </a:lnTo>
                  <a:lnTo>
                    <a:pt x="95" y="261"/>
                  </a:lnTo>
                  <a:lnTo>
                    <a:pt x="62" y="373"/>
                  </a:lnTo>
                  <a:lnTo>
                    <a:pt x="62" y="373"/>
                  </a:lnTo>
                  <a:lnTo>
                    <a:pt x="57" y="398"/>
                  </a:lnTo>
                  <a:lnTo>
                    <a:pt x="51" y="423"/>
                  </a:lnTo>
                  <a:lnTo>
                    <a:pt x="51" y="423"/>
                  </a:lnTo>
                  <a:lnTo>
                    <a:pt x="42" y="463"/>
                  </a:lnTo>
                  <a:lnTo>
                    <a:pt x="42" y="463"/>
                  </a:lnTo>
                  <a:lnTo>
                    <a:pt x="48" y="457"/>
                  </a:lnTo>
                  <a:lnTo>
                    <a:pt x="48" y="457"/>
                  </a:lnTo>
                  <a:lnTo>
                    <a:pt x="53" y="437"/>
                  </a:lnTo>
                  <a:lnTo>
                    <a:pt x="53" y="437"/>
                  </a:lnTo>
                  <a:lnTo>
                    <a:pt x="62" y="400"/>
                  </a:lnTo>
                  <a:lnTo>
                    <a:pt x="62" y="400"/>
                  </a:lnTo>
                  <a:lnTo>
                    <a:pt x="71" y="368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103" y="280"/>
                  </a:lnTo>
                  <a:lnTo>
                    <a:pt x="103" y="280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0" y="213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2" y="217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50" y="179"/>
                  </a:lnTo>
                  <a:lnTo>
                    <a:pt x="150" y="179"/>
                  </a:lnTo>
                  <a:lnTo>
                    <a:pt x="166" y="147"/>
                  </a:lnTo>
                  <a:lnTo>
                    <a:pt x="166" y="147"/>
                  </a:lnTo>
                  <a:lnTo>
                    <a:pt x="172" y="135"/>
                  </a:lnTo>
                  <a:lnTo>
                    <a:pt x="180" y="122"/>
                  </a:lnTo>
                  <a:lnTo>
                    <a:pt x="180" y="122"/>
                  </a:lnTo>
                  <a:lnTo>
                    <a:pt x="183" y="121"/>
                  </a:lnTo>
                  <a:lnTo>
                    <a:pt x="183" y="121"/>
                  </a:lnTo>
                  <a:lnTo>
                    <a:pt x="183" y="123"/>
                  </a:lnTo>
                  <a:lnTo>
                    <a:pt x="180" y="126"/>
                  </a:lnTo>
                  <a:lnTo>
                    <a:pt x="180" y="126"/>
                  </a:lnTo>
                  <a:lnTo>
                    <a:pt x="174" y="140"/>
                  </a:lnTo>
                  <a:lnTo>
                    <a:pt x="174" y="140"/>
                  </a:lnTo>
                  <a:lnTo>
                    <a:pt x="167" y="151"/>
                  </a:lnTo>
                  <a:lnTo>
                    <a:pt x="159" y="164"/>
                  </a:lnTo>
                  <a:lnTo>
                    <a:pt x="159" y="164"/>
                  </a:lnTo>
                  <a:lnTo>
                    <a:pt x="153" y="176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2" y="200"/>
                  </a:lnTo>
                  <a:lnTo>
                    <a:pt x="141" y="203"/>
                  </a:lnTo>
                  <a:lnTo>
                    <a:pt x="141" y="203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50" y="185"/>
                  </a:lnTo>
                  <a:lnTo>
                    <a:pt x="159" y="168"/>
                  </a:lnTo>
                  <a:lnTo>
                    <a:pt x="159" y="168"/>
                  </a:lnTo>
                  <a:lnTo>
                    <a:pt x="180" y="133"/>
                  </a:lnTo>
                  <a:lnTo>
                    <a:pt x="180" y="133"/>
                  </a:lnTo>
                  <a:lnTo>
                    <a:pt x="205" y="93"/>
                  </a:lnTo>
                  <a:lnTo>
                    <a:pt x="205" y="93"/>
                  </a:lnTo>
                  <a:lnTo>
                    <a:pt x="222" y="72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0"/>
                  </a:lnTo>
                  <a:lnTo>
                    <a:pt x="239" y="47"/>
                  </a:lnTo>
                  <a:lnTo>
                    <a:pt x="237" y="42"/>
                  </a:lnTo>
                  <a:lnTo>
                    <a:pt x="234" y="37"/>
                  </a:lnTo>
                  <a:lnTo>
                    <a:pt x="230" y="34"/>
                  </a:lnTo>
                  <a:lnTo>
                    <a:pt x="230" y="34"/>
                  </a:lnTo>
                  <a:lnTo>
                    <a:pt x="217" y="24"/>
                  </a:lnTo>
                  <a:lnTo>
                    <a:pt x="205" y="12"/>
                  </a:lnTo>
                  <a:lnTo>
                    <a:pt x="205" y="12"/>
                  </a:lnTo>
                  <a:lnTo>
                    <a:pt x="198" y="7"/>
                  </a:lnTo>
                  <a:lnTo>
                    <a:pt x="192" y="1"/>
                  </a:lnTo>
                  <a:lnTo>
                    <a:pt x="192" y="1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985" name="Freeform 735">
              <a:extLst>
                <a:ext uri="{FF2B5EF4-FFF2-40B4-BE49-F238E27FC236}">
                  <a16:creationId xmlns:a16="http://schemas.microsoft.com/office/drawing/2014/main" id="{D9BC4E63-3372-D4B9-09CB-1E6C71E1BCB7}"/>
                </a:ext>
              </a:extLst>
            </p:cNvPr>
            <p:cNvSpPr>
              <a:spLocks/>
            </p:cNvSpPr>
            <p:nvPr/>
          </p:nvSpPr>
          <p:spPr bwMode="auto">
            <a:xfrm rot="4041578" flipV="1">
              <a:off x="5318050" y="1852265"/>
              <a:ext cx="201145" cy="463810"/>
            </a:xfrm>
            <a:custGeom>
              <a:avLst/>
              <a:gdLst/>
              <a:ahLst/>
              <a:cxnLst>
                <a:cxn ang="0">
                  <a:pos x="180" y="1"/>
                </a:cxn>
                <a:cxn ang="0">
                  <a:pos x="175" y="4"/>
                </a:cxn>
                <a:cxn ang="0">
                  <a:pos x="146" y="47"/>
                </a:cxn>
                <a:cxn ang="0">
                  <a:pos x="107" y="116"/>
                </a:cxn>
                <a:cxn ang="0">
                  <a:pos x="80" y="164"/>
                </a:cxn>
                <a:cxn ang="0">
                  <a:pos x="46" y="263"/>
                </a:cxn>
                <a:cxn ang="0">
                  <a:pos x="27" y="331"/>
                </a:cxn>
                <a:cxn ang="0">
                  <a:pos x="0" y="445"/>
                </a:cxn>
                <a:cxn ang="0">
                  <a:pos x="4" y="486"/>
                </a:cxn>
                <a:cxn ang="0">
                  <a:pos x="29" y="477"/>
                </a:cxn>
                <a:cxn ang="0">
                  <a:pos x="29" y="477"/>
                </a:cxn>
                <a:cxn ang="0">
                  <a:pos x="53" y="372"/>
                </a:cxn>
                <a:cxn ang="0">
                  <a:pos x="90" y="245"/>
                </a:cxn>
                <a:cxn ang="0">
                  <a:pos x="95" y="239"/>
                </a:cxn>
                <a:cxn ang="0">
                  <a:pos x="95" y="240"/>
                </a:cxn>
                <a:cxn ang="0">
                  <a:pos x="97" y="238"/>
                </a:cxn>
                <a:cxn ang="0">
                  <a:pos x="109" y="211"/>
                </a:cxn>
                <a:cxn ang="0">
                  <a:pos x="116" y="197"/>
                </a:cxn>
                <a:cxn ang="0">
                  <a:pos x="107" y="224"/>
                </a:cxn>
                <a:cxn ang="0">
                  <a:pos x="95" y="261"/>
                </a:cxn>
                <a:cxn ang="0">
                  <a:pos x="57" y="398"/>
                </a:cxn>
                <a:cxn ang="0">
                  <a:pos x="42" y="463"/>
                </a:cxn>
                <a:cxn ang="0">
                  <a:pos x="48" y="457"/>
                </a:cxn>
                <a:cxn ang="0">
                  <a:pos x="62" y="400"/>
                </a:cxn>
                <a:cxn ang="0">
                  <a:pos x="79" y="337"/>
                </a:cxn>
                <a:cxn ang="0">
                  <a:pos x="103" y="280"/>
                </a:cxn>
                <a:cxn ang="0">
                  <a:pos x="133" y="209"/>
                </a:cxn>
                <a:cxn ang="0">
                  <a:pos x="133" y="209"/>
                </a:cxn>
                <a:cxn ang="0">
                  <a:pos x="128" y="221"/>
                </a:cxn>
                <a:cxn ang="0">
                  <a:pos x="132" y="217"/>
                </a:cxn>
                <a:cxn ang="0">
                  <a:pos x="150" y="179"/>
                </a:cxn>
                <a:cxn ang="0">
                  <a:pos x="166" y="147"/>
                </a:cxn>
                <a:cxn ang="0">
                  <a:pos x="180" y="122"/>
                </a:cxn>
                <a:cxn ang="0">
                  <a:pos x="183" y="123"/>
                </a:cxn>
                <a:cxn ang="0">
                  <a:pos x="174" y="140"/>
                </a:cxn>
                <a:cxn ang="0">
                  <a:pos x="159" y="164"/>
                </a:cxn>
                <a:cxn ang="0">
                  <a:pos x="146" y="192"/>
                </a:cxn>
                <a:cxn ang="0">
                  <a:pos x="141" y="203"/>
                </a:cxn>
                <a:cxn ang="0">
                  <a:pos x="142" y="202"/>
                </a:cxn>
                <a:cxn ang="0">
                  <a:pos x="159" y="168"/>
                </a:cxn>
                <a:cxn ang="0">
                  <a:pos x="205" y="93"/>
                </a:cxn>
                <a:cxn ang="0">
                  <a:pos x="239" y="53"/>
                </a:cxn>
                <a:cxn ang="0">
                  <a:pos x="239" y="47"/>
                </a:cxn>
                <a:cxn ang="0">
                  <a:pos x="230" y="34"/>
                </a:cxn>
                <a:cxn ang="0">
                  <a:pos x="205" y="12"/>
                </a:cxn>
                <a:cxn ang="0">
                  <a:pos x="192" y="1"/>
                </a:cxn>
              </a:cxnLst>
              <a:rect l="0" t="0" r="r" b="b"/>
              <a:pathLst>
                <a:path w="239" h="501">
                  <a:moveTo>
                    <a:pt x="188" y="0"/>
                  </a:moveTo>
                  <a:lnTo>
                    <a:pt x="188" y="0"/>
                  </a:lnTo>
                  <a:lnTo>
                    <a:pt x="180" y="1"/>
                  </a:lnTo>
                  <a:lnTo>
                    <a:pt x="180" y="1"/>
                  </a:lnTo>
                  <a:lnTo>
                    <a:pt x="176" y="3"/>
                  </a:lnTo>
                  <a:lnTo>
                    <a:pt x="175" y="4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46" y="47"/>
                  </a:lnTo>
                  <a:lnTo>
                    <a:pt x="146" y="47"/>
                  </a:lnTo>
                  <a:lnTo>
                    <a:pt x="125" y="83"/>
                  </a:lnTo>
                  <a:lnTo>
                    <a:pt x="107" y="116"/>
                  </a:lnTo>
                  <a:lnTo>
                    <a:pt x="88" y="148"/>
                  </a:lnTo>
                  <a:lnTo>
                    <a:pt x="88" y="148"/>
                  </a:lnTo>
                  <a:lnTo>
                    <a:pt x="80" y="164"/>
                  </a:lnTo>
                  <a:lnTo>
                    <a:pt x="72" y="184"/>
                  </a:lnTo>
                  <a:lnTo>
                    <a:pt x="58" y="223"/>
                  </a:lnTo>
                  <a:lnTo>
                    <a:pt x="46" y="263"/>
                  </a:lnTo>
                  <a:lnTo>
                    <a:pt x="36" y="297"/>
                  </a:lnTo>
                  <a:lnTo>
                    <a:pt x="36" y="297"/>
                  </a:lnTo>
                  <a:lnTo>
                    <a:pt x="27" y="331"/>
                  </a:lnTo>
                  <a:lnTo>
                    <a:pt x="15" y="375"/>
                  </a:lnTo>
                  <a:lnTo>
                    <a:pt x="0" y="445"/>
                  </a:lnTo>
                  <a:lnTo>
                    <a:pt x="0" y="445"/>
                  </a:lnTo>
                  <a:lnTo>
                    <a:pt x="2" y="469"/>
                  </a:lnTo>
                  <a:lnTo>
                    <a:pt x="4" y="486"/>
                  </a:lnTo>
                  <a:lnTo>
                    <a:pt x="4" y="486"/>
                  </a:lnTo>
                  <a:lnTo>
                    <a:pt x="7" y="501"/>
                  </a:lnTo>
                  <a:lnTo>
                    <a:pt x="7" y="501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29" y="477"/>
                  </a:lnTo>
                  <a:lnTo>
                    <a:pt x="41" y="423"/>
                  </a:lnTo>
                  <a:lnTo>
                    <a:pt x="53" y="372"/>
                  </a:lnTo>
                  <a:lnTo>
                    <a:pt x="53" y="372"/>
                  </a:lnTo>
                  <a:lnTo>
                    <a:pt x="72" y="305"/>
                  </a:lnTo>
                  <a:lnTo>
                    <a:pt x="83" y="266"/>
                  </a:lnTo>
                  <a:lnTo>
                    <a:pt x="90" y="245"/>
                  </a:lnTo>
                  <a:lnTo>
                    <a:pt x="90" y="245"/>
                  </a:lnTo>
                  <a:lnTo>
                    <a:pt x="93" y="240"/>
                  </a:lnTo>
                  <a:lnTo>
                    <a:pt x="95" y="239"/>
                  </a:lnTo>
                  <a:lnTo>
                    <a:pt x="95" y="239"/>
                  </a:lnTo>
                  <a:lnTo>
                    <a:pt x="95" y="240"/>
                  </a:lnTo>
                  <a:lnTo>
                    <a:pt x="95" y="240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7" y="238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109" y="211"/>
                  </a:lnTo>
                  <a:lnTo>
                    <a:pt x="114" y="198"/>
                  </a:lnTo>
                  <a:lnTo>
                    <a:pt x="114" y="198"/>
                  </a:lnTo>
                  <a:lnTo>
                    <a:pt x="116" y="197"/>
                  </a:lnTo>
                  <a:lnTo>
                    <a:pt x="116" y="197"/>
                  </a:lnTo>
                  <a:lnTo>
                    <a:pt x="113" y="206"/>
                  </a:lnTo>
                  <a:lnTo>
                    <a:pt x="107" y="224"/>
                  </a:lnTo>
                  <a:lnTo>
                    <a:pt x="107" y="224"/>
                  </a:lnTo>
                  <a:lnTo>
                    <a:pt x="95" y="261"/>
                  </a:lnTo>
                  <a:lnTo>
                    <a:pt x="95" y="261"/>
                  </a:lnTo>
                  <a:lnTo>
                    <a:pt x="62" y="373"/>
                  </a:lnTo>
                  <a:lnTo>
                    <a:pt x="62" y="373"/>
                  </a:lnTo>
                  <a:lnTo>
                    <a:pt x="57" y="398"/>
                  </a:lnTo>
                  <a:lnTo>
                    <a:pt x="51" y="423"/>
                  </a:lnTo>
                  <a:lnTo>
                    <a:pt x="51" y="423"/>
                  </a:lnTo>
                  <a:lnTo>
                    <a:pt x="42" y="463"/>
                  </a:lnTo>
                  <a:lnTo>
                    <a:pt x="42" y="463"/>
                  </a:lnTo>
                  <a:lnTo>
                    <a:pt x="48" y="457"/>
                  </a:lnTo>
                  <a:lnTo>
                    <a:pt x="48" y="457"/>
                  </a:lnTo>
                  <a:lnTo>
                    <a:pt x="53" y="437"/>
                  </a:lnTo>
                  <a:lnTo>
                    <a:pt x="53" y="437"/>
                  </a:lnTo>
                  <a:lnTo>
                    <a:pt x="62" y="400"/>
                  </a:lnTo>
                  <a:lnTo>
                    <a:pt x="62" y="400"/>
                  </a:lnTo>
                  <a:lnTo>
                    <a:pt x="71" y="368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103" y="280"/>
                  </a:lnTo>
                  <a:lnTo>
                    <a:pt x="103" y="280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3" y="209"/>
                  </a:lnTo>
                  <a:lnTo>
                    <a:pt x="130" y="213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2" y="217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50" y="179"/>
                  </a:lnTo>
                  <a:lnTo>
                    <a:pt x="150" y="179"/>
                  </a:lnTo>
                  <a:lnTo>
                    <a:pt x="166" y="147"/>
                  </a:lnTo>
                  <a:lnTo>
                    <a:pt x="166" y="147"/>
                  </a:lnTo>
                  <a:lnTo>
                    <a:pt x="172" y="135"/>
                  </a:lnTo>
                  <a:lnTo>
                    <a:pt x="180" y="122"/>
                  </a:lnTo>
                  <a:lnTo>
                    <a:pt x="180" y="122"/>
                  </a:lnTo>
                  <a:lnTo>
                    <a:pt x="183" y="121"/>
                  </a:lnTo>
                  <a:lnTo>
                    <a:pt x="183" y="121"/>
                  </a:lnTo>
                  <a:lnTo>
                    <a:pt x="183" y="123"/>
                  </a:lnTo>
                  <a:lnTo>
                    <a:pt x="180" y="126"/>
                  </a:lnTo>
                  <a:lnTo>
                    <a:pt x="180" y="126"/>
                  </a:lnTo>
                  <a:lnTo>
                    <a:pt x="174" y="140"/>
                  </a:lnTo>
                  <a:lnTo>
                    <a:pt x="174" y="140"/>
                  </a:lnTo>
                  <a:lnTo>
                    <a:pt x="167" y="151"/>
                  </a:lnTo>
                  <a:lnTo>
                    <a:pt x="159" y="164"/>
                  </a:lnTo>
                  <a:lnTo>
                    <a:pt x="159" y="164"/>
                  </a:lnTo>
                  <a:lnTo>
                    <a:pt x="153" y="176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2" y="200"/>
                  </a:lnTo>
                  <a:lnTo>
                    <a:pt x="141" y="203"/>
                  </a:lnTo>
                  <a:lnTo>
                    <a:pt x="141" y="203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50" y="185"/>
                  </a:lnTo>
                  <a:lnTo>
                    <a:pt x="159" y="168"/>
                  </a:lnTo>
                  <a:lnTo>
                    <a:pt x="159" y="168"/>
                  </a:lnTo>
                  <a:lnTo>
                    <a:pt x="180" y="133"/>
                  </a:lnTo>
                  <a:lnTo>
                    <a:pt x="180" y="133"/>
                  </a:lnTo>
                  <a:lnTo>
                    <a:pt x="205" y="93"/>
                  </a:lnTo>
                  <a:lnTo>
                    <a:pt x="205" y="93"/>
                  </a:lnTo>
                  <a:lnTo>
                    <a:pt x="222" y="72"/>
                  </a:lnTo>
                  <a:lnTo>
                    <a:pt x="239" y="53"/>
                  </a:lnTo>
                  <a:lnTo>
                    <a:pt x="239" y="53"/>
                  </a:lnTo>
                  <a:lnTo>
                    <a:pt x="239" y="50"/>
                  </a:lnTo>
                  <a:lnTo>
                    <a:pt x="239" y="47"/>
                  </a:lnTo>
                  <a:lnTo>
                    <a:pt x="237" y="42"/>
                  </a:lnTo>
                  <a:lnTo>
                    <a:pt x="234" y="37"/>
                  </a:lnTo>
                  <a:lnTo>
                    <a:pt x="230" y="34"/>
                  </a:lnTo>
                  <a:lnTo>
                    <a:pt x="230" y="34"/>
                  </a:lnTo>
                  <a:lnTo>
                    <a:pt x="217" y="24"/>
                  </a:lnTo>
                  <a:lnTo>
                    <a:pt x="205" y="12"/>
                  </a:lnTo>
                  <a:lnTo>
                    <a:pt x="205" y="12"/>
                  </a:lnTo>
                  <a:lnTo>
                    <a:pt x="198" y="7"/>
                  </a:lnTo>
                  <a:lnTo>
                    <a:pt x="192" y="1"/>
                  </a:lnTo>
                  <a:lnTo>
                    <a:pt x="192" y="1"/>
                  </a:lnTo>
                  <a:lnTo>
                    <a:pt x="188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986" name="Group 985">
              <a:extLst>
                <a:ext uri="{FF2B5EF4-FFF2-40B4-BE49-F238E27FC236}">
                  <a16:creationId xmlns:a16="http://schemas.microsoft.com/office/drawing/2014/main" id="{D8F02454-9A51-E628-D27E-F52446568AD4}"/>
                </a:ext>
              </a:extLst>
            </p:cNvPr>
            <p:cNvGrpSpPr/>
            <p:nvPr/>
          </p:nvGrpSpPr>
          <p:grpSpPr>
            <a:xfrm>
              <a:off x="5447033" y="1813851"/>
              <a:ext cx="320379" cy="296274"/>
              <a:chOff x="5447033" y="1813851"/>
              <a:chExt cx="320379" cy="296274"/>
            </a:xfrm>
            <a:grpFill/>
          </p:grpSpPr>
          <p:sp>
            <p:nvSpPr>
              <p:cNvPr id="987" name="Freeform 723">
                <a:extLst>
                  <a:ext uri="{FF2B5EF4-FFF2-40B4-BE49-F238E27FC236}">
                    <a16:creationId xmlns:a16="http://schemas.microsoft.com/office/drawing/2014/main" id="{0BC2EDA1-CF76-7A17-E71A-AA915CCE44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489688" y="1835803"/>
                <a:ext cx="253324" cy="295320"/>
              </a:xfrm>
              <a:custGeom>
                <a:avLst/>
                <a:gdLst/>
                <a:ahLst/>
                <a:cxnLst>
                  <a:cxn ang="0">
                    <a:pos x="0" y="303"/>
                  </a:cxn>
                  <a:cxn ang="0">
                    <a:pos x="0" y="303"/>
                  </a:cxn>
                  <a:cxn ang="0">
                    <a:pos x="251" y="0"/>
                  </a:cxn>
                  <a:cxn ang="0">
                    <a:pos x="242" y="1"/>
                  </a:cxn>
                  <a:cxn ang="0">
                    <a:pos x="218" y="11"/>
                  </a:cxn>
                  <a:cxn ang="0">
                    <a:pos x="177" y="48"/>
                  </a:cxn>
                  <a:cxn ang="0">
                    <a:pos x="129" y="98"/>
                  </a:cxn>
                  <a:cxn ang="0">
                    <a:pos x="99" y="127"/>
                  </a:cxn>
                  <a:cxn ang="0">
                    <a:pos x="96" y="135"/>
                  </a:cxn>
                  <a:cxn ang="0">
                    <a:pos x="88" y="164"/>
                  </a:cxn>
                  <a:cxn ang="0">
                    <a:pos x="87" y="164"/>
                  </a:cxn>
                  <a:cxn ang="0">
                    <a:pos x="93" y="133"/>
                  </a:cxn>
                  <a:cxn ang="0">
                    <a:pos x="80" y="147"/>
                  </a:cxn>
                  <a:cxn ang="0">
                    <a:pos x="76" y="162"/>
                  </a:cxn>
                  <a:cxn ang="0">
                    <a:pos x="71" y="186"/>
                  </a:cxn>
                  <a:cxn ang="0">
                    <a:pos x="68" y="191"/>
                  </a:cxn>
                  <a:cxn ang="0">
                    <a:pos x="66" y="186"/>
                  </a:cxn>
                  <a:cxn ang="0">
                    <a:pos x="60" y="179"/>
                  </a:cxn>
                  <a:cxn ang="0">
                    <a:pos x="60" y="177"/>
                  </a:cxn>
                  <a:cxn ang="0">
                    <a:pos x="58" y="174"/>
                  </a:cxn>
                  <a:cxn ang="0">
                    <a:pos x="59" y="207"/>
                  </a:cxn>
                  <a:cxn ang="0">
                    <a:pos x="63" y="290"/>
                  </a:cxn>
                  <a:cxn ang="0">
                    <a:pos x="66" y="295"/>
                  </a:cxn>
                  <a:cxn ang="0">
                    <a:pos x="70" y="299"/>
                  </a:cxn>
                  <a:cxn ang="0">
                    <a:pos x="71" y="313"/>
                  </a:cxn>
                  <a:cxn ang="0">
                    <a:pos x="67" y="316"/>
                  </a:cxn>
                  <a:cxn ang="0">
                    <a:pos x="59" y="315"/>
                  </a:cxn>
                  <a:cxn ang="0">
                    <a:pos x="42" y="312"/>
                  </a:cxn>
                  <a:cxn ang="0">
                    <a:pos x="29" y="308"/>
                  </a:cxn>
                  <a:cxn ang="0">
                    <a:pos x="21" y="308"/>
                  </a:cxn>
                  <a:cxn ang="0">
                    <a:pos x="34" y="312"/>
                  </a:cxn>
                  <a:cxn ang="0">
                    <a:pos x="59" y="319"/>
                  </a:cxn>
                  <a:cxn ang="0">
                    <a:pos x="68" y="316"/>
                  </a:cxn>
                  <a:cxn ang="0">
                    <a:pos x="78" y="301"/>
                  </a:cxn>
                  <a:cxn ang="0">
                    <a:pos x="84" y="280"/>
                  </a:cxn>
                  <a:cxn ang="0">
                    <a:pos x="120" y="213"/>
                  </a:cxn>
                  <a:cxn ang="0">
                    <a:pos x="141" y="181"/>
                  </a:cxn>
                  <a:cxn ang="0">
                    <a:pos x="223" y="89"/>
                  </a:cxn>
                  <a:cxn ang="0">
                    <a:pos x="269" y="49"/>
                  </a:cxn>
                  <a:cxn ang="0">
                    <a:pos x="295" y="34"/>
                  </a:cxn>
                  <a:cxn ang="0">
                    <a:pos x="301" y="28"/>
                  </a:cxn>
                  <a:cxn ang="0">
                    <a:pos x="295" y="22"/>
                  </a:cxn>
                  <a:cxn ang="0">
                    <a:pos x="285" y="15"/>
                  </a:cxn>
                  <a:cxn ang="0">
                    <a:pos x="277" y="14"/>
                  </a:cxn>
                  <a:cxn ang="0">
                    <a:pos x="265" y="6"/>
                  </a:cxn>
                  <a:cxn ang="0">
                    <a:pos x="261" y="5"/>
                  </a:cxn>
                  <a:cxn ang="0">
                    <a:pos x="261" y="5"/>
                  </a:cxn>
                  <a:cxn ang="0">
                    <a:pos x="255" y="1"/>
                  </a:cxn>
                </a:cxnLst>
                <a:rect l="0" t="0" r="r" b="b"/>
                <a:pathLst>
                  <a:path w="301" h="319"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251" y="0"/>
                    </a:moveTo>
                    <a:lnTo>
                      <a:pt x="251" y="0"/>
                    </a:lnTo>
                    <a:lnTo>
                      <a:pt x="242" y="1"/>
                    </a:lnTo>
                    <a:lnTo>
                      <a:pt x="242" y="1"/>
                    </a:lnTo>
                    <a:lnTo>
                      <a:pt x="235" y="3"/>
                    </a:lnTo>
                    <a:lnTo>
                      <a:pt x="227" y="6"/>
                    </a:lnTo>
                    <a:lnTo>
                      <a:pt x="218" y="11"/>
                    </a:lnTo>
                    <a:lnTo>
                      <a:pt x="207" y="21"/>
                    </a:lnTo>
                    <a:lnTo>
                      <a:pt x="207" y="21"/>
                    </a:lnTo>
                    <a:lnTo>
                      <a:pt x="177" y="48"/>
                    </a:lnTo>
                    <a:lnTo>
                      <a:pt x="151" y="74"/>
                    </a:lnTo>
                    <a:lnTo>
                      <a:pt x="151" y="74"/>
                    </a:lnTo>
                    <a:lnTo>
                      <a:pt x="129" y="98"/>
                    </a:lnTo>
                    <a:lnTo>
                      <a:pt x="109" y="118"/>
                    </a:lnTo>
                    <a:lnTo>
                      <a:pt x="109" y="118"/>
                    </a:lnTo>
                    <a:lnTo>
                      <a:pt x="99" y="127"/>
                    </a:lnTo>
                    <a:lnTo>
                      <a:pt x="99" y="127"/>
                    </a:lnTo>
                    <a:lnTo>
                      <a:pt x="96" y="135"/>
                    </a:lnTo>
                    <a:lnTo>
                      <a:pt x="96" y="135"/>
                    </a:lnTo>
                    <a:lnTo>
                      <a:pt x="89" y="162"/>
                    </a:lnTo>
                    <a:lnTo>
                      <a:pt x="89" y="162"/>
                    </a:lnTo>
                    <a:lnTo>
                      <a:pt x="88" y="164"/>
                    </a:lnTo>
                    <a:lnTo>
                      <a:pt x="87" y="165"/>
                    </a:lnTo>
                    <a:lnTo>
                      <a:pt x="87" y="165"/>
                    </a:lnTo>
                    <a:lnTo>
                      <a:pt x="87" y="164"/>
                    </a:lnTo>
                    <a:lnTo>
                      <a:pt x="87" y="162"/>
                    </a:lnTo>
                    <a:lnTo>
                      <a:pt x="87" y="162"/>
                    </a:lnTo>
                    <a:lnTo>
                      <a:pt x="93" y="133"/>
                    </a:lnTo>
                    <a:lnTo>
                      <a:pt x="93" y="133"/>
                    </a:lnTo>
                    <a:lnTo>
                      <a:pt x="80" y="147"/>
                    </a:lnTo>
                    <a:lnTo>
                      <a:pt x="80" y="147"/>
                    </a:lnTo>
                    <a:lnTo>
                      <a:pt x="79" y="153"/>
                    </a:lnTo>
                    <a:lnTo>
                      <a:pt x="79" y="153"/>
                    </a:lnTo>
                    <a:lnTo>
                      <a:pt x="76" y="162"/>
                    </a:lnTo>
                    <a:lnTo>
                      <a:pt x="74" y="174"/>
                    </a:lnTo>
                    <a:lnTo>
                      <a:pt x="74" y="174"/>
                    </a:lnTo>
                    <a:lnTo>
                      <a:pt x="71" y="186"/>
                    </a:lnTo>
                    <a:lnTo>
                      <a:pt x="68" y="192"/>
                    </a:lnTo>
                    <a:lnTo>
                      <a:pt x="68" y="192"/>
                    </a:lnTo>
                    <a:lnTo>
                      <a:pt x="68" y="191"/>
                    </a:lnTo>
                    <a:lnTo>
                      <a:pt x="68" y="191"/>
                    </a:lnTo>
                    <a:lnTo>
                      <a:pt x="67" y="189"/>
                    </a:lnTo>
                    <a:lnTo>
                      <a:pt x="66" y="186"/>
                    </a:lnTo>
                    <a:lnTo>
                      <a:pt x="64" y="183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59" y="175"/>
                    </a:lnTo>
                    <a:lnTo>
                      <a:pt x="58" y="174"/>
                    </a:lnTo>
                    <a:lnTo>
                      <a:pt x="58" y="174"/>
                    </a:lnTo>
                    <a:lnTo>
                      <a:pt x="59" y="192"/>
                    </a:lnTo>
                    <a:lnTo>
                      <a:pt x="59" y="207"/>
                    </a:lnTo>
                    <a:lnTo>
                      <a:pt x="59" y="207"/>
                    </a:lnTo>
                    <a:lnTo>
                      <a:pt x="60" y="250"/>
                    </a:lnTo>
                    <a:lnTo>
                      <a:pt x="63" y="290"/>
                    </a:lnTo>
                    <a:lnTo>
                      <a:pt x="63" y="290"/>
                    </a:lnTo>
                    <a:lnTo>
                      <a:pt x="63" y="294"/>
                    </a:lnTo>
                    <a:lnTo>
                      <a:pt x="66" y="295"/>
                    </a:lnTo>
                    <a:lnTo>
                      <a:pt x="68" y="296"/>
                    </a:lnTo>
                    <a:lnTo>
                      <a:pt x="70" y="299"/>
                    </a:lnTo>
                    <a:lnTo>
                      <a:pt x="70" y="299"/>
                    </a:lnTo>
                    <a:lnTo>
                      <a:pt x="72" y="305"/>
                    </a:lnTo>
                    <a:lnTo>
                      <a:pt x="72" y="309"/>
                    </a:lnTo>
                    <a:lnTo>
                      <a:pt x="71" y="313"/>
                    </a:lnTo>
                    <a:lnTo>
                      <a:pt x="71" y="313"/>
                    </a:lnTo>
                    <a:lnTo>
                      <a:pt x="70" y="315"/>
                    </a:lnTo>
                    <a:lnTo>
                      <a:pt x="67" y="316"/>
                    </a:lnTo>
                    <a:lnTo>
                      <a:pt x="67" y="316"/>
                    </a:lnTo>
                    <a:lnTo>
                      <a:pt x="63" y="315"/>
                    </a:lnTo>
                    <a:lnTo>
                      <a:pt x="59" y="315"/>
                    </a:lnTo>
                    <a:lnTo>
                      <a:pt x="59" y="315"/>
                    </a:lnTo>
                    <a:lnTo>
                      <a:pt x="51" y="313"/>
                    </a:lnTo>
                    <a:lnTo>
                      <a:pt x="42" y="312"/>
                    </a:lnTo>
                    <a:lnTo>
                      <a:pt x="42" y="312"/>
                    </a:lnTo>
                    <a:lnTo>
                      <a:pt x="33" y="309"/>
                    </a:lnTo>
                    <a:lnTo>
                      <a:pt x="29" y="308"/>
                    </a:lnTo>
                    <a:lnTo>
                      <a:pt x="24" y="308"/>
                    </a:lnTo>
                    <a:lnTo>
                      <a:pt x="24" y="308"/>
                    </a:lnTo>
                    <a:lnTo>
                      <a:pt x="21" y="308"/>
                    </a:lnTo>
                    <a:lnTo>
                      <a:pt x="21" y="308"/>
                    </a:lnTo>
                    <a:lnTo>
                      <a:pt x="34" y="312"/>
                    </a:lnTo>
                    <a:lnTo>
                      <a:pt x="34" y="312"/>
                    </a:lnTo>
                    <a:lnTo>
                      <a:pt x="47" y="316"/>
                    </a:lnTo>
                    <a:lnTo>
                      <a:pt x="59" y="319"/>
                    </a:lnTo>
                    <a:lnTo>
                      <a:pt x="59" y="319"/>
                    </a:lnTo>
                    <a:lnTo>
                      <a:pt x="66" y="317"/>
                    </a:lnTo>
                    <a:lnTo>
                      <a:pt x="66" y="317"/>
                    </a:lnTo>
                    <a:lnTo>
                      <a:pt x="68" y="316"/>
                    </a:lnTo>
                    <a:lnTo>
                      <a:pt x="71" y="315"/>
                    </a:lnTo>
                    <a:lnTo>
                      <a:pt x="75" y="309"/>
                    </a:lnTo>
                    <a:lnTo>
                      <a:pt x="7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84" y="280"/>
                    </a:lnTo>
                    <a:lnTo>
                      <a:pt x="91" y="265"/>
                    </a:lnTo>
                    <a:lnTo>
                      <a:pt x="102" y="242"/>
                    </a:lnTo>
                    <a:lnTo>
                      <a:pt x="120" y="213"/>
                    </a:lnTo>
                    <a:lnTo>
                      <a:pt x="120" y="213"/>
                    </a:lnTo>
                    <a:lnTo>
                      <a:pt x="130" y="196"/>
                    </a:lnTo>
                    <a:lnTo>
                      <a:pt x="141" y="181"/>
                    </a:lnTo>
                    <a:lnTo>
                      <a:pt x="167" y="148"/>
                    </a:lnTo>
                    <a:lnTo>
                      <a:pt x="196" y="118"/>
                    </a:lnTo>
                    <a:lnTo>
                      <a:pt x="223" y="89"/>
                    </a:lnTo>
                    <a:lnTo>
                      <a:pt x="223" y="89"/>
                    </a:lnTo>
                    <a:lnTo>
                      <a:pt x="248" y="65"/>
                    </a:lnTo>
                    <a:lnTo>
                      <a:pt x="269" y="49"/>
                    </a:lnTo>
                    <a:lnTo>
                      <a:pt x="285" y="39"/>
                    </a:lnTo>
                    <a:lnTo>
                      <a:pt x="295" y="34"/>
                    </a:lnTo>
                    <a:lnTo>
                      <a:pt x="295" y="34"/>
                    </a:lnTo>
                    <a:lnTo>
                      <a:pt x="298" y="32"/>
                    </a:lnTo>
                    <a:lnTo>
                      <a:pt x="299" y="31"/>
                    </a:lnTo>
                    <a:lnTo>
                      <a:pt x="301" y="28"/>
                    </a:lnTo>
                    <a:lnTo>
                      <a:pt x="301" y="27"/>
                    </a:lnTo>
                    <a:lnTo>
                      <a:pt x="298" y="24"/>
                    </a:lnTo>
                    <a:lnTo>
                      <a:pt x="295" y="22"/>
                    </a:lnTo>
                    <a:lnTo>
                      <a:pt x="295" y="22"/>
                    </a:lnTo>
                    <a:lnTo>
                      <a:pt x="285" y="15"/>
                    </a:lnTo>
                    <a:lnTo>
                      <a:pt x="285" y="15"/>
                    </a:lnTo>
                    <a:lnTo>
                      <a:pt x="280" y="15"/>
                    </a:lnTo>
                    <a:lnTo>
                      <a:pt x="280" y="15"/>
                    </a:lnTo>
                    <a:lnTo>
                      <a:pt x="277" y="14"/>
                    </a:lnTo>
                    <a:lnTo>
                      <a:pt x="274" y="13"/>
                    </a:lnTo>
                    <a:lnTo>
                      <a:pt x="265" y="6"/>
                    </a:lnTo>
                    <a:lnTo>
                      <a:pt x="265" y="6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59" y="2"/>
                    </a:lnTo>
                    <a:lnTo>
                      <a:pt x="259" y="2"/>
                    </a:lnTo>
                    <a:lnTo>
                      <a:pt x="255" y="1"/>
                    </a:lnTo>
                    <a:lnTo>
                      <a:pt x="25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88" name="Freeform 724">
                <a:extLst>
                  <a:ext uri="{FF2B5EF4-FFF2-40B4-BE49-F238E27FC236}">
                    <a16:creationId xmlns:a16="http://schemas.microsoft.com/office/drawing/2014/main" id="{B9B4CF23-90DD-4091-5649-0F88B9879530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89" name="Rectangle 725">
                <a:extLst>
                  <a:ext uri="{FF2B5EF4-FFF2-40B4-BE49-F238E27FC236}">
                    <a16:creationId xmlns:a16="http://schemas.microsoft.com/office/drawing/2014/main" id="{BD2A14CA-417A-D5C7-19F6-016B634A2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0" name="Freeform 726">
                <a:extLst>
                  <a:ext uri="{FF2B5EF4-FFF2-40B4-BE49-F238E27FC236}">
                    <a16:creationId xmlns:a16="http://schemas.microsoft.com/office/drawing/2014/main" id="{79D9C262-3CAB-5340-5EF5-9CB52207611D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01927" y="1843958"/>
                <a:ext cx="235650" cy="295320"/>
              </a:xfrm>
              <a:custGeom>
                <a:avLst/>
                <a:gdLst/>
                <a:ahLst/>
                <a:cxnLst>
                  <a:cxn ang="0">
                    <a:pos x="221" y="1"/>
                  </a:cxn>
                  <a:cxn ang="0">
                    <a:pos x="206" y="6"/>
                  </a:cxn>
                  <a:cxn ang="0">
                    <a:pos x="186" y="21"/>
                  </a:cxn>
                  <a:cxn ang="0">
                    <a:pos x="130" y="74"/>
                  </a:cxn>
                  <a:cxn ang="0">
                    <a:pos x="88" y="118"/>
                  </a:cxn>
                  <a:cxn ang="0">
                    <a:pos x="75" y="135"/>
                  </a:cxn>
                  <a:cxn ang="0">
                    <a:pos x="68" y="162"/>
                  </a:cxn>
                  <a:cxn ang="0">
                    <a:pos x="66" y="165"/>
                  </a:cxn>
                  <a:cxn ang="0">
                    <a:pos x="66" y="162"/>
                  </a:cxn>
                  <a:cxn ang="0">
                    <a:pos x="59" y="147"/>
                  </a:cxn>
                  <a:cxn ang="0">
                    <a:pos x="58" y="153"/>
                  </a:cxn>
                  <a:cxn ang="0">
                    <a:pos x="53" y="174"/>
                  </a:cxn>
                  <a:cxn ang="0">
                    <a:pos x="47" y="192"/>
                  </a:cxn>
                  <a:cxn ang="0">
                    <a:pos x="46" y="189"/>
                  </a:cxn>
                  <a:cxn ang="0">
                    <a:pos x="39" y="179"/>
                  </a:cxn>
                  <a:cxn ang="0">
                    <a:pos x="39" y="181"/>
                  </a:cxn>
                  <a:cxn ang="0">
                    <a:pos x="38" y="175"/>
                  </a:cxn>
                  <a:cxn ang="0">
                    <a:pos x="38" y="192"/>
                  </a:cxn>
                  <a:cxn ang="0">
                    <a:pos x="39" y="250"/>
                  </a:cxn>
                  <a:cxn ang="0">
                    <a:pos x="42" y="294"/>
                  </a:cxn>
                  <a:cxn ang="0">
                    <a:pos x="49" y="299"/>
                  </a:cxn>
                  <a:cxn ang="0">
                    <a:pos x="51" y="309"/>
                  </a:cxn>
                  <a:cxn ang="0">
                    <a:pos x="49" y="315"/>
                  </a:cxn>
                  <a:cxn ang="0">
                    <a:pos x="42" y="315"/>
                  </a:cxn>
                  <a:cxn ang="0">
                    <a:pos x="30" y="313"/>
                  </a:cxn>
                  <a:cxn ang="0">
                    <a:pos x="12" y="309"/>
                  </a:cxn>
                  <a:cxn ang="0">
                    <a:pos x="3" y="308"/>
                  </a:cxn>
                  <a:cxn ang="0">
                    <a:pos x="13" y="312"/>
                  </a:cxn>
                  <a:cxn ang="0">
                    <a:pos x="38" y="319"/>
                  </a:cxn>
                  <a:cxn ang="0">
                    <a:pos x="45" y="317"/>
                  </a:cxn>
                  <a:cxn ang="0">
                    <a:pos x="54" y="309"/>
                  </a:cxn>
                  <a:cxn ang="0">
                    <a:pos x="59" y="292"/>
                  </a:cxn>
                  <a:cxn ang="0">
                    <a:pos x="81" y="242"/>
                  </a:cxn>
                  <a:cxn ang="0">
                    <a:pos x="109" y="196"/>
                  </a:cxn>
                  <a:cxn ang="0">
                    <a:pos x="175" y="118"/>
                  </a:cxn>
                  <a:cxn ang="0">
                    <a:pos x="227" y="65"/>
                  </a:cxn>
                  <a:cxn ang="0">
                    <a:pos x="274" y="34"/>
                  </a:cxn>
                  <a:cxn ang="0">
                    <a:pos x="278" y="31"/>
                  </a:cxn>
                  <a:cxn ang="0">
                    <a:pos x="277" y="24"/>
                  </a:cxn>
                  <a:cxn ang="0">
                    <a:pos x="264" y="15"/>
                  </a:cxn>
                  <a:cxn ang="0">
                    <a:pos x="259" y="15"/>
                  </a:cxn>
                  <a:cxn ang="0">
                    <a:pos x="244" y="6"/>
                  </a:cxn>
                  <a:cxn ang="0">
                    <a:pos x="239" y="3"/>
                  </a:cxn>
                  <a:cxn ang="0">
                    <a:pos x="240" y="5"/>
                  </a:cxn>
                  <a:cxn ang="0">
                    <a:pos x="238" y="2"/>
                  </a:cxn>
                </a:cxnLst>
                <a:rect l="0" t="0" r="r" b="b"/>
                <a:pathLst>
                  <a:path w="280" h="319">
                    <a:moveTo>
                      <a:pt x="230" y="0"/>
                    </a:moveTo>
                    <a:lnTo>
                      <a:pt x="230" y="0"/>
                    </a:lnTo>
                    <a:lnTo>
                      <a:pt x="221" y="1"/>
                    </a:lnTo>
                    <a:lnTo>
                      <a:pt x="221" y="1"/>
                    </a:lnTo>
                    <a:lnTo>
                      <a:pt x="214" y="3"/>
                    </a:lnTo>
                    <a:lnTo>
                      <a:pt x="206" y="6"/>
                    </a:lnTo>
                    <a:lnTo>
                      <a:pt x="197" y="11"/>
                    </a:lnTo>
                    <a:lnTo>
                      <a:pt x="186" y="21"/>
                    </a:lnTo>
                    <a:lnTo>
                      <a:pt x="186" y="21"/>
                    </a:lnTo>
                    <a:lnTo>
                      <a:pt x="156" y="48"/>
                    </a:lnTo>
                    <a:lnTo>
                      <a:pt x="130" y="74"/>
                    </a:lnTo>
                    <a:lnTo>
                      <a:pt x="130" y="74"/>
                    </a:lnTo>
                    <a:lnTo>
                      <a:pt x="108" y="98"/>
                    </a:lnTo>
                    <a:lnTo>
                      <a:pt x="88" y="118"/>
                    </a:lnTo>
                    <a:lnTo>
                      <a:pt x="88" y="118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5" y="135"/>
                    </a:lnTo>
                    <a:lnTo>
                      <a:pt x="75" y="135"/>
                    </a:lnTo>
                    <a:lnTo>
                      <a:pt x="68" y="162"/>
                    </a:lnTo>
                    <a:lnTo>
                      <a:pt x="68" y="162"/>
                    </a:lnTo>
                    <a:lnTo>
                      <a:pt x="67" y="164"/>
                    </a:lnTo>
                    <a:lnTo>
                      <a:pt x="66" y="165"/>
                    </a:lnTo>
                    <a:lnTo>
                      <a:pt x="66" y="165"/>
                    </a:lnTo>
                    <a:lnTo>
                      <a:pt x="66" y="164"/>
                    </a:lnTo>
                    <a:lnTo>
                      <a:pt x="66" y="162"/>
                    </a:lnTo>
                    <a:lnTo>
                      <a:pt x="66" y="162"/>
                    </a:lnTo>
                    <a:lnTo>
                      <a:pt x="72" y="133"/>
                    </a:lnTo>
                    <a:lnTo>
                      <a:pt x="72" y="133"/>
                    </a:lnTo>
                    <a:lnTo>
                      <a:pt x="59" y="147"/>
                    </a:lnTo>
                    <a:lnTo>
                      <a:pt x="59" y="147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5" y="162"/>
                    </a:lnTo>
                    <a:lnTo>
                      <a:pt x="53" y="174"/>
                    </a:lnTo>
                    <a:lnTo>
                      <a:pt x="53" y="174"/>
                    </a:lnTo>
                    <a:lnTo>
                      <a:pt x="50" y="186"/>
                    </a:lnTo>
                    <a:lnTo>
                      <a:pt x="47" y="192"/>
                    </a:lnTo>
                    <a:lnTo>
                      <a:pt x="47" y="192"/>
                    </a:lnTo>
                    <a:lnTo>
                      <a:pt x="47" y="191"/>
                    </a:lnTo>
                    <a:lnTo>
                      <a:pt x="47" y="191"/>
                    </a:lnTo>
                    <a:lnTo>
                      <a:pt x="46" y="189"/>
                    </a:lnTo>
                    <a:lnTo>
                      <a:pt x="45" y="186"/>
                    </a:lnTo>
                    <a:lnTo>
                      <a:pt x="43" y="183"/>
                    </a:lnTo>
                    <a:lnTo>
                      <a:pt x="39" y="179"/>
                    </a:lnTo>
                    <a:lnTo>
                      <a:pt x="39" y="179"/>
                    </a:lnTo>
                    <a:lnTo>
                      <a:pt x="39" y="181"/>
                    </a:lnTo>
                    <a:lnTo>
                      <a:pt x="39" y="181"/>
                    </a:lnTo>
                    <a:lnTo>
                      <a:pt x="39" y="177"/>
                    </a:lnTo>
                    <a:lnTo>
                      <a:pt x="39" y="177"/>
                    </a:lnTo>
                    <a:lnTo>
                      <a:pt x="38" y="175"/>
                    </a:lnTo>
                    <a:lnTo>
                      <a:pt x="37" y="174"/>
                    </a:lnTo>
                    <a:lnTo>
                      <a:pt x="37" y="174"/>
                    </a:lnTo>
                    <a:lnTo>
                      <a:pt x="38" y="192"/>
                    </a:lnTo>
                    <a:lnTo>
                      <a:pt x="38" y="207"/>
                    </a:lnTo>
                    <a:lnTo>
                      <a:pt x="38" y="207"/>
                    </a:lnTo>
                    <a:lnTo>
                      <a:pt x="39" y="250"/>
                    </a:lnTo>
                    <a:lnTo>
                      <a:pt x="42" y="290"/>
                    </a:lnTo>
                    <a:lnTo>
                      <a:pt x="42" y="290"/>
                    </a:lnTo>
                    <a:lnTo>
                      <a:pt x="42" y="294"/>
                    </a:lnTo>
                    <a:lnTo>
                      <a:pt x="45" y="295"/>
                    </a:lnTo>
                    <a:lnTo>
                      <a:pt x="47" y="296"/>
                    </a:lnTo>
                    <a:lnTo>
                      <a:pt x="49" y="299"/>
                    </a:lnTo>
                    <a:lnTo>
                      <a:pt x="49" y="299"/>
                    </a:lnTo>
                    <a:lnTo>
                      <a:pt x="51" y="305"/>
                    </a:lnTo>
                    <a:lnTo>
                      <a:pt x="51" y="309"/>
                    </a:lnTo>
                    <a:lnTo>
                      <a:pt x="50" y="313"/>
                    </a:lnTo>
                    <a:lnTo>
                      <a:pt x="50" y="313"/>
                    </a:lnTo>
                    <a:lnTo>
                      <a:pt x="49" y="315"/>
                    </a:lnTo>
                    <a:lnTo>
                      <a:pt x="46" y="316"/>
                    </a:lnTo>
                    <a:lnTo>
                      <a:pt x="46" y="316"/>
                    </a:lnTo>
                    <a:lnTo>
                      <a:pt x="42" y="315"/>
                    </a:lnTo>
                    <a:lnTo>
                      <a:pt x="38" y="315"/>
                    </a:lnTo>
                    <a:lnTo>
                      <a:pt x="38" y="315"/>
                    </a:lnTo>
                    <a:lnTo>
                      <a:pt x="30" y="313"/>
                    </a:lnTo>
                    <a:lnTo>
                      <a:pt x="21" y="312"/>
                    </a:lnTo>
                    <a:lnTo>
                      <a:pt x="21" y="312"/>
                    </a:lnTo>
                    <a:lnTo>
                      <a:pt x="12" y="309"/>
                    </a:lnTo>
                    <a:lnTo>
                      <a:pt x="8" y="308"/>
                    </a:lnTo>
                    <a:lnTo>
                      <a:pt x="3" y="308"/>
                    </a:lnTo>
                    <a:lnTo>
                      <a:pt x="3" y="308"/>
                    </a:lnTo>
                    <a:lnTo>
                      <a:pt x="0" y="308"/>
                    </a:lnTo>
                    <a:lnTo>
                      <a:pt x="0" y="308"/>
                    </a:lnTo>
                    <a:lnTo>
                      <a:pt x="13" y="312"/>
                    </a:lnTo>
                    <a:lnTo>
                      <a:pt x="13" y="312"/>
                    </a:lnTo>
                    <a:lnTo>
                      <a:pt x="26" y="316"/>
                    </a:lnTo>
                    <a:lnTo>
                      <a:pt x="38" y="319"/>
                    </a:lnTo>
                    <a:lnTo>
                      <a:pt x="38" y="319"/>
                    </a:lnTo>
                    <a:lnTo>
                      <a:pt x="45" y="317"/>
                    </a:lnTo>
                    <a:lnTo>
                      <a:pt x="45" y="317"/>
                    </a:lnTo>
                    <a:lnTo>
                      <a:pt x="47" y="316"/>
                    </a:lnTo>
                    <a:lnTo>
                      <a:pt x="50" y="315"/>
                    </a:lnTo>
                    <a:lnTo>
                      <a:pt x="54" y="309"/>
                    </a:lnTo>
                    <a:lnTo>
                      <a:pt x="57" y="301"/>
                    </a:lnTo>
                    <a:lnTo>
                      <a:pt x="59" y="292"/>
                    </a:lnTo>
                    <a:lnTo>
                      <a:pt x="59" y="292"/>
                    </a:lnTo>
                    <a:lnTo>
                      <a:pt x="63" y="280"/>
                    </a:lnTo>
                    <a:lnTo>
                      <a:pt x="70" y="265"/>
                    </a:lnTo>
                    <a:lnTo>
                      <a:pt x="81" y="242"/>
                    </a:lnTo>
                    <a:lnTo>
                      <a:pt x="99" y="213"/>
                    </a:lnTo>
                    <a:lnTo>
                      <a:pt x="99" y="213"/>
                    </a:lnTo>
                    <a:lnTo>
                      <a:pt x="109" y="196"/>
                    </a:lnTo>
                    <a:lnTo>
                      <a:pt x="120" y="181"/>
                    </a:lnTo>
                    <a:lnTo>
                      <a:pt x="146" y="148"/>
                    </a:lnTo>
                    <a:lnTo>
                      <a:pt x="175" y="118"/>
                    </a:lnTo>
                    <a:lnTo>
                      <a:pt x="202" y="89"/>
                    </a:lnTo>
                    <a:lnTo>
                      <a:pt x="202" y="89"/>
                    </a:lnTo>
                    <a:lnTo>
                      <a:pt x="227" y="65"/>
                    </a:lnTo>
                    <a:lnTo>
                      <a:pt x="248" y="49"/>
                    </a:lnTo>
                    <a:lnTo>
                      <a:pt x="264" y="39"/>
                    </a:lnTo>
                    <a:lnTo>
                      <a:pt x="274" y="34"/>
                    </a:lnTo>
                    <a:lnTo>
                      <a:pt x="274" y="34"/>
                    </a:lnTo>
                    <a:lnTo>
                      <a:pt x="277" y="32"/>
                    </a:lnTo>
                    <a:lnTo>
                      <a:pt x="278" y="31"/>
                    </a:lnTo>
                    <a:lnTo>
                      <a:pt x="280" y="28"/>
                    </a:lnTo>
                    <a:lnTo>
                      <a:pt x="280" y="27"/>
                    </a:lnTo>
                    <a:lnTo>
                      <a:pt x="277" y="24"/>
                    </a:lnTo>
                    <a:lnTo>
                      <a:pt x="274" y="22"/>
                    </a:lnTo>
                    <a:lnTo>
                      <a:pt x="274" y="22"/>
                    </a:lnTo>
                    <a:lnTo>
                      <a:pt x="264" y="15"/>
                    </a:lnTo>
                    <a:lnTo>
                      <a:pt x="264" y="15"/>
                    </a:lnTo>
                    <a:lnTo>
                      <a:pt x="259" y="15"/>
                    </a:lnTo>
                    <a:lnTo>
                      <a:pt x="259" y="15"/>
                    </a:lnTo>
                    <a:lnTo>
                      <a:pt x="256" y="14"/>
                    </a:lnTo>
                    <a:lnTo>
                      <a:pt x="253" y="13"/>
                    </a:lnTo>
                    <a:lnTo>
                      <a:pt x="244" y="6"/>
                    </a:lnTo>
                    <a:lnTo>
                      <a:pt x="244" y="6"/>
                    </a:lnTo>
                    <a:lnTo>
                      <a:pt x="239" y="3"/>
                    </a:lnTo>
                    <a:lnTo>
                      <a:pt x="239" y="3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38" y="2"/>
                    </a:lnTo>
                    <a:lnTo>
                      <a:pt x="238" y="2"/>
                    </a:lnTo>
                    <a:lnTo>
                      <a:pt x="234" y="1"/>
                    </a:lnTo>
                    <a:lnTo>
                      <a:pt x="23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1" name="Freeform 727">
                <a:extLst>
                  <a:ext uri="{FF2B5EF4-FFF2-40B4-BE49-F238E27FC236}">
                    <a16:creationId xmlns:a16="http://schemas.microsoft.com/office/drawing/2014/main" id="{861F76FC-8271-A5A3-2CC0-4068E59A4E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544406" y="1745602"/>
                <a:ext cx="68171" cy="262918"/>
              </a:xfrm>
              <a:custGeom>
                <a:avLst/>
                <a:gdLst/>
                <a:ahLst/>
                <a:cxnLst>
                  <a:cxn ang="0">
                    <a:pos x="24" y="279"/>
                  </a:cxn>
                  <a:cxn ang="0">
                    <a:pos x="45" y="284"/>
                  </a:cxn>
                  <a:cxn ang="0">
                    <a:pos x="33" y="281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10" y="170"/>
                  </a:cxn>
                  <a:cxn ang="0">
                    <a:pos x="14" y="209"/>
                  </a:cxn>
                  <a:cxn ang="0">
                    <a:pos x="16" y="243"/>
                  </a:cxn>
                  <a:cxn ang="0">
                    <a:pos x="16" y="262"/>
                  </a:cxn>
                  <a:cxn ang="0">
                    <a:pos x="16" y="272"/>
                  </a:cxn>
                  <a:cxn ang="0">
                    <a:pos x="20" y="277"/>
                  </a:cxn>
                  <a:cxn ang="0">
                    <a:pos x="24" y="279"/>
                  </a:cxn>
                  <a:cxn ang="0">
                    <a:pos x="18" y="271"/>
                  </a:cxn>
                  <a:cxn ang="0">
                    <a:pos x="20" y="259"/>
                  </a:cxn>
                  <a:cxn ang="0">
                    <a:pos x="25" y="245"/>
                  </a:cxn>
                  <a:cxn ang="0">
                    <a:pos x="32" y="229"/>
                  </a:cxn>
                  <a:cxn ang="0">
                    <a:pos x="42" y="207"/>
                  </a:cxn>
                  <a:cxn ang="0">
                    <a:pos x="54" y="186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9" y="147"/>
                  </a:cxn>
                  <a:cxn ang="0">
                    <a:pos x="78" y="144"/>
                  </a:cxn>
                  <a:cxn ang="0">
                    <a:pos x="77" y="129"/>
                  </a:cxn>
                  <a:cxn ang="0">
                    <a:pos x="74" y="116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5"/>
                  </a:cxn>
                  <a:cxn ang="0">
                    <a:pos x="73" y="16"/>
                  </a:cxn>
                  <a:cxn ang="0">
                    <a:pos x="69" y="12"/>
                  </a:cxn>
                  <a:cxn ang="0">
                    <a:pos x="57" y="8"/>
                  </a:cxn>
                  <a:cxn ang="0">
                    <a:pos x="39" y="6"/>
                  </a:cxn>
                  <a:cxn ang="0">
                    <a:pos x="20" y="2"/>
                  </a:cxn>
                  <a:cxn ang="0">
                    <a:pos x="8" y="0"/>
                  </a:cxn>
                </a:cxnLst>
                <a:rect l="0" t="0" r="r" b="b"/>
                <a:pathLst>
                  <a:path w="81" h="284">
                    <a:moveTo>
                      <a:pt x="24" y="279"/>
                    </a:moveTo>
                    <a:lnTo>
                      <a:pt x="24" y="279"/>
                    </a:lnTo>
                    <a:lnTo>
                      <a:pt x="35" y="281"/>
                    </a:lnTo>
                    <a:lnTo>
                      <a:pt x="45" y="284"/>
                    </a:lnTo>
                    <a:lnTo>
                      <a:pt x="45" y="284"/>
                    </a:lnTo>
                    <a:lnTo>
                      <a:pt x="33" y="281"/>
                    </a:lnTo>
                    <a:lnTo>
                      <a:pt x="33" y="281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2" name="Freeform 728">
                <a:extLst>
                  <a:ext uri="{FF2B5EF4-FFF2-40B4-BE49-F238E27FC236}">
                    <a16:creationId xmlns:a16="http://schemas.microsoft.com/office/drawing/2014/main" id="{448C426B-ABF2-E642-6FE3-3DFE5C8C10FB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86903" y="1820373"/>
                <a:ext cx="17674" cy="46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1" y="2"/>
                  </a:cxn>
                  <a:cxn ang="0">
                    <a:pos x="21" y="5"/>
                  </a:cxn>
                  <a:cxn ang="0">
                    <a:pos x="21" y="5"/>
                  </a:cxn>
                  <a:cxn ang="0">
                    <a:pos x="9" y="2"/>
                  </a:cxn>
                  <a:cxn ang="0">
                    <a:pos x="9" y="2"/>
                  </a:cxn>
                  <a:cxn ang="0">
                    <a:pos x="0" y="0"/>
                  </a:cxn>
                </a:cxnLst>
                <a:rect l="0" t="0" r="r" b="b"/>
                <a:pathLst>
                  <a:path w="21" h="5">
                    <a:moveTo>
                      <a:pt x="0" y="0"/>
                    </a:moveTo>
                    <a:lnTo>
                      <a:pt x="0" y="0"/>
                    </a:lnTo>
                    <a:lnTo>
                      <a:pt x="11" y="2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3" name="Freeform 729">
                <a:extLst>
                  <a:ext uri="{FF2B5EF4-FFF2-40B4-BE49-F238E27FC236}">
                    <a16:creationId xmlns:a16="http://schemas.microsoft.com/office/drawing/2014/main" id="{F16F5BB7-DFB2-94F0-86D1-E2CCA7011649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4" name="Freeform 730">
                <a:extLst>
                  <a:ext uri="{FF2B5EF4-FFF2-40B4-BE49-F238E27FC236}">
                    <a16:creationId xmlns:a16="http://schemas.microsoft.com/office/drawing/2014/main" id="{DCE4EECA-56F7-8ABD-FA9B-64462E351FD4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90371" y="1815169"/>
                <a:ext cx="842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5" name="Freeform 731">
                <a:extLst>
                  <a:ext uri="{FF2B5EF4-FFF2-40B4-BE49-F238E27FC236}">
                    <a16:creationId xmlns:a16="http://schemas.microsoft.com/office/drawing/2014/main" id="{BD2A5400-795E-77E5-9A5C-65322228ACFE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42271" y="1748807"/>
                <a:ext cx="68171" cy="25828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2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6" y="120"/>
                  </a:cxn>
                  <a:cxn ang="0">
                    <a:pos x="10" y="170"/>
                  </a:cxn>
                  <a:cxn ang="0">
                    <a:pos x="16" y="243"/>
                  </a:cxn>
                  <a:cxn ang="0">
                    <a:pos x="15" y="253"/>
                  </a:cxn>
                  <a:cxn ang="0">
                    <a:pos x="16" y="262"/>
                  </a:cxn>
                  <a:cxn ang="0">
                    <a:pos x="19" y="276"/>
                  </a:cxn>
                  <a:cxn ang="0">
                    <a:pos x="24" y="279"/>
                  </a:cxn>
                  <a:cxn ang="0">
                    <a:pos x="20" y="276"/>
                  </a:cxn>
                  <a:cxn ang="0">
                    <a:pos x="18" y="266"/>
                  </a:cxn>
                  <a:cxn ang="0">
                    <a:pos x="20" y="259"/>
                  </a:cxn>
                  <a:cxn ang="0">
                    <a:pos x="32" y="229"/>
                  </a:cxn>
                  <a:cxn ang="0">
                    <a:pos x="36" y="220"/>
                  </a:cxn>
                  <a:cxn ang="0">
                    <a:pos x="54" y="186"/>
                  </a:cxn>
                  <a:cxn ang="0">
                    <a:pos x="65" y="168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8" y="144"/>
                  </a:cxn>
                  <a:cxn ang="0">
                    <a:pos x="77" y="136"/>
                  </a:cxn>
                  <a:cxn ang="0">
                    <a:pos x="77" y="129"/>
                  </a:cxn>
                  <a:cxn ang="0">
                    <a:pos x="74" y="107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0"/>
                  </a:cxn>
                  <a:cxn ang="0">
                    <a:pos x="69" y="12"/>
                  </a:cxn>
                  <a:cxn ang="0">
                    <a:pos x="62" y="10"/>
                  </a:cxn>
                  <a:cxn ang="0">
                    <a:pos x="39" y="6"/>
                  </a:cxn>
                  <a:cxn ang="0">
                    <a:pos x="28" y="4"/>
                  </a:cxn>
                  <a:cxn ang="0">
                    <a:pos x="14" y="0"/>
                  </a:cxn>
                </a:cxnLst>
                <a:rect l="0" t="0" r="r" b="b"/>
                <a:pathLst>
                  <a:path w="81" h="279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6" name="Freeform 732">
                <a:extLst>
                  <a:ext uri="{FF2B5EF4-FFF2-40B4-BE49-F238E27FC236}">
                    <a16:creationId xmlns:a16="http://schemas.microsoft.com/office/drawing/2014/main" id="{8C183D3C-3427-0617-D050-5D3CACD4CB81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18087" y="1795710"/>
                <a:ext cx="65645" cy="132385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7" name="Freeform 733">
                <a:extLst>
                  <a:ext uri="{FF2B5EF4-FFF2-40B4-BE49-F238E27FC236}">
                    <a16:creationId xmlns:a16="http://schemas.microsoft.com/office/drawing/2014/main" id="{10C51B30-8A39-E224-9F7A-4D3DA73C151A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618087" y="1795710"/>
                <a:ext cx="65645" cy="132385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8" name="Freeform 736">
                <a:extLst>
                  <a:ext uri="{FF2B5EF4-FFF2-40B4-BE49-F238E27FC236}">
                    <a16:creationId xmlns:a16="http://schemas.microsoft.com/office/drawing/2014/main" id="{069F05EE-0363-956D-5DC5-C50E038A3F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4041578" flipV="1">
                <a:off x="5575771" y="1897449"/>
                <a:ext cx="34506" cy="60175"/>
              </a:xfrm>
              <a:custGeom>
                <a:avLst/>
                <a:gdLst/>
                <a:ahLst/>
                <a:cxnLst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47"/>
                  </a:cxn>
                  <a:cxn ang="0">
                    <a:pos x="0" y="47"/>
                  </a:cxn>
                  <a:cxn ang="0">
                    <a:pos x="1" y="48"/>
                  </a:cxn>
                  <a:cxn ang="0">
                    <a:pos x="2" y="50"/>
                  </a:cxn>
                  <a:cxn ang="0">
                    <a:pos x="2" y="50"/>
                  </a:cxn>
                  <a:cxn ang="0">
                    <a:pos x="2" y="54"/>
                  </a:cxn>
                  <a:cxn ang="0">
                    <a:pos x="2" y="54"/>
                  </a:cxn>
                  <a:cxn ang="0">
                    <a:pos x="2" y="52"/>
                  </a:cxn>
                  <a:cxn ang="0">
                    <a:pos x="6" y="56"/>
                  </a:cxn>
                  <a:cxn ang="0">
                    <a:pos x="6" y="56"/>
                  </a:cxn>
                  <a:cxn ang="0">
                    <a:pos x="8" y="59"/>
                  </a:cxn>
                  <a:cxn ang="0">
                    <a:pos x="9" y="62"/>
                  </a:cxn>
                  <a:cxn ang="0">
                    <a:pos x="10" y="64"/>
                  </a:cxn>
                  <a:cxn ang="0">
                    <a:pos x="10" y="64"/>
                  </a:cxn>
                  <a:cxn ang="0">
                    <a:pos x="10" y="65"/>
                  </a:cxn>
                  <a:cxn ang="0">
                    <a:pos x="10" y="65"/>
                  </a:cxn>
                  <a:cxn ang="0">
                    <a:pos x="13" y="59"/>
                  </a:cxn>
                  <a:cxn ang="0">
                    <a:pos x="16" y="47"/>
                  </a:cxn>
                  <a:cxn ang="0">
                    <a:pos x="16" y="47"/>
                  </a:cxn>
                  <a:cxn ang="0">
                    <a:pos x="18" y="35"/>
                  </a:cxn>
                  <a:cxn ang="0">
                    <a:pos x="21" y="26"/>
                  </a:cxn>
                  <a:cxn ang="0">
                    <a:pos x="21" y="26"/>
                  </a:cxn>
                  <a:cxn ang="0">
                    <a:pos x="22" y="2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5" y="6"/>
                  </a:cxn>
                  <a:cxn ang="0">
                    <a:pos x="35" y="6"/>
                  </a:cxn>
                  <a:cxn ang="0">
                    <a:pos x="29" y="35"/>
                  </a:cxn>
                  <a:cxn ang="0">
                    <a:pos x="29" y="35"/>
                  </a:cxn>
                  <a:cxn ang="0">
                    <a:pos x="29" y="37"/>
                  </a:cxn>
                  <a:cxn ang="0">
                    <a:pos x="29" y="38"/>
                  </a:cxn>
                  <a:cxn ang="0">
                    <a:pos x="29" y="38"/>
                  </a:cxn>
                  <a:cxn ang="0">
                    <a:pos x="30" y="37"/>
                  </a:cxn>
                  <a:cxn ang="0">
                    <a:pos x="31" y="35"/>
                  </a:cxn>
                  <a:cxn ang="0">
                    <a:pos x="31" y="35"/>
                  </a:cxn>
                  <a:cxn ang="0">
                    <a:pos x="38" y="8"/>
                  </a:cxn>
                  <a:cxn ang="0">
                    <a:pos x="38" y="8"/>
                  </a:cxn>
                  <a:cxn ang="0">
                    <a:pos x="41" y="0"/>
                  </a:cxn>
                </a:cxnLst>
                <a:rect l="0" t="0" r="r" b="b"/>
                <a:pathLst>
                  <a:path w="41" h="65">
                    <a:moveTo>
                      <a:pt x="22" y="20"/>
                    </a:moveTo>
                    <a:lnTo>
                      <a:pt x="22" y="20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8" y="59"/>
                    </a:lnTo>
                    <a:lnTo>
                      <a:pt x="9" y="62"/>
                    </a:lnTo>
                    <a:lnTo>
                      <a:pt x="10" y="64"/>
                    </a:lnTo>
                    <a:lnTo>
                      <a:pt x="10" y="64"/>
                    </a:lnTo>
                    <a:lnTo>
                      <a:pt x="10" y="65"/>
                    </a:lnTo>
                    <a:lnTo>
                      <a:pt x="10" y="65"/>
                    </a:lnTo>
                    <a:lnTo>
                      <a:pt x="13" y="59"/>
                    </a:lnTo>
                    <a:lnTo>
                      <a:pt x="16" y="47"/>
                    </a:lnTo>
                    <a:lnTo>
                      <a:pt x="16" y="47"/>
                    </a:lnTo>
                    <a:lnTo>
                      <a:pt x="18" y="35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2" y="20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9" y="35"/>
                    </a:lnTo>
                    <a:lnTo>
                      <a:pt x="29" y="35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30" y="37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8" y="8"/>
                    </a:lnTo>
                    <a:lnTo>
                      <a:pt x="38" y="8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99" name="Freeform 737">
                <a:extLst>
                  <a:ext uri="{FF2B5EF4-FFF2-40B4-BE49-F238E27FC236}">
                    <a16:creationId xmlns:a16="http://schemas.microsoft.com/office/drawing/2014/main" id="{C1A93AF1-924E-ED95-EDD8-7BFEAD33D710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89233" y="1895763"/>
                <a:ext cx="18515" cy="41660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0" y="24"/>
                  </a:cxn>
                  <a:cxn ang="0">
                    <a:pos x="0" y="24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1" y="28"/>
                  </a:cxn>
                  <a:cxn ang="0">
                    <a:pos x="2" y="30"/>
                  </a:cxn>
                  <a:cxn ang="0">
                    <a:pos x="2" y="30"/>
                  </a:cxn>
                  <a:cxn ang="0">
                    <a:pos x="2" y="34"/>
                  </a:cxn>
                  <a:cxn ang="0">
                    <a:pos x="2" y="34"/>
                  </a:cxn>
                  <a:cxn ang="0">
                    <a:pos x="2" y="32"/>
                  </a:cxn>
                  <a:cxn ang="0">
                    <a:pos x="6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0" y="44"/>
                  </a:cxn>
                  <a:cxn ang="0">
                    <a:pos x="10" y="45"/>
                  </a:cxn>
                  <a:cxn ang="0">
                    <a:pos x="10" y="45"/>
                  </a:cxn>
                  <a:cxn ang="0">
                    <a:pos x="13" y="39"/>
                  </a:cxn>
                  <a:cxn ang="0">
                    <a:pos x="16" y="27"/>
                  </a:cxn>
                  <a:cxn ang="0">
                    <a:pos x="16" y="27"/>
                  </a:cxn>
                  <a:cxn ang="0">
                    <a:pos x="18" y="15"/>
                  </a:cxn>
                  <a:cxn ang="0">
                    <a:pos x="21" y="6"/>
                  </a:cxn>
                  <a:cxn ang="0">
                    <a:pos x="21" y="6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22" y="0"/>
                    </a:lnTo>
                    <a:lnTo>
                      <a:pt x="22" y="0"/>
                    </a:lnTo>
                    <a:lnTo>
                      <a:pt x="22" y="0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8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5"/>
                    </a:lnTo>
                    <a:lnTo>
                      <a:pt x="13" y="39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8" y="15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2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00" name="Freeform 738">
                <a:extLst>
                  <a:ext uri="{FF2B5EF4-FFF2-40B4-BE49-F238E27FC236}">
                    <a16:creationId xmlns:a16="http://schemas.microsoft.com/office/drawing/2014/main" id="{8B5668AE-C51E-2DA4-801C-B62EA9EF7787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81137" y="1926020"/>
                <a:ext cx="10099" cy="35179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0" y="35"/>
                  </a:cxn>
                  <a:cxn ang="0">
                    <a:pos x="0" y="35"/>
                  </a:cxn>
                  <a:cxn ang="0">
                    <a:pos x="0" y="37"/>
                  </a:cxn>
                  <a:cxn ang="0">
                    <a:pos x="0" y="38"/>
                  </a:cxn>
                  <a:cxn ang="0">
                    <a:pos x="0" y="38"/>
                  </a:cxn>
                  <a:cxn ang="0">
                    <a:pos x="1" y="37"/>
                  </a:cxn>
                  <a:cxn ang="0">
                    <a:pos x="2" y="35"/>
                  </a:cxn>
                  <a:cxn ang="0">
                    <a:pos x="2" y="35"/>
                  </a:cxn>
                  <a:cxn ang="0">
                    <a:pos x="9" y="8"/>
                  </a:cxn>
                  <a:cxn ang="0">
                    <a:pos x="9" y="8"/>
                  </a:cxn>
                  <a:cxn ang="0">
                    <a:pos x="12" y="0"/>
                  </a:cxn>
                </a:cxnLst>
                <a:rect l="0" t="0" r="r" b="b"/>
                <a:pathLst>
                  <a:path w="12" h="38"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1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2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01" name="Freeform 739">
                <a:extLst>
                  <a:ext uri="{FF2B5EF4-FFF2-40B4-BE49-F238E27FC236}">
                    <a16:creationId xmlns:a16="http://schemas.microsoft.com/office/drawing/2014/main" id="{172E53D0-5FDD-59D1-E96A-37BBF2F2BDD8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68477" y="1887182"/>
                <a:ext cx="6733" cy="5369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02" name="Freeform 740">
                <a:extLst>
                  <a:ext uri="{FF2B5EF4-FFF2-40B4-BE49-F238E27FC236}">
                    <a16:creationId xmlns:a16="http://schemas.microsoft.com/office/drawing/2014/main" id="{567AAF2D-419A-4CE0-B880-153CA061902C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68477" y="1887182"/>
                <a:ext cx="6733" cy="5369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03" name="Freeform 741">
                <a:extLst>
                  <a:ext uri="{FF2B5EF4-FFF2-40B4-BE49-F238E27FC236}">
                    <a16:creationId xmlns:a16="http://schemas.microsoft.com/office/drawing/2014/main" id="{B722C7C1-7BC2-77EF-B7C3-889BA950FCC9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96907" y="1905203"/>
                <a:ext cx="842" cy="277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04" name="Freeform 742">
                <a:extLst>
                  <a:ext uri="{FF2B5EF4-FFF2-40B4-BE49-F238E27FC236}">
                    <a16:creationId xmlns:a16="http://schemas.microsoft.com/office/drawing/2014/main" id="{12C42586-A3A9-0196-D25D-F4271B2E6F79}"/>
                  </a:ext>
                </a:extLst>
              </p:cNvPr>
              <p:cNvSpPr>
                <a:spLocks/>
              </p:cNvSpPr>
              <p:nvPr/>
            </p:nvSpPr>
            <p:spPr bwMode="auto">
              <a:xfrm rot="4041578" flipV="1">
                <a:off x="5596907" y="1905203"/>
                <a:ext cx="842" cy="277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sp>
        <p:nvSpPr>
          <p:cNvPr id="1005" name="CasellaDiTesto 36">
            <a:extLst>
              <a:ext uri="{FF2B5EF4-FFF2-40B4-BE49-F238E27FC236}">
                <a16:creationId xmlns:a16="http://schemas.microsoft.com/office/drawing/2014/main" id="{A37800B2-27D9-F3A4-5263-35B0706D2B29}"/>
              </a:ext>
            </a:extLst>
          </p:cNvPr>
          <p:cNvSpPr txBox="1"/>
          <p:nvPr/>
        </p:nvSpPr>
        <p:spPr>
          <a:xfrm>
            <a:off x="10745879" y="4474849"/>
            <a:ext cx="15748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600">
                <a:solidFill>
                  <a:srgbClr val="000000"/>
                </a:solidFill>
              </a:rPr>
              <a:t>GHG </a:t>
            </a:r>
            <a:r>
              <a:rPr lang="it-IT" sz="600" i="1" err="1">
                <a:solidFill>
                  <a:srgbClr val="000000"/>
                </a:solidFill>
              </a:rPr>
              <a:t>intensity</a:t>
            </a:r>
            <a:r>
              <a:rPr lang="it-IT" sz="600">
                <a:solidFill>
                  <a:srgbClr val="000000"/>
                </a:solidFill>
              </a:rPr>
              <a:t> </a:t>
            </a:r>
            <a:br>
              <a:rPr lang="it-IT" sz="600">
                <a:solidFill>
                  <a:srgbClr val="000000"/>
                </a:solidFill>
              </a:rPr>
            </a:br>
            <a:r>
              <a:rPr lang="it-IT" sz="600">
                <a:solidFill>
                  <a:srgbClr val="000000"/>
                </a:solidFill>
              </a:rPr>
              <a:t>NGFS  </a:t>
            </a:r>
          </a:p>
        </p:txBody>
      </p:sp>
      <p:sp>
        <p:nvSpPr>
          <p:cNvPr id="1006" name="CasellaDiTesto 36">
            <a:extLst>
              <a:ext uri="{FF2B5EF4-FFF2-40B4-BE49-F238E27FC236}">
                <a16:creationId xmlns:a16="http://schemas.microsoft.com/office/drawing/2014/main" id="{DCE374B6-5E3D-61D0-32C6-BB730D8F1028}"/>
              </a:ext>
            </a:extLst>
          </p:cNvPr>
          <p:cNvSpPr txBox="1"/>
          <p:nvPr/>
        </p:nvSpPr>
        <p:spPr>
          <a:xfrm>
            <a:off x="10691328" y="4180094"/>
            <a:ext cx="167176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600">
                <a:solidFill>
                  <a:srgbClr val="000000"/>
                </a:solidFill>
              </a:rPr>
              <a:t>GHG </a:t>
            </a:r>
            <a:r>
              <a:rPr lang="it-IT" sz="600" err="1">
                <a:solidFill>
                  <a:srgbClr val="000000"/>
                </a:solidFill>
              </a:rPr>
              <a:t>intensity</a:t>
            </a:r>
            <a:br>
              <a:rPr lang="it-IT" sz="600">
                <a:solidFill>
                  <a:srgbClr val="000000"/>
                </a:solidFill>
              </a:rPr>
            </a:br>
            <a:r>
              <a:rPr lang="it-IT" sz="600">
                <a:solidFill>
                  <a:srgbClr val="000000"/>
                </a:solidFill>
              </a:rPr>
              <a:t>controparte</a:t>
            </a:r>
          </a:p>
        </p:txBody>
      </p:sp>
      <p:sp>
        <p:nvSpPr>
          <p:cNvPr id="1007" name="CasellaDiTesto 36">
            <a:extLst>
              <a:ext uri="{FF2B5EF4-FFF2-40B4-BE49-F238E27FC236}">
                <a16:creationId xmlns:a16="http://schemas.microsoft.com/office/drawing/2014/main" id="{3FEF3912-4375-0874-8E14-A17770F71295}"/>
              </a:ext>
            </a:extLst>
          </p:cNvPr>
          <p:cNvSpPr txBox="1"/>
          <p:nvPr/>
        </p:nvSpPr>
        <p:spPr>
          <a:xfrm>
            <a:off x="11385274" y="4364447"/>
            <a:ext cx="221109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80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F60594FA-D1F0-32D9-810E-8E1786030E05}"/>
              </a:ext>
            </a:extLst>
          </p:cNvPr>
          <p:cNvSpPr/>
          <p:nvPr/>
        </p:nvSpPr>
        <p:spPr>
          <a:xfrm>
            <a:off x="1100623" y="1165200"/>
            <a:ext cx="10846474" cy="2237196"/>
          </a:xfrm>
          <a:prstGeom prst="rect">
            <a:avLst/>
          </a:prstGeom>
          <a:solidFill>
            <a:srgbClr val="F6FBFA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4" name="Group 1013">
            <a:extLst>
              <a:ext uri="{FF2B5EF4-FFF2-40B4-BE49-F238E27FC236}">
                <a16:creationId xmlns:a16="http://schemas.microsoft.com/office/drawing/2014/main" id="{53BB766C-7A15-B2AE-D3C4-077FD757AF2E}"/>
              </a:ext>
            </a:extLst>
          </p:cNvPr>
          <p:cNvGrpSpPr/>
          <p:nvPr/>
        </p:nvGrpSpPr>
        <p:grpSpPr>
          <a:xfrm>
            <a:off x="1151342" y="1214034"/>
            <a:ext cx="10861417" cy="902811"/>
            <a:chOff x="1151342" y="1296027"/>
            <a:chExt cx="10861417" cy="902811"/>
          </a:xfrm>
        </p:grpSpPr>
        <p:sp>
          <p:nvSpPr>
            <p:cNvPr id="918" name="CasellaDiTesto 36">
              <a:extLst>
                <a:ext uri="{FF2B5EF4-FFF2-40B4-BE49-F238E27FC236}">
                  <a16:creationId xmlns:a16="http://schemas.microsoft.com/office/drawing/2014/main" id="{B3996AE4-371F-FB9F-27F0-BD5598570C10}"/>
                </a:ext>
              </a:extLst>
            </p:cNvPr>
            <p:cNvSpPr txBox="1"/>
            <p:nvPr/>
          </p:nvSpPr>
          <p:spPr>
            <a:xfrm>
              <a:off x="1151342" y="1296027"/>
              <a:ext cx="10861417" cy="9028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006B73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1200"/>
                </a:spcAft>
              </a:pPr>
              <a:r>
                <a:rPr lang="it-IT" sz="900">
                  <a:solidFill>
                    <a:srgbClr val="000000"/>
                  </a:solidFill>
                </a:rPr>
                <a:t>Vengono </a:t>
              </a:r>
              <a:r>
                <a:rPr lang="it-IT" sz="900" b="1">
                  <a:solidFill>
                    <a:srgbClr val="000000"/>
                  </a:solidFill>
                </a:rPr>
                <a:t>escluse</a:t>
              </a:r>
              <a:r>
                <a:rPr lang="it-IT" sz="900">
                  <a:solidFill>
                    <a:srgbClr val="000000"/>
                  </a:solidFill>
                </a:rPr>
                <a:t> dal perimetro considerato ad «</a:t>
              </a:r>
              <a:r>
                <a:rPr lang="it-IT" sz="900" b="1">
                  <a:solidFill>
                    <a:srgbClr val="000000"/>
                  </a:solidFill>
                </a:rPr>
                <a:t>alto rischio</a:t>
              </a:r>
              <a:r>
                <a:rPr lang="it-IT" sz="900">
                  <a:solidFill>
                    <a:srgbClr val="000000"/>
                  </a:solidFill>
                </a:rPr>
                <a:t>» le </a:t>
              </a:r>
              <a:r>
                <a:rPr lang="it-IT" sz="900" b="1">
                  <a:solidFill>
                    <a:srgbClr val="000000"/>
                  </a:solidFill>
                </a:rPr>
                <a:t>esposizioni</a:t>
              </a:r>
              <a:r>
                <a:rPr lang="it-IT" sz="900">
                  <a:solidFill>
                    <a:srgbClr val="000000"/>
                  </a:solidFill>
                </a:rPr>
                <a:t> verso </a:t>
              </a:r>
              <a:r>
                <a:rPr lang="it-IT" sz="900" b="1">
                  <a:solidFill>
                    <a:srgbClr val="000000"/>
                  </a:solidFill>
                </a:rPr>
                <a:t>controparti</a:t>
              </a:r>
              <a:r>
                <a:rPr lang="it-IT" sz="900">
                  <a:solidFill>
                    <a:srgbClr val="000000"/>
                  </a:solidFill>
                </a:rPr>
                <a:t> </a:t>
              </a:r>
              <a:r>
                <a:rPr lang="it-IT" sz="900" b="1">
                  <a:solidFill>
                    <a:srgbClr val="000000"/>
                  </a:solidFill>
                </a:rPr>
                <a:t>non rischiose</a:t>
              </a:r>
              <a:r>
                <a:rPr lang="it-IT" sz="900">
                  <a:solidFill>
                    <a:srgbClr val="000000"/>
                  </a:solidFill>
                </a:rPr>
                <a:t> dal punto di vista del </a:t>
              </a:r>
              <a:r>
                <a:rPr lang="it-IT" sz="900" b="1">
                  <a:solidFill>
                    <a:srgbClr val="000000"/>
                  </a:solidFill>
                </a:rPr>
                <a:t>profilo emissivo </a:t>
              </a:r>
              <a:r>
                <a:rPr lang="it-IT" sz="900">
                  <a:solidFill>
                    <a:srgbClr val="000000"/>
                  </a:solidFill>
                </a:rPr>
                <a:t>(in funzione del </a:t>
              </a:r>
              <a:r>
                <a:rPr lang="it-IT" sz="900" b="1">
                  <a:solidFill>
                    <a:srgbClr val="000000"/>
                  </a:solidFill>
                </a:rPr>
                <a:t>parametro GHG </a:t>
              </a:r>
              <a:r>
                <a:rPr lang="it-IT" sz="900" b="1" err="1">
                  <a:solidFill>
                    <a:srgbClr val="000000"/>
                  </a:solidFill>
                </a:rPr>
                <a:t>intensity</a:t>
              </a:r>
              <a:r>
                <a:rPr lang="it-IT" sz="900">
                  <a:solidFill>
                    <a:srgbClr val="000000"/>
                  </a:solidFill>
                </a:rPr>
                <a:t>). 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§"/>
              </a:pPr>
              <a:r>
                <a:rPr lang="it-IT" sz="900">
                  <a:solidFill>
                    <a:srgbClr val="000000"/>
                  </a:solidFill>
                </a:rPr>
                <a:t>Tali esposizioni sono individuate attraverso il confronto tra: </a:t>
              </a:r>
            </a:p>
            <a:p>
              <a:pPr marL="648000" indent="-171450">
                <a:spcAft>
                  <a:spcPts val="400"/>
                </a:spcAft>
                <a:buClr>
                  <a:schemeClr val="bg1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it-IT" sz="900" b="1">
                  <a:solidFill>
                    <a:srgbClr val="000000"/>
                  </a:solidFill>
                </a:rPr>
                <a:t>traiettoria settoriale di riduzione di emissioni </a:t>
              </a:r>
              <a:r>
                <a:rPr lang="it-IT" sz="900">
                  <a:solidFill>
                    <a:srgbClr val="000000"/>
                  </a:solidFill>
                </a:rPr>
                <a:t>delineata dallo </a:t>
              </a:r>
              <a:r>
                <a:rPr lang="it-IT" sz="900" b="1">
                  <a:solidFill>
                    <a:srgbClr val="000000"/>
                  </a:solidFill>
                </a:rPr>
                <a:t>scenario climatico di riferimento (NGFS – </a:t>
              </a:r>
              <a:r>
                <a:rPr lang="it-IT" sz="900" b="1" err="1">
                  <a:solidFill>
                    <a:srgbClr val="000000"/>
                  </a:solidFill>
                </a:rPr>
                <a:t>Delayed</a:t>
              </a:r>
              <a:r>
                <a:rPr lang="it-IT" sz="900" b="1">
                  <a:solidFill>
                    <a:srgbClr val="000000"/>
                  </a:solidFill>
                </a:rPr>
                <a:t> </a:t>
              </a:r>
              <a:r>
                <a:rPr lang="it-IT" sz="900" b="1" err="1">
                  <a:solidFill>
                    <a:srgbClr val="000000"/>
                  </a:solidFill>
                </a:rPr>
                <a:t>Transition</a:t>
              </a:r>
              <a:r>
                <a:rPr lang="it-IT" sz="900" b="1">
                  <a:solidFill>
                    <a:srgbClr val="000000"/>
                  </a:solidFill>
                </a:rPr>
                <a:t>);</a:t>
              </a:r>
              <a:endParaRPr lang="it-IT" sz="900">
                <a:solidFill>
                  <a:srgbClr val="000000"/>
                </a:solidFill>
              </a:endParaRPr>
            </a:p>
            <a:p>
              <a:pPr marL="648000" indent="-171450">
                <a:spcAft>
                  <a:spcPts val="800"/>
                </a:spcAft>
                <a:buClr>
                  <a:schemeClr val="bg1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it-IT" sz="900" b="1">
                  <a:solidFill>
                    <a:srgbClr val="000000"/>
                  </a:solidFill>
                </a:rPr>
                <a:t>traiettoria andamentale del profilo emissivo di controparte</a:t>
              </a:r>
              <a:r>
                <a:rPr lang="it-IT" sz="900">
                  <a:solidFill>
                    <a:srgbClr val="000000"/>
                  </a:solidFill>
                </a:rPr>
                <a:t>.</a:t>
              </a:r>
            </a:p>
          </p:txBody>
        </p: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B5600BB6-9A66-0E66-561D-611F5AE77991}"/>
                </a:ext>
              </a:extLst>
            </p:cNvPr>
            <p:cNvCxnSpPr/>
            <p:nvPr/>
          </p:nvCxnSpPr>
          <p:spPr>
            <a:xfrm>
              <a:off x="1485121" y="2064883"/>
              <a:ext cx="274364" cy="0"/>
            </a:xfrm>
            <a:prstGeom prst="line">
              <a:avLst/>
            </a:prstGeom>
            <a:ln w="28575">
              <a:solidFill>
                <a:srgbClr val="76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47F65EE2-680C-9D06-994C-4C166005A9EB}"/>
                </a:ext>
              </a:extLst>
            </p:cNvPr>
            <p:cNvCxnSpPr/>
            <p:nvPr/>
          </p:nvCxnSpPr>
          <p:spPr>
            <a:xfrm>
              <a:off x="1485121" y="1864358"/>
              <a:ext cx="274364" cy="0"/>
            </a:xfrm>
            <a:prstGeom prst="line">
              <a:avLst/>
            </a:prstGeom>
            <a:ln w="28575">
              <a:solidFill>
                <a:srgbClr val="00757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3" name="CasellaDiTesto 36">
            <a:extLst>
              <a:ext uri="{FF2B5EF4-FFF2-40B4-BE49-F238E27FC236}">
                <a16:creationId xmlns:a16="http://schemas.microsoft.com/office/drawing/2014/main" id="{D9536E7F-DE0D-A927-EC54-790B2B574613}"/>
              </a:ext>
            </a:extLst>
          </p:cNvPr>
          <p:cNvSpPr txBox="1"/>
          <p:nvPr/>
        </p:nvSpPr>
        <p:spPr>
          <a:xfrm>
            <a:off x="1151342" y="2173592"/>
            <a:ext cx="764285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900">
                <a:solidFill>
                  <a:srgbClr val="000000"/>
                </a:solidFill>
              </a:rPr>
              <a:t>Il confronto tra le due traiettorie avviene mediante il </a:t>
            </a:r>
            <a:r>
              <a:rPr lang="it-IT" sz="900" b="1">
                <a:solidFill>
                  <a:srgbClr val="000000"/>
                </a:solidFill>
              </a:rPr>
              <a:t>calcolo dell’area </a:t>
            </a:r>
            <a:r>
              <a:rPr lang="it-IT" sz="900">
                <a:solidFill>
                  <a:srgbClr val="000000"/>
                </a:solidFill>
              </a:rPr>
              <a:t>derivante dalla </a:t>
            </a:r>
            <a:r>
              <a:rPr lang="it-IT" sz="900" b="1">
                <a:solidFill>
                  <a:srgbClr val="000000"/>
                </a:solidFill>
              </a:rPr>
              <a:t>differenza </a:t>
            </a:r>
            <a:r>
              <a:rPr lang="it-IT" sz="900">
                <a:solidFill>
                  <a:srgbClr val="000000"/>
                </a:solidFill>
              </a:rPr>
              <a:t>delle due </a:t>
            </a:r>
            <a:r>
              <a:rPr lang="it-IT" sz="900" b="1">
                <a:solidFill>
                  <a:srgbClr val="000000"/>
                </a:solidFill>
              </a:rPr>
              <a:t>curve </a:t>
            </a:r>
            <a:r>
              <a:rPr lang="it-IT" sz="900">
                <a:solidFill>
                  <a:srgbClr val="000000"/>
                </a:solidFill>
              </a:rPr>
              <a:t>nel </a:t>
            </a:r>
            <a:r>
              <a:rPr lang="it-IT" sz="900" b="1">
                <a:solidFill>
                  <a:srgbClr val="000000"/>
                </a:solidFill>
              </a:rPr>
              <a:t>periodo 2025-2050 </a:t>
            </a:r>
            <a:r>
              <a:rPr lang="it-IT" sz="900">
                <a:solidFill>
                  <a:srgbClr val="000000"/>
                </a:solidFill>
              </a:rPr>
              <a:t>(scostamento)</a:t>
            </a:r>
            <a:r>
              <a:rPr lang="it-IT" sz="900" b="1">
                <a:solidFill>
                  <a:srgbClr val="000000"/>
                </a:solidFill>
              </a:rPr>
              <a:t>, misura considerata rappresentativa</a:t>
            </a:r>
            <a:r>
              <a:rPr lang="it-IT" sz="900">
                <a:solidFill>
                  <a:srgbClr val="000000"/>
                </a:solidFill>
              </a:rPr>
              <a:t> del </a:t>
            </a:r>
            <a:r>
              <a:rPr lang="it-IT" sz="900" b="1">
                <a:solidFill>
                  <a:srgbClr val="000000"/>
                </a:solidFill>
              </a:rPr>
              <a:t>grado di allineamento </a:t>
            </a:r>
            <a:r>
              <a:rPr lang="it-IT" sz="900">
                <a:solidFill>
                  <a:srgbClr val="000000"/>
                </a:solidFill>
              </a:rPr>
              <a:t>di ciascuna </a:t>
            </a:r>
            <a:r>
              <a:rPr lang="it-IT" sz="900" b="1">
                <a:solidFill>
                  <a:srgbClr val="000000"/>
                </a:solidFill>
              </a:rPr>
              <a:t>controparte</a:t>
            </a:r>
            <a:r>
              <a:rPr lang="it-IT" sz="900">
                <a:solidFill>
                  <a:srgbClr val="000000"/>
                </a:solidFill>
              </a:rPr>
              <a:t> rispetto allo </a:t>
            </a:r>
            <a:r>
              <a:rPr lang="it-IT" sz="900" b="1">
                <a:solidFill>
                  <a:srgbClr val="000000"/>
                </a:solidFill>
              </a:rPr>
              <a:t>scenario</a:t>
            </a:r>
            <a:r>
              <a:rPr lang="it-IT" sz="900">
                <a:solidFill>
                  <a:srgbClr val="000000"/>
                </a:solidFill>
              </a:rPr>
              <a:t> </a:t>
            </a:r>
            <a:r>
              <a:rPr lang="it-IT" sz="900" b="1">
                <a:solidFill>
                  <a:srgbClr val="000000"/>
                </a:solidFill>
              </a:rPr>
              <a:t>settoriale.</a:t>
            </a:r>
          </a:p>
        </p:txBody>
      </p:sp>
      <p:sp>
        <p:nvSpPr>
          <p:cNvPr id="1015" name="CasellaDiTesto 36">
            <a:extLst>
              <a:ext uri="{FF2B5EF4-FFF2-40B4-BE49-F238E27FC236}">
                <a16:creationId xmlns:a16="http://schemas.microsoft.com/office/drawing/2014/main" id="{615991A2-E704-F2DF-7D03-04D7387BAD5D}"/>
              </a:ext>
            </a:extLst>
          </p:cNvPr>
          <p:cNvSpPr txBox="1"/>
          <p:nvPr/>
        </p:nvSpPr>
        <p:spPr>
          <a:xfrm>
            <a:off x="1151342" y="2587435"/>
            <a:ext cx="108614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900">
                <a:solidFill>
                  <a:srgbClr val="000000"/>
                </a:solidFill>
              </a:rPr>
              <a:t>Viene effettuata una </a:t>
            </a:r>
            <a:r>
              <a:rPr lang="it-IT" sz="900" b="1">
                <a:solidFill>
                  <a:srgbClr val="000000"/>
                </a:solidFill>
              </a:rPr>
              <a:t>classificazione di ciascuna controparte (tra rischiose e non rischiose) </a:t>
            </a:r>
            <a:r>
              <a:rPr lang="it-IT" sz="900">
                <a:solidFill>
                  <a:srgbClr val="000000"/>
                </a:solidFill>
              </a:rPr>
              <a:t>in funzione di un’analisi della distribuzione degli scostamenti calcolati per ciascuna delle controparti in portafoglio</a:t>
            </a:r>
          </a:p>
        </p:txBody>
      </p:sp>
      <p:sp>
        <p:nvSpPr>
          <p:cNvPr id="1016" name="CasellaDiTesto 36">
            <a:extLst>
              <a:ext uri="{FF2B5EF4-FFF2-40B4-BE49-F238E27FC236}">
                <a16:creationId xmlns:a16="http://schemas.microsoft.com/office/drawing/2014/main" id="{71335BFA-54DF-4379-71AE-1264BA175000}"/>
              </a:ext>
            </a:extLst>
          </p:cNvPr>
          <p:cNvSpPr txBox="1"/>
          <p:nvPr/>
        </p:nvSpPr>
        <p:spPr>
          <a:xfrm>
            <a:off x="1151342" y="2993372"/>
            <a:ext cx="1086141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006B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900">
                <a:solidFill>
                  <a:srgbClr val="000000"/>
                </a:solidFill>
              </a:rPr>
              <a:t>Vengono considerate </a:t>
            </a:r>
            <a:r>
              <a:rPr lang="it-IT" sz="900" b="1">
                <a:solidFill>
                  <a:srgbClr val="000000"/>
                </a:solidFill>
              </a:rPr>
              <a:t>non rischiose</a:t>
            </a:r>
            <a:r>
              <a:rPr lang="it-IT" sz="900">
                <a:solidFill>
                  <a:srgbClr val="000000"/>
                </a:solidFill>
              </a:rPr>
              <a:t>, e quindi </a:t>
            </a:r>
            <a:r>
              <a:rPr lang="it-IT" sz="900" b="1">
                <a:solidFill>
                  <a:srgbClr val="000000"/>
                </a:solidFill>
              </a:rPr>
              <a:t>escluse dal perimetro delle esposizioni ad «alto rischio», </a:t>
            </a:r>
            <a:r>
              <a:rPr lang="it-IT" sz="900">
                <a:solidFill>
                  <a:srgbClr val="000000"/>
                </a:solidFill>
              </a:rPr>
              <a:t>le controparti caratterizzate da uno </a:t>
            </a:r>
            <a:r>
              <a:rPr lang="it-IT" sz="900" b="1">
                <a:solidFill>
                  <a:srgbClr val="000000"/>
                </a:solidFill>
              </a:rPr>
              <a:t>scostamento cumulato ridotto </a:t>
            </a:r>
            <a:r>
              <a:rPr lang="it-IT" sz="900">
                <a:solidFill>
                  <a:srgbClr val="000000"/>
                </a:solidFill>
              </a:rPr>
              <a:t>(mediante l’identificazione di un percentile di riferimento, differenziato per settore economico)</a:t>
            </a: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A054CCE5-30F9-6482-6C99-571A8E488839}"/>
              </a:ext>
            </a:extLst>
          </p:cNvPr>
          <p:cNvSpPr/>
          <p:nvPr/>
        </p:nvSpPr>
        <p:spPr>
          <a:xfrm rot="1130041">
            <a:off x="10997992" y="3654448"/>
            <a:ext cx="1153441" cy="222662"/>
          </a:xfrm>
          <a:prstGeom prst="rect">
            <a:avLst/>
          </a:prstGeom>
          <a:solidFill>
            <a:srgbClr val="BCE4E6"/>
          </a:solidFill>
          <a:ln>
            <a:solidFill>
              <a:srgbClr val="BCE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>
                <a:solidFill>
                  <a:srgbClr val="0075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Esemplificativo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7DDA58-C524-4DAE-63A6-4D83E7656BBC}"/>
              </a:ext>
            </a:extLst>
          </p:cNvPr>
          <p:cNvSpPr/>
          <p:nvPr/>
        </p:nvSpPr>
        <p:spPr>
          <a:xfrm>
            <a:off x="11267955" y="6062764"/>
            <a:ext cx="108000" cy="108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CA9627-4A29-BFB8-210F-05AE63A782AF}"/>
              </a:ext>
            </a:extLst>
          </p:cNvPr>
          <p:cNvSpPr/>
          <p:nvPr/>
        </p:nvSpPr>
        <p:spPr>
          <a:xfrm>
            <a:off x="11318234" y="4791094"/>
            <a:ext cx="108000" cy="108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7A1AB-4545-9D3F-4A10-DE61A153E2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446" y="5724640"/>
            <a:ext cx="484412" cy="2678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F8248B-150C-D20F-A437-D1FFCC8CF5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1740" y="2144830"/>
            <a:ext cx="3102430" cy="36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35956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pertina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rmAutofit fontScale="92500" lnSpcReduction="20000"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rn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defRPr sz="2000" b="1" spc="-150" dirty="0" smtClean="0">
            <a:solidFill>
              <a:srgbClr val="00959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rédit Agricole ComFi">
  <a:themeElements>
    <a:clrScheme name="Crédit agricole ComFi">
      <a:dk1>
        <a:srgbClr val="000000"/>
      </a:dk1>
      <a:lt1>
        <a:srgbClr val="FFFFFF"/>
      </a:lt1>
      <a:dk2>
        <a:srgbClr val="BFBFBF"/>
      </a:dk2>
      <a:lt2>
        <a:srgbClr val="808080"/>
      </a:lt2>
      <a:accent1>
        <a:srgbClr val="006B5C"/>
      </a:accent1>
      <a:accent2>
        <a:srgbClr val="008F52"/>
      </a:accent2>
      <a:accent3>
        <a:srgbClr val="4FA441"/>
      </a:accent3>
      <a:accent4>
        <a:srgbClr val="72B633"/>
      </a:accent4>
      <a:accent5>
        <a:srgbClr val="AADB7D"/>
      </a:accent5>
      <a:accent6>
        <a:srgbClr val="E3F3D4"/>
      </a:accent6>
      <a:hlink>
        <a:srgbClr val="000000"/>
      </a:hlink>
      <a:folHlink>
        <a:srgbClr val="006B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rgbClr val="FFFFFF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975A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noAutofit/>
      </a:bodyPr>
      <a:lstStyle>
        <a:defPPr>
          <a:defRPr sz="1200" dirty="0" err="1" smtClean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Intern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defRPr sz="2000" b="1" spc="-150" dirty="0" smtClean="0">
            <a:solidFill>
              <a:srgbClr val="00959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XMLData TextToDisplay="%CLASSIFICATIONDATETIME%">11:33 14/11/2023</XMLData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D1E2FED8EEAA64C867C6BEA5E07BF99" ma:contentTypeVersion="3" ma:contentTypeDescription="Creare un nuovo documento." ma:contentTypeScope="" ma:versionID="f8245ecf4a121e50f3ca32665be69c94">
  <xsd:schema xmlns:xsd="http://www.w3.org/2001/XMLSchema" xmlns:xs="http://www.w3.org/2001/XMLSchema" xmlns:p="http://schemas.microsoft.com/office/2006/metadata/properties" xmlns:ns1="http://schemas.microsoft.com/sharepoint/v3" xmlns:ns2="3a04ec91-822a-4bc9-96b2-e62936352c92" targetNamespace="http://schemas.microsoft.com/office/2006/metadata/properties" ma:root="true" ma:fieldsID="c4f2c8958ec386406a241f36a2fafbdc" ns1:_="" ns2:_="">
    <xsd:import namespace="http://schemas.microsoft.com/sharepoint/v3"/>
    <xsd:import namespace="3a04ec91-822a-4bc9-96b2-e62936352c92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Data inizio pianificazione" ma:description="Data inizio pianificazione è una colonna del sito creata dalla funzionalità Pianificazione e usata per specificare la data e l'ora in cui la pagina apparirà per la prima volta ai visitatori del sito." ma:hidden="true" ma:internalName="PublishingStartDate">
      <xsd:simpleType>
        <xsd:restriction base="dms:Unknown"/>
      </xsd:simpleType>
    </xsd:element>
    <xsd:element name="PublishingExpirationDate" ma:index="9" nillable="true" ma:displayName="Data fine pianificazione" ma:description="Data fine pianificazione è una colonna del sito creata dalla funzionalità Pubblicazione e usata per specificare la data e l'ora in cui la pagina non apparirà più ai visitatori del sito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4ec91-822a-4bc9-96b2-e62936352c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XMLData TextToDisplay="RightsWATCHMark">2|CA-DEFAULT-INTERNO|{00000000-0000-0000-0000-000000000000}</XMLData>
</file>

<file path=customXml/item5.xml><?xml version="1.0" encoding="utf-8"?>
<XMLData TextToDisplay="%DOCUMENTGUID%">{00000000-0000-0000-0000-000000000000}</XMLData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SharedWithUsers xmlns="3a04ec91-822a-4bc9-96b2-e62936352c92">
      <UserInfo>
        <DisplayName>Giunchi Linda</DisplayName>
        <AccountId>6298</AccountId>
        <AccountType/>
      </UserInfo>
      <UserInfo>
        <DisplayName>Costantini Marco</DisplayName>
        <AccountId>11648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AC34B64-E409-404A-B9B9-E529840B80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0A75-59D0-4A2E-8853-384ACB1DA7F1}">
  <ds:schemaRefs/>
</ds:datastoreItem>
</file>

<file path=customXml/itemProps3.xml><?xml version="1.0" encoding="utf-8"?>
<ds:datastoreItem xmlns:ds="http://schemas.openxmlformats.org/officeDocument/2006/customXml" ds:itemID="{CDEE64E2-6EEA-4417-BCFE-B877C91A838B}">
  <ds:schemaRefs>
    <ds:schemaRef ds:uri="3a04ec91-822a-4bc9-96b2-e62936352c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C47352C7-FFF3-409E-A903-43B92E2A1760}">
  <ds:schemaRefs/>
</ds:datastoreItem>
</file>

<file path=customXml/itemProps5.xml><?xml version="1.0" encoding="utf-8"?>
<ds:datastoreItem xmlns:ds="http://schemas.openxmlformats.org/officeDocument/2006/customXml" ds:itemID="{87B8D6A7-D573-4647-AC3D-129139374BA1}">
  <ds:schemaRefs/>
</ds:datastoreItem>
</file>

<file path=customXml/itemProps6.xml><?xml version="1.0" encoding="utf-8"?>
<ds:datastoreItem xmlns:ds="http://schemas.openxmlformats.org/officeDocument/2006/customXml" ds:itemID="{7C5D9484-82B5-4761-BFC0-84A37893F846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3a04ec91-822a-4bc9-96b2-e62936352c92"/>
    <ds:schemaRef ds:uri="http://www.w3.org/XML/1998/namespace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d5fa3eb-ec46-4a26-b218-5b6b3a14139d}" enabled="0" method="" siteId="{7d5fa3eb-ec46-4a26-b218-5b6b3a14139d}" removed="1"/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861</Words>
  <Application>Microsoft Office PowerPoint</Application>
  <PresentationFormat>Widescreen</PresentationFormat>
  <Paragraphs>66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Arial</vt:lpstr>
      <vt:lpstr>Arial Black</vt:lpstr>
      <vt:lpstr>Calibri</vt:lpstr>
      <vt:lpstr>Impact</vt:lpstr>
      <vt:lpstr>Roboto</vt:lpstr>
      <vt:lpstr>Segoe UI</vt:lpstr>
      <vt:lpstr>Wingdings</vt:lpstr>
      <vt:lpstr>Copertina</vt:lpstr>
      <vt:lpstr>Interno</vt:lpstr>
      <vt:lpstr>2_Crédit Agricole ComFi</vt:lpstr>
      <vt:lpstr>1_Interno</vt:lpstr>
      <vt:lpstr>think-cell Slide</vt:lpstr>
      <vt:lpstr>Analisi di materialità rischio di transizione – Approccio</vt:lpstr>
      <vt:lpstr>Focus – Analisi di Portfolio Alignment</vt:lpstr>
    </vt:vector>
  </TitlesOfParts>
  <Company>Publicis Groupe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Maria Caterina Gardoni</dc:creator>
  <cp:lastModifiedBy>KPMG User</cp:lastModifiedBy>
  <cp:revision>1</cp:revision>
  <dcterms:created xsi:type="dcterms:W3CDTF">2016-09-19T16:58:51Z</dcterms:created>
  <dcterms:modified xsi:type="dcterms:W3CDTF">2026-10-28T00:12:56Z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0x0101005D1E2FED8EEAA64C867C6BEA5E07BF99</vt:lpwstr>
  </property>
  <property fmtid="{D5CDD505-2E9C-101B-9397-08002B2CF9AE}" pid="3" name="RightsWATCHMark">
    <vt:lpwstr>2|CA-DEFAULT-INTERNO|{00000000-0000-0000-0000-000000000000}</vt:lpwstr>
  </property>
</Properties>
</file>